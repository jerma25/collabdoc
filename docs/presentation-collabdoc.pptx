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69463ff-46e1-af90-71f1-5e3443804ff7}">
          <p14:sldIdLst>
            <p14:sldId id="256"/>
            <p14:sldId id="257"/>
          </p14:sldIdLst>
        </p14:section>
        <p14:section name="Contexte" id="{da1a2a8e-3cf8-a8a8-341f-bd6a4c3cb63d}">
          <p14:sldIdLst>
            <p14:sldId id="258"/>
            <p14:sldId id="259"/>
            <p14:sldId id="260"/>
          </p14:sldIdLst>
        </p14:section>
        <p14:section name="Architecture" id="{f61f125f-0770-2143-2a4b-bb9b94a13d4e}">
          <p14:sldIdLst>
            <p14:sldId id="261"/>
            <p14:sldId id="262"/>
            <p14:sldId id="263"/>
            <p14:sldId id="264"/>
            <p14:sldId id="265"/>
          </p14:sldIdLst>
        </p14:section>
        <p14:section name="Contraintes" id="{75eca706-13b6-89c9-705d-397ff10a53b5}">
          <p14:sldIdLst>
            <p14:sldId id="266"/>
            <p14:sldId id="267"/>
            <p14:sldId id="268"/>
            <p14:sldId id="269"/>
            <p14:sldId id="270"/>
          </p14:sldIdLst>
        </p14:section>
        <p14:section name="Résultats" id="{883bb15a-527e-23bc-8eb3-11d12e22e1f1}">
          <p14:sldIdLst>
            <p14:sldId id="271"/>
            <p14:sldId id="272"/>
            <p14:sldId id="273"/>
            <p14:sldId id="274"/>
          </p14:sldIdLst>
        </p14:section>
        <p14:section name="Conclusion" id="{a5b92a33-5ba0-0bed-cc45-ae22178bc385}">
          <p14:sldIdLst>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vous présente CollabDoc, un éditeur de documents partagé entièrement construit sur AWS. L'accent de cette présentation est mis sur la façon dont les services AWS ont été utilisés pour répondre au problème posé.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contexte : une association étudiante. Ses membres rédigent ensemble un document, puis le diffusent à heure fixe par un lien de téléchargement limité. Les chiffres à droite sont ceux du sujet et dimensionnent tout le reste.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question centrale : garantir des propriétés exactes, pas probables. Trois difficultés : la course aux téléchargements sur un même compteur, les écritures concurrentes au même endroit du texte, et un pic d'une minute qu'aucun serveur classique n'absorbe sans être surdimensionné.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contraintes fonctionnelles, repérées C1 à C6, et des règles de mise en œuvre. Toute l'architecture découle de ces exigences.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de gauche à droite. Trois portes d'entrée : CloudFront pour le site et le statut des liens, API Gateway HTTP pour toutes les actions, API Gateway WebSocket pour le temps réel. Derrière, des fonctions Lambda sans état. Tout l'état est dans DynamoDB et S3. Quand le dernier exemplaire part, le flux DynamoDB déclenche une fonction qui publie un e-mail sur SNS. Un planificateur EventBridge crée aussi une version des documents toutes les 10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serveur aurait été plus simple à programmer, car il garde le document en mémoire. Mais pour un pic d'une minute, il faudrait le surdimensionner et le payer en permanence. Le serverless répond au pic et au plan gratuit ; on paye cette souplesse en concevant la collaboration sans état en mémoire.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chaque service : ce qu'il fait chez nous, pourquoi lui, et ce qu'on a écarté. Le point clé est Lambda avec la concurrence réservée, qu'on retrouvera pour la tenue du 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DynamoDB est le cœur des garanties : ses écritures conditionnelles et ses transactions portent C1, C2 et C4. Les secrets ne sont jamais dans le code : ils sont lus dans SSM à l'exécution.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 est une extension de CloudFormation : on ne clique jamais pour créer une ressource. aws login évite toute clé permanente. Le CRDT est le choix logiciel imposé par le serverless : les modifications se fusionnent dans n'importe quel ordre, même en double.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Vue d'ensemble : une ligne par contrainte. Les trois diapos suivantes détaillent la distribution, l'édition et le 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Pourquoi pas une transaction pour le compteur ? Des transactions concurrentes sur un même élément se rejettent mutuellement ; avec des milliers de visiteurs sur un lien, ce serait une foule d'échecs inutiles. L'écriture conditionnelle simple est appliquée à la suite, sans conflit.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CRDT Yjs fusionne les modifications dans n'importe quel ordre, même reçues deux fois : le serveur n'a qu'à ne rien perdre. Le crédit est un seul élément DynamoDB par personne et par jour ; il expire par TTL, ce qui recharge le crédit sans tâche planifiée.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étage réduit la charge : CloudFront absorbe les lectures de statut, API Gateway rejette proprement l'excédent avec 429, ce que la page traduit en « patientez ». La concurrence réservée garantit 100 exécutions au téléchargement mais l'empêche aussi d'en prendre plus : les rédacteurs ne sentent pas le 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fonction la plus exposée, claim, ne peut toucher ni aux crédits, ni aux secrets, ni à l'envoi d'e-mails. Toutes les ressources portent l'étiquette project=collabdoc, pour suivre les coûts et vérifier la suppression.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test tourne depuis la région : depuis un PC, on mesurait la connexion internet et non l'application. Côté serveur, 0 erreur Lambda et 0 requête DynamoDB limitée. Les autres tests ciblés : 3 000 clics simultanés pour 100 exemplaires donnent exactement 100 téléchargements ; 50 rédacteurs au même endroit, 1 000 modifications sur 1 000 ; 10 appareils pour un même e-mail, exactement 10 000 caractères acceptés.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Dans les deux premiers cas, aucune modification acceptée n'était perdue : DynamoDB contenait tout, seule la diffusion en direct était touchée. Ce sont les tests de charge qui ont révélé ces problèmes.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compte est en plan gratuit : il ne peut pas produire de facture, la consommation est prélevée sur les crédits. Au repos, aucune machine n'est allumée, donc l'application ne coûte rien.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limites sont connues et ont chacune une évolution AWS identifiée. La plus visible : l'historique des modifications n'est jamais compacté, ce qui ralentit la lecture des très gros documents ; un instantané périodique dans S3 réglerait ce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résumé : une architecture serverless qui tient le pic sans serveur à dimensionner, des garanties fondées sur les opérations atomiques de DynamoDB, un CRDT pour la convergence, aucune clé d'accès, et quelques dollars de crédits. Je vous propose maintenant une démonstration, puis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822960"/>
            <a:ext cx="8046720" cy="365760"/>
          </a:xfrm>
          <a:prstGeom prst="rect">
            <a:avLst/>
          </a:prstGeom>
          <a:noFill/>
          <a:ln/>
        </p:spPr>
        <p:txBody>
          <a:bodyPr wrap="square" rtlCol="0"/>
          <a:lstStyle>
            <a:lvl1pPr indent="0" marL="0">
              <a:buNone/>
              <a:defRPr lang="en-US" sz="1300" b="1"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548640" y="1234440"/>
            <a:ext cx="8046720" cy="1554480"/>
          </a:xfrm>
          <a:prstGeom prst="rect">
            <a:avLst/>
          </a:prstGeom>
          <a:noFill/>
          <a:ln/>
        </p:spPr>
        <p:txBody>
          <a:bodyPr wrap="square" rtlCol="0"/>
          <a:lstStyle>
            <a:lvl1pPr indent="0" marL="0">
              <a:buNone/>
              <a:defRPr lang="en-US" sz="3800" b="1" dirty="0">
                <a:solidFill>
                  <a:schemeClr val="bg1"/>
                </a:solidFill>
                <a:latin typeface="Cambria" pitchFamily="34" charset="0"/>
                <a:ea typeface="Cambria" pitchFamily="34" charset="-122"/>
                <a:cs typeface="Cambria" pitchFamily="34" charset="-120"/>
              </a:defRPr>
            </a:lvl1pPr>
          </a:lstStyle>
          <a:p>
            <a:pPr indent="0" marL="0">
              <a:buNone/>
            </a:pPr>
            <a:endParaRPr lang="en-US" sz="3800" dirty="0"/>
          </a:p>
        </p:txBody>
      </p:sp>
      <p:sp>
        <p:nvSpPr>
          <p:cNvPr id="4" name="Text 0"/>
          <p:cNvSpPr/>
          <p:nvPr>
            <p:ph idx="102" type="body" hasCustomPrompt="1"/>
          </p:nvPr>
        </p:nvSpPr>
        <p:spPr>
          <a:xfrm>
            <a:off x="548640" y="2880360"/>
            <a:ext cx="8046720" cy="1097280"/>
          </a:xfrm>
          <a:prstGeom prst="rect">
            <a:avLst/>
          </a:prstGeom>
          <a:noFill/>
          <a:ln/>
        </p:spPr>
        <p:txBody>
          <a:bodyPr wrap="square" rtlCol="0"/>
          <a:lstStyle>
            <a:lvl1pPr indent="0" marL="0">
              <a:buNone/>
              <a:defRPr lang="en-US" sz="1600" dirty="0">
                <a:solidFill>
                  <a:schemeClr val="accent5"/>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457200" y="4754880"/>
            <a:ext cx="2743200" cy="274320"/>
          </a:xfrm>
          <a:prstGeom prst="rect">
            <a:avLst/>
          </a:prstGeom>
          <a:noFill/>
          <a:ln/>
        </p:spPr>
        <p:txBody>
          <a:bodyPr wrap="square" rtlCol="0" anchor="ctr"/>
          <a:lstStyle/>
          <a:p>
            <a:pPr indent="0" marL="0">
              <a:buNone/>
            </a:pPr>
            <a:r>
              <a:rPr lang="en-US" sz="1000" dirty="0">
                <a:solidFill>
                  <a:schemeClr val="accent5"/>
                </a:solidFill>
              </a:rPr>
              <a:t>CollabDoc · Soutenance</a:t>
            </a:r>
            <a:endParaRPr lang="en-US" sz="1000" dirty="0"/>
          </a:p>
        </p:txBody>
      </p:sp>
      <p:sp>
        <p:nvSpPr>
          <p:cNvPr id="3" name="Text 1"/>
          <p:cNvSpPr/>
          <p:nvPr>
            <p:ph idx="101" type="body" hasCustomPrompt="1"/>
          </p:nvPr>
        </p:nvSpPr>
        <p:spPr>
          <a:xfrm>
            <a:off x="457200" y="201168"/>
            <a:ext cx="8229600" cy="274320"/>
          </a:xfrm>
          <a:prstGeom prst="rect">
            <a:avLst/>
          </a:prstGeom>
          <a:noFill/>
          <a:ln/>
        </p:spPr>
        <p:txBody>
          <a:bodyPr wrap="square" rtlCol="0"/>
          <a:lstStyle>
            <a:lvl1pPr indent="0" marL="0">
              <a:buNone/>
              <a:defRPr lang="en-US" sz="1100" b="1" dirty="0">
                <a:solidFill>
                  <a:schemeClr val="accent1"/>
                </a:solidFill>
              </a:defRPr>
            </a:lvl1pPr>
          </a:lstStyle>
          <a:p>
            <a:pPr indent="0" marL="0">
              <a:buNone/>
            </a:pPr>
            <a:endParaRPr lang="en-US" sz="1100" dirty="0"/>
          </a:p>
        </p:txBody>
      </p:sp>
      <p:sp>
        <p:nvSpPr>
          <p:cNvPr id="4" name="Text 1"/>
          <p:cNvSpPr/>
          <p:nvPr>
            <p:ph idx="102" type="title" hasCustomPrompt="1"/>
          </p:nvPr>
        </p:nvSpPr>
        <p:spPr>
          <a:xfrm>
            <a:off x="457200" y="457200"/>
            <a:ext cx="8229600" cy="640080"/>
          </a:xfrm>
          <a:prstGeom prst="rect">
            <a:avLst/>
          </a:prstGeom>
          <a:noFill/>
          <a:ln/>
        </p:spPr>
        <p:txBody>
          <a:bodyPr wrap="square" rtlCol="0"/>
          <a:lstStyle>
            <a:lvl1pPr indent="0" marL="0">
              <a:buNone/>
              <a:defRPr lang="en-US" sz="2600" b="1" dirty="0">
                <a:solidFill>
                  <a:schemeClr val="tx2"/>
                </a:solidFill>
                <a:latin typeface="Cambria" pitchFamily="34" charset="0"/>
                <a:ea typeface="Cambria" pitchFamily="34" charset="-122"/>
                <a:cs typeface="Cambria" pitchFamily="34" charset="-120"/>
              </a:defRPr>
            </a:lvl1pPr>
          </a:lstStyle>
          <a:p>
            <a:pPr indent="0" marL="0">
              <a:buNone/>
            </a:pPr>
            <a:endParaRPr lang="en-US" sz="2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3.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3.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slideLayout" Target="../slideLayouts/slideLayout3.xml"/><Relationship Id="rId11"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822960"/>
            <a:ext cx="8046720" cy="365760"/>
          </a:xfrm>
          <a:prstGeom prst="rect">
            <a:avLst/>
          </a:prstGeom>
          <a:noFill/>
          <a:ln/>
        </p:spPr>
        <p:txBody>
          <a:bodyPr wrap="square" rtlCol="0" anchor="b"/>
          <a:lstStyle/>
          <a:p>
            <a:pPr indent="0" marL="0">
              <a:buNone/>
            </a:pPr>
            <a:r>
              <a:rPr lang="en-US" sz="1300" b="1" dirty="0">
                <a:solidFill>
                  <a:schemeClr val="accent1"/>
                </a:solidFill>
              </a:rPr>
              <a:t>PROJET CLOUD · AMAZON WEB SERVICES</a:t>
            </a:r>
            <a:endParaRPr lang="en-US" sz="1300" dirty="0"/>
          </a:p>
        </p:txBody>
      </p:sp>
      <p:sp>
        <p:nvSpPr>
          <p:cNvPr id="3" name="Text 0"/>
          <p:cNvSpPr/>
          <p:nvPr>
            <p:ph idx="101" type="title" hasCustomPrompt="1"/>
          </p:nvPr>
        </p:nvSpPr>
        <p:spPr>
          <a:xfrm>
            <a:off x="548640" y="1234440"/>
            <a:ext cx="8046720" cy="1554480"/>
          </a:xfrm>
          <a:prstGeom prst="rect">
            <a:avLst/>
          </a:prstGeom>
          <a:noFill/>
          <a:ln/>
        </p:spPr>
        <p:txBody>
          <a:bodyPr wrap="square" rtlCol="0" anchor="ctr"/>
          <a:lstStyle/>
          <a:p>
            <a:pPr indent="0" marL="0">
              <a:buNone/>
            </a:pPr>
            <a:r>
              <a:rPr lang="en-US" sz="3800" b="1" dirty="0">
                <a:solidFill>
                  <a:schemeClr val="bg1"/>
                </a:solidFill>
                <a:latin typeface="Cambria" pitchFamily="34" charset="0"/>
                <a:ea typeface="Cambria" pitchFamily="34" charset="-122"/>
                <a:cs typeface="Cambria" pitchFamily="34" charset="-120"/>
              </a:rPr>
              <a:t>CollabDoc : écrire à plusieurs, distribuer sans jamais un exemplaire de trop</a:t>
            </a:r>
            <a:endParaRPr lang="en-US" sz="3800" dirty="0"/>
          </a:p>
        </p:txBody>
      </p:sp>
      <p:sp>
        <p:nvSpPr>
          <p:cNvPr id="4" name="Text 0"/>
          <p:cNvSpPr/>
          <p:nvPr>
            <p:ph idx="102" type="body" hasCustomPrompt="1"/>
          </p:nvPr>
        </p:nvSpPr>
        <p:spPr>
          <a:xfrm>
            <a:off x="548640" y="2880360"/>
            <a:ext cx="8046720" cy="1097280"/>
          </a:xfrm>
          <a:prstGeom prst="rect">
            <a:avLst/>
          </a:prstGeom>
          <a:noFill/>
          <a:ln/>
        </p:spPr>
        <p:txBody>
          <a:bodyPr wrap="square" rtlCol="0" anchor="t"/>
          <a:lstStyle/>
          <a:p>
            <a:pPr indent="0" marL="0">
              <a:buNone/>
            </a:pPr>
            <a:r>
              <a:rPr lang="en-US" sz="1600" dirty="0">
                <a:solidFill>
                  <a:schemeClr val="accent5"/>
                </a:solidFill>
              </a:rPr>
              <a:t>Une application serverless sur AWS · plan gratuit · région eu-north-1 (Stockholm)</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457200" y="201168"/>
            <a:ext cx="8229600" cy="274320"/>
          </a:xfrm>
          <a:prstGeom prst="rect">
            <a:avLst/>
          </a:prstGeom>
          <a:noFill/>
          <a:ln/>
        </p:spPr>
        <p:txBody>
          <a:bodyPr wrap="square" rtlCol="0" anchor="ctr"/>
          <a:lstStyle/>
          <a:p>
            <a:pPr indent="0" marL="0">
              <a:buNone/>
            </a:pPr>
            <a:r>
              <a:rPr lang="en-US" sz="1100" b="1" dirty="0">
                <a:solidFill>
                  <a:schemeClr val="accent1"/>
                </a:solidFill>
              </a:rPr>
              <a:t>SOMMAIRE</a:t>
            </a:r>
            <a:endParaRPr lang="en-US" sz="1100" dirty="0"/>
          </a:p>
        </p:txBody>
      </p:sp>
      <p:sp>
        <p:nvSpPr>
          <p:cNvPr id="3" name="Text 1"/>
          <p:cNvSpPr/>
          <p:nvPr>
            <p:ph idx="102" type="title" hasCustomPrompt="1"/>
          </p:nvPr>
        </p:nvSpPr>
        <p:spPr>
          <a:xfrm>
            <a:off x="457200" y="457200"/>
            <a:ext cx="8229600" cy="640080"/>
          </a:xfrm>
          <a:prstGeom prst="rect">
            <a:avLst/>
          </a:prstGeom>
          <a:noFill/>
          <a:ln/>
        </p:spPr>
        <p:txBody>
          <a:bodyPr wrap="square" rtlCol="0" anchor="ctr"/>
          <a:lstStyle/>
          <a:p>
            <a:pPr indent="0" marL="0">
              <a:buNone/>
            </a:pPr>
            <a:r>
              <a:rPr lang="en-US" sz="2600" b="1" dirty="0">
                <a:solidFill>
                  <a:schemeClr val="tx2"/>
                </a:solidFill>
                <a:latin typeface="Cambria" pitchFamily="34" charset="0"/>
                <a:ea typeface="Cambria" pitchFamily="34" charset="-122"/>
                <a:cs typeface="Cambria" pitchFamily="34" charset="-120"/>
              </a:rPr>
              <a:t>Quatre temps pour cette présentation</a:t>
            </a:r>
            <a:endParaRPr lang="en-US" sz="2600" dirty="0"/>
          </a:p>
        </p:txBody>
      </p:sp>
      <p:sp>
        <p:nvSpPr>
          <p:cNvPr id="4" name="partie 01"/>
          <p:cNvSpPr/>
          <p:nvPr/>
        </p:nvSpPr>
        <p:spPr>
          <a:xfrm>
            <a:off x="457200" y="1280160"/>
            <a:ext cx="4023360" cy="1463040"/>
          </a:xfrm>
          <a:prstGeom prst="roundRect">
            <a:avLst>
              <a:gd name="adj" fmla="val 6250"/>
            </a:avLst>
          </a:prstGeom>
          <a:solidFill>
            <a:schemeClr val="bg2"/>
          </a:solidFill>
          <a:ln w="12700">
            <a:solidFill>
              <a:schemeClr val="bg2"/>
            </a:solidFill>
            <a:prstDash val="solid"/>
          </a:ln>
        </p:spPr>
      </p:sp>
      <p:sp>
        <p:nvSpPr>
          <p:cNvPr id="5" name="Text 3"/>
          <p:cNvSpPr txBox="1"/>
          <p:nvPr/>
        </p:nvSpPr>
        <p:spPr>
          <a:xfrm>
            <a:off x="685800" y="1463040"/>
            <a:ext cx="914400" cy="109728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01</a:t>
            </a:r>
            <a:endParaRPr lang="en-US" sz="4000" dirty="0"/>
          </a:p>
        </p:txBody>
      </p:sp>
      <p:sp>
        <p:nvSpPr>
          <p:cNvPr id="6" name="Text 4"/>
          <p:cNvSpPr txBox="1"/>
          <p:nvPr/>
        </p:nvSpPr>
        <p:spPr>
          <a:xfrm>
            <a:off x="1645920" y="150876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Contexte et problématique</a:t>
            </a:r>
            <a:endParaRPr lang="en-US" sz="1600" dirty="0"/>
          </a:p>
        </p:txBody>
      </p:sp>
      <p:sp>
        <p:nvSpPr>
          <p:cNvPr id="7" name="Text 5"/>
          <p:cNvSpPr txBox="1"/>
          <p:nvPr/>
        </p:nvSpPr>
        <p:spPr>
          <a:xfrm>
            <a:off x="1645920" y="2011680"/>
            <a:ext cx="2651760" cy="594360"/>
          </a:xfrm>
          <a:prstGeom prst="rect">
            <a:avLst/>
          </a:prstGeom>
          <a:noFill/>
          <a:ln/>
        </p:spPr>
        <p:txBody>
          <a:bodyPr wrap="square" lIns="0" tIns="0" rIns="0" bIns="0" rtlCol="0" anchor="t"/>
          <a:lstStyle/>
          <a:p>
            <a:pPr indent="0" marL="0">
              <a:buNone/>
            </a:pPr>
            <a:r>
              <a:rPr lang="en-US" sz="1200" dirty="0">
                <a:solidFill>
                  <a:schemeClr val="tx1"/>
                </a:solidFill>
              </a:rPr>
              <a:t>Le besoin, la question à résoudre, les contraintes imposées</a:t>
            </a:r>
            <a:endParaRPr lang="en-US" sz="1200" dirty="0"/>
          </a:p>
        </p:txBody>
      </p:sp>
      <p:sp>
        <p:nvSpPr>
          <p:cNvPr id="8" name="partie 02"/>
          <p:cNvSpPr/>
          <p:nvPr/>
        </p:nvSpPr>
        <p:spPr>
          <a:xfrm>
            <a:off x="4663440" y="1280160"/>
            <a:ext cx="4023360" cy="1463040"/>
          </a:xfrm>
          <a:prstGeom prst="roundRect">
            <a:avLst>
              <a:gd name="adj" fmla="val 6250"/>
            </a:avLst>
          </a:prstGeom>
          <a:solidFill>
            <a:schemeClr val="bg2"/>
          </a:solidFill>
          <a:ln w="12700">
            <a:solidFill>
              <a:schemeClr val="bg2"/>
            </a:solidFill>
            <a:prstDash val="solid"/>
          </a:ln>
        </p:spPr>
      </p:sp>
      <p:sp>
        <p:nvSpPr>
          <p:cNvPr id="9" name="Text 7"/>
          <p:cNvSpPr txBox="1"/>
          <p:nvPr/>
        </p:nvSpPr>
        <p:spPr>
          <a:xfrm>
            <a:off x="4892040" y="1463040"/>
            <a:ext cx="914400" cy="109728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02</a:t>
            </a:r>
            <a:endParaRPr lang="en-US" sz="4000" dirty="0"/>
          </a:p>
        </p:txBody>
      </p:sp>
      <p:sp>
        <p:nvSpPr>
          <p:cNvPr id="10" name="Text 8"/>
          <p:cNvSpPr txBox="1"/>
          <p:nvPr/>
        </p:nvSpPr>
        <p:spPr>
          <a:xfrm>
            <a:off x="5852160" y="150876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Architecture et choix technologiques</a:t>
            </a:r>
            <a:endParaRPr lang="en-US" sz="1600" dirty="0"/>
          </a:p>
        </p:txBody>
      </p:sp>
      <p:sp>
        <p:nvSpPr>
          <p:cNvPr id="11" name="Text 9"/>
          <p:cNvSpPr txBox="1"/>
          <p:nvPr/>
        </p:nvSpPr>
        <p:spPr>
          <a:xfrm>
            <a:off x="5852160" y="2011680"/>
            <a:ext cx="2651760" cy="594360"/>
          </a:xfrm>
          <a:prstGeom prst="rect">
            <a:avLst/>
          </a:prstGeom>
          <a:noFill/>
          <a:ln/>
        </p:spPr>
        <p:txBody>
          <a:bodyPr wrap="square" lIns="0" tIns="0" rIns="0" bIns="0" rtlCol="0" anchor="t"/>
          <a:lstStyle/>
          <a:p>
            <a:pPr indent="0" marL="0">
              <a:buNone/>
            </a:pPr>
            <a:r>
              <a:rPr lang="en-US" sz="1200" dirty="0">
                <a:solidFill>
                  <a:schemeClr val="tx1"/>
                </a:solidFill>
              </a:rPr>
              <a:t>Le système déployé et la justification de chaque service</a:t>
            </a:r>
            <a:endParaRPr lang="en-US" sz="1200" dirty="0"/>
          </a:p>
        </p:txBody>
      </p:sp>
      <p:sp>
        <p:nvSpPr>
          <p:cNvPr id="12" name="partie 03"/>
          <p:cNvSpPr/>
          <p:nvPr/>
        </p:nvSpPr>
        <p:spPr>
          <a:xfrm>
            <a:off x="457200" y="2926080"/>
            <a:ext cx="4023360" cy="1463040"/>
          </a:xfrm>
          <a:prstGeom prst="roundRect">
            <a:avLst>
              <a:gd name="adj" fmla="val 6250"/>
            </a:avLst>
          </a:prstGeom>
          <a:solidFill>
            <a:schemeClr val="bg2"/>
          </a:solidFill>
          <a:ln w="12700">
            <a:solidFill>
              <a:schemeClr val="bg2"/>
            </a:solidFill>
            <a:prstDash val="solid"/>
          </a:ln>
        </p:spPr>
      </p:sp>
      <p:sp>
        <p:nvSpPr>
          <p:cNvPr id="13" name="Text 11"/>
          <p:cNvSpPr txBox="1"/>
          <p:nvPr/>
        </p:nvSpPr>
        <p:spPr>
          <a:xfrm>
            <a:off x="685800" y="3108960"/>
            <a:ext cx="914400" cy="109728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03</a:t>
            </a:r>
            <a:endParaRPr lang="en-US" sz="4000" dirty="0"/>
          </a:p>
        </p:txBody>
      </p:sp>
      <p:sp>
        <p:nvSpPr>
          <p:cNvPr id="14" name="Text 12"/>
          <p:cNvSpPr txBox="1"/>
          <p:nvPr/>
        </p:nvSpPr>
        <p:spPr>
          <a:xfrm>
            <a:off x="1645920" y="315468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AWS face aux contraintes</a:t>
            </a:r>
            <a:endParaRPr lang="en-US" sz="1600" dirty="0"/>
          </a:p>
        </p:txBody>
      </p:sp>
      <p:sp>
        <p:nvSpPr>
          <p:cNvPr id="15" name="Text 13"/>
          <p:cNvSpPr txBox="1"/>
          <p:nvPr/>
        </p:nvSpPr>
        <p:spPr>
          <a:xfrm>
            <a:off x="1645920" y="3657600"/>
            <a:ext cx="2651760" cy="594360"/>
          </a:xfrm>
          <a:prstGeom prst="rect">
            <a:avLst/>
          </a:prstGeom>
          <a:noFill/>
          <a:ln/>
        </p:spPr>
        <p:txBody>
          <a:bodyPr wrap="square" lIns="0" tIns="0" rIns="0" bIns="0" rtlCol="0" anchor="t"/>
          <a:lstStyle/>
          <a:p>
            <a:pPr indent="0" marL="0">
              <a:buNone/>
            </a:pPr>
            <a:r>
              <a:rPr lang="en-US" sz="1200" dirty="0">
                <a:solidFill>
                  <a:schemeClr val="tx1"/>
                </a:solidFill>
              </a:rPr>
              <a:t>Comment chaque contrainte est garantie par un mécanisme AWS</a:t>
            </a:r>
            <a:endParaRPr lang="en-US" sz="1200" dirty="0"/>
          </a:p>
        </p:txBody>
      </p:sp>
      <p:sp>
        <p:nvSpPr>
          <p:cNvPr id="16" name="partie 04"/>
          <p:cNvSpPr/>
          <p:nvPr/>
        </p:nvSpPr>
        <p:spPr>
          <a:xfrm>
            <a:off x="4663440" y="2926080"/>
            <a:ext cx="4023360" cy="1463040"/>
          </a:xfrm>
          <a:prstGeom prst="roundRect">
            <a:avLst>
              <a:gd name="adj" fmla="val 6250"/>
            </a:avLst>
          </a:prstGeom>
          <a:solidFill>
            <a:schemeClr val="bg2"/>
          </a:solidFill>
          <a:ln w="12700">
            <a:solidFill>
              <a:schemeClr val="bg2"/>
            </a:solidFill>
            <a:prstDash val="solid"/>
          </a:ln>
        </p:spPr>
      </p:sp>
      <p:sp>
        <p:nvSpPr>
          <p:cNvPr id="17" name="Text 15"/>
          <p:cNvSpPr txBox="1"/>
          <p:nvPr/>
        </p:nvSpPr>
        <p:spPr>
          <a:xfrm>
            <a:off x="4892040" y="3108960"/>
            <a:ext cx="914400" cy="109728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04</a:t>
            </a:r>
            <a:endParaRPr lang="en-US" sz="4000" dirty="0"/>
          </a:p>
        </p:txBody>
      </p:sp>
      <p:sp>
        <p:nvSpPr>
          <p:cNvPr id="18" name="Text 16"/>
          <p:cNvSpPr txBox="1"/>
          <p:nvPr/>
        </p:nvSpPr>
        <p:spPr>
          <a:xfrm>
            <a:off x="5852160" y="3154680"/>
            <a:ext cx="2651760" cy="457200"/>
          </a:xfrm>
          <a:prstGeom prst="rect">
            <a:avLst/>
          </a:prstGeom>
          <a:noFill/>
          <a:ln/>
        </p:spPr>
        <p:txBody>
          <a:bodyPr wrap="square" lIns="0" tIns="0" rIns="0" bIns="0" rtlCol="0" anchor="ctr"/>
          <a:lstStyle/>
          <a:p>
            <a:pPr indent="0" marL="0">
              <a:buNone/>
            </a:pPr>
            <a:r>
              <a:rPr lang="en-US" sz="1600" b="1" dirty="0">
                <a:solidFill>
                  <a:schemeClr val="tx2"/>
                </a:solidFill>
              </a:rPr>
              <a:t>Résultats et bilan</a:t>
            </a:r>
            <a:endParaRPr lang="en-US" sz="1600" dirty="0"/>
          </a:p>
        </p:txBody>
      </p:sp>
      <p:sp>
        <p:nvSpPr>
          <p:cNvPr id="19" name="Text 17"/>
          <p:cNvSpPr txBox="1"/>
          <p:nvPr/>
        </p:nvSpPr>
        <p:spPr>
          <a:xfrm>
            <a:off x="5852160" y="3657600"/>
            <a:ext cx="2651760" cy="594360"/>
          </a:xfrm>
          <a:prstGeom prst="rect">
            <a:avLst/>
          </a:prstGeom>
          <a:noFill/>
          <a:ln/>
        </p:spPr>
        <p:txBody>
          <a:bodyPr wrap="square" lIns="0" tIns="0" rIns="0" bIns="0" rtlCol="0" anchor="t"/>
          <a:lstStyle/>
          <a:p>
            <a:pPr indent="0" marL="0">
              <a:buNone/>
            </a:pPr>
            <a:r>
              <a:rPr lang="en-US" sz="1200" dirty="0">
                <a:solidFill>
                  <a:schemeClr val="tx1"/>
                </a:solidFill>
              </a:rPr>
              <a:t>Tests de charge, difficultés, coûts, limites et perspectives</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457200" y="201168"/>
            <a:ext cx="8229600" cy="274320"/>
          </a:xfrm>
          <a:prstGeom prst="rect">
            <a:avLst/>
          </a:prstGeom>
          <a:noFill/>
          <a:ln/>
        </p:spPr>
        <p:txBody>
          <a:bodyPr wrap="square" rtlCol="0" anchor="ctr"/>
          <a:lstStyle/>
          <a:p>
            <a:pPr indent="0" marL="0">
              <a:buNone/>
            </a:pPr>
            <a:r>
              <a:rPr lang="en-US" sz="1100" b="1" dirty="0">
                <a:solidFill>
                  <a:schemeClr val="accent1"/>
                </a:solidFill>
              </a:rPr>
              <a:t>01 · CONTEXTE ET PROBLÉMATIQUE</a:t>
            </a:r>
            <a:endParaRPr lang="en-US" sz="1100" dirty="0"/>
          </a:p>
        </p:txBody>
      </p:sp>
      <p:sp>
        <p:nvSpPr>
          <p:cNvPr id="3" name="Text 1"/>
          <p:cNvSpPr/>
          <p:nvPr>
            <p:ph idx="102" type="title" hasCustomPrompt="1"/>
          </p:nvPr>
        </p:nvSpPr>
        <p:spPr>
          <a:xfrm>
            <a:off x="457200" y="457200"/>
            <a:ext cx="8229600" cy="640080"/>
          </a:xfrm>
          <a:prstGeom prst="rect">
            <a:avLst/>
          </a:prstGeom>
          <a:noFill/>
          <a:ln/>
        </p:spPr>
        <p:txBody>
          <a:bodyPr wrap="square" rtlCol="0" anchor="ctr"/>
          <a:lstStyle/>
          <a:p>
            <a:pPr indent="0" marL="0">
              <a:buNone/>
            </a:pPr>
            <a:r>
              <a:rPr lang="en-US" sz="2600" b="1" dirty="0">
                <a:solidFill>
                  <a:schemeClr val="tx2"/>
                </a:solidFill>
                <a:latin typeface="Cambria" pitchFamily="34" charset="0"/>
                <a:ea typeface="Cambria" pitchFamily="34" charset="-122"/>
                <a:cs typeface="Cambria" pitchFamily="34" charset="-120"/>
              </a:rPr>
              <a:t>Une association veut écrire un document ensemble, puis le diffuser</a:t>
            </a:r>
            <a:endParaRPr lang="en-US" sz="2600" dirty="0"/>
          </a:p>
        </p:txBody>
      </p:sp>
      <p:sp>
        <p:nvSpPr>
          <p:cNvPr id="4" name="Text 2"/>
          <p:cNvSpPr txBox="1"/>
          <p:nvPr/>
        </p:nvSpPr>
        <p:spPr>
          <a:xfrm>
            <a:off x="457200" y="1280160"/>
            <a:ext cx="4572000" cy="3200400"/>
          </a:xfrm>
          <a:prstGeom prst="rect">
            <a:avLst/>
          </a:prstGeom>
          <a:noFill/>
          <a:ln/>
        </p:spPr>
        <p:txBody>
          <a:bodyPr wrap="square" rtlCol="0" anchor="t"/>
          <a:lstStyle/>
          <a:p>
            <a:pPr marL="342900" indent="-342900">
              <a:spcAft>
                <a:spcPts val="1200"/>
              </a:spcAft>
              <a:buSzPct val="100000"/>
              <a:buChar char="•"/>
            </a:pPr>
            <a:r>
              <a:rPr lang="en-US" sz="1500" dirty="0">
                <a:solidFill>
                  <a:schemeClr val="tx1"/>
                </a:solidFill>
              </a:rPr>
              <a:t>Plusieurs centaines de rédacteurs écrivent le même texte, en même temps, depuis leurs appareils.</a:t>
            </a:r>
            <a:endParaRPr lang="en-US" sz="1500" dirty="0"/>
          </a:p>
          <a:p>
            <a:pPr marL="342900" indent="-342900">
              <a:spcAft>
                <a:spcPts val="1200"/>
              </a:spcAft>
              <a:buSzPct val="100000"/>
              <a:buChar char="•"/>
            </a:pPr>
            <a:r>
              <a:rPr lang="en-US" sz="1500" dirty="0">
                <a:solidFill>
                  <a:schemeClr val="tx1"/>
                </a:solidFill>
              </a:rPr>
              <a:t>Le document est ensuite diffusé en PDF par un lien limité en nombre d'exemplaires (par ex. 500).</a:t>
            </a:r>
            <a:endParaRPr lang="en-US" sz="1500" dirty="0"/>
          </a:p>
          <a:p>
            <a:pPr marL="342900" indent="-342900">
              <a:spcAft>
                <a:spcPts val="1200"/>
              </a:spcAft>
              <a:buSzPct val="100000"/>
              <a:buChar char="•"/>
            </a:pPr>
            <a:r>
              <a:rPr lang="en-US" sz="1500" dirty="0">
                <a:solidFill>
                  <a:schemeClr val="tx1"/>
                </a:solidFill>
              </a:rPr>
              <a:t>Le lien est annoncé à heure fixe : tout le monde clique en même temps.</a:t>
            </a:r>
            <a:endParaRPr lang="en-US" sz="1500" dirty="0"/>
          </a:p>
          <a:p>
            <a:pPr marL="342900" indent="-342900">
              <a:spcAft>
                <a:spcPts val="1200"/>
              </a:spcAft>
              <a:buSzPct val="100000"/>
              <a:buChar char="•"/>
            </a:pPr>
            <a:r>
              <a:rPr lang="en-US" sz="1500" dirty="0">
                <a:solidFill>
                  <a:schemeClr val="tx1"/>
                </a:solidFill>
              </a:rPr>
              <a:t>L'association doit pouvoir suivre l'état de l'application à tout moment.</a:t>
            </a:r>
            <a:endParaRPr lang="en-US" sz="1500" dirty="0"/>
          </a:p>
        </p:txBody>
      </p:sp>
      <p:sp>
        <p:nvSpPr>
          <p:cNvPr id="5" name="chiffre 0"/>
          <p:cNvSpPr/>
          <p:nvPr/>
        </p:nvSpPr>
        <p:spPr>
          <a:xfrm>
            <a:off x="5394960" y="1280160"/>
            <a:ext cx="3291840" cy="960120"/>
          </a:xfrm>
          <a:prstGeom prst="roundRect">
            <a:avLst>
              <a:gd name="adj" fmla="val 9524"/>
            </a:avLst>
          </a:prstGeom>
          <a:solidFill>
            <a:schemeClr val="bg2"/>
          </a:solidFill>
          <a:ln w="12700">
            <a:solidFill>
              <a:schemeClr val="bg2"/>
            </a:solidFill>
            <a:prstDash val="solid"/>
          </a:ln>
        </p:spPr>
      </p:sp>
      <p:sp>
        <p:nvSpPr>
          <p:cNvPr id="6" name="Text 4"/>
          <p:cNvSpPr txBox="1"/>
          <p:nvPr/>
        </p:nvSpPr>
        <p:spPr>
          <a:xfrm>
            <a:off x="5577840" y="1280160"/>
            <a:ext cx="1463040" cy="96012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300</a:t>
            </a:r>
            <a:endParaRPr lang="en-US" sz="2800" dirty="0"/>
          </a:p>
        </p:txBody>
      </p:sp>
      <p:sp>
        <p:nvSpPr>
          <p:cNvPr id="7" name="Text 5"/>
          <p:cNvSpPr txBox="1"/>
          <p:nvPr/>
        </p:nvSpPr>
        <p:spPr>
          <a:xfrm>
            <a:off x="7040880" y="1280160"/>
            <a:ext cx="1554480" cy="960120"/>
          </a:xfrm>
          <a:prstGeom prst="rect">
            <a:avLst/>
          </a:prstGeom>
          <a:noFill/>
          <a:ln/>
        </p:spPr>
        <p:txBody>
          <a:bodyPr wrap="square" lIns="0" tIns="0" rIns="0" bIns="0" rtlCol="0" anchor="ctr"/>
          <a:lstStyle/>
          <a:p>
            <a:pPr indent="0" marL="0">
              <a:buNone/>
            </a:pPr>
            <a:r>
              <a:rPr lang="en-US" sz="1200" dirty="0">
                <a:solidFill>
                  <a:schemeClr val="tx1"/>
                </a:solidFill>
              </a:rPr>
              <a:t>rédacteurs actifs</a:t>
            </a:r>
            <a:endParaRPr lang="en-US" sz="1200" dirty="0"/>
          </a:p>
          <a:p>
            <a:pPr indent="0" marL="0">
              <a:buNone/>
            </a:pPr>
            <a:r>
              <a:rPr lang="en-US" sz="1200" dirty="0">
                <a:solidFill>
                  <a:schemeClr val="tx1"/>
                </a:solidFill>
              </a:rPr>
              <a:t>en même temps</a:t>
            </a:r>
            <a:endParaRPr lang="en-US" sz="1200" dirty="0"/>
          </a:p>
        </p:txBody>
      </p:sp>
      <p:sp>
        <p:nvSpPr>
          <p:cNvPr id="8" name="chiffre 1"/>
          <p:cNvSpPr/>
          <p:nvPr/>
        </p:nvSpPr>
        <p:spPr>
          <a:xfrm>
            <a:off x="5394960" y="2377440"/>
            <a:ext cx="3291840" cy="960120"/>
          </a:xfrm>
          <a:prstGeom prst="roundRect">
            <a:avLst>
              <a:gd name="adj" fmla="val 9524"/>
            </a:avLst>
          </a:prstGeom>
          <a:solidFill>
            <a:schemeClr val="bg2"/>
          </a:solidFill>
          <a:ln w="12700">
            <a:solidFill>
              <a:schemeClr val="bg2"/>
            </a:solidFill>
            <a:prstDash val="solid"/>
          </a:ln>
        </p:spPr>
      </p:sp>
      <p:sp>
        <p:nvSpPr>
          <p:cNvPr id="9" name="Text 7"/>
          <p:cNvSpPr txBox="1"/>
          <p:nvPr/>
        </p:nvSpPr>
        <p:spPr>
          <a:xfrm>
            <a:off x="5577840" y="2377440"/>
            <a:ext cx="1463040" cy="960120"/>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15 000</a:t>
            </a:r>
            <a:endParaRPr lang="en-US" sz="2800" dirty="0"/>
          </a:p>
        </p:txBody>
      </p:sp>
      <p:sp>
        <p:nvSpPr>
          <p:cNvPr id="10" name="Text 8"/>
          <p:cNvSpPr txBox="1"/>
          <p:nvPr/>
        </p:nvSpPr>
        <p:spPr>
          <a:xfrm>
            <a:off x="7040880" y="2377440"/>
            <a:ext cx="1554480" cy="960120"/>
          </a:xfrm>
          <a:prstGeom prst="rect">
            <a:avLst/>
          </a:prstGeom>
          <a:noFill/>
          <a:ln/>
        </p:spPr>
        <p:txBody>
          <a:bodyPr wrap="square" lIns="0" tIns="0" rIns="0" bIns="0" rtlCol="0" anchor="ctr"/>
          <a:lstStyle/>
          <a:p>
            <a:pPr indent="0" marL="0">
              <a:buNone/>
            </a:pPr>
            <a:r>
              <a:rPr lang="en-US" sz="1200" dirty="0">
                <a:solidFill>
                  <a:schemeClr val="tx1"/>
                </a:solidFill>
              </a:rPr>
              <a:t>visiteurs, dont 80 %</a:t>
            </a:r>
            <a:endParaRPr lang="en-US" sz="1200" dirty="0"/>
          </a:p>
          <a:p>
            <a:pPr indent="0" marL="0">
              <a:buNone/>
            </a:pPr>
            <a:r>
              <a:rPr lang="en-US" sz="1200" dirty="0">
                <a:solidFill>
                  <a:schemeClr val="tx1"/>
                </a:solidFill>
              </a:rPr>
              <a:t>dans la 1re minute</a:t>
            </a:r>
            <a:endParaRPr lang="en-US" sz="1200" dirty="0"/>
          </a:p>
        </p:txBody>
      </p:sp>
      <p:sp>
        <p:nvSpPr>
          <p:cNvPr id="11" name="chiffre 2"/>
          <p:cNvSpPr/>
          <p:nvPr/>
        </p:nvSpPr>
        <p:spPr>
          <a:xfrm>
            <a:off x="5394960" y="3474720"/>
            <a:ext cx="3291840" cy="960120"/>
          </a:xfrm>
          <a:prstGeom prst="roundRect">
            <a:avLst>
              <a:gd name="adj" fmla="val 9524"/>
            </a:avLst>
          </a:prstGeom>
          <a:solidFill>
            <a:schemeClr val="bg2"/>
          </a:solidFill>
          <a:ln w="12700">
            <a:solidFill>
              <a:schemeClr val="bg2"/>
            </a:solidFill>
            <a:prstDash val="solid"/>
          </a:ln>
        </p:spPr>
      </p:sp>
      <p:sp>
        <p:nvSpPr>
          <p:cNvPr id="12" name="Text 10"/>
          <p:cNvSpPr txBox="1"/>
          <p:nvPr/>
        </p:nvSpPr>
        <p:spPr>
          <a:xfrm>
            <a:off x="5577840" y="3474720"/>
            <a:ext cx="1463040" cy="960120"/>
          </a:xfrm>
          <a:prstGeom prst="rect">
            <a:avLst/>
          </a:prstGeom>
          <a:noFill/>
          <a:ln/>
        </p:spPr>
        <p:txBody>
          <a:bodyPr wrap="square" lIns="0" tIns="0" rIns="0" bIns="0" rtlCol="0" anchor="ctr"/>
          <a:lstStyle/>
          <a:p>
            <a:pPr indent="0" marL="0">
              <a:buNone/>
            </a:pPr>
            <a:r>
              <a:rPr lang="en-US" sz="2800" b="1" dirty="0">
                <a:solidFill>
                  <a:schemeClr val="accent3"/>
                </a:solidFill>
                <a:latin typeface="Cambria" pitchFamily="34" charset="0"/>
                <a:ea typeface="Cambria" pitchFamily="34" charset="-122"/>
                <a:cs typeface="Cambria" pitchFamily="34" charset="-120"/>
              </a:rPr>
              <a:t>10 000</a:t>
            </a:r>
            <a:endParaRPr lang="en-US" sz="2800" dirty="0"/>
          </a:p>
        </p:txBody>
      </p:sp>
      <p:sp>
        <p:nvSpPr>
          <p:cNvPr id="13" name="Text 11"/>
          <p:cNvSpPr txBox="1"/>
          <p:nvPr/>
        </p:nvSpPr>
        <p:spPr>
          <a:xfrm>
            <a:off x="7040880" y="3474720"/>
            <a:ext cx="1554480" cy="960120"/>
          </a:xfrm>
          <a:prstGeom prst="rect">
            <a:avLst/>
          </a:prstGeom>
          <a:noFill/>
          <a:ln/>
        </p:spPr>
        <p:txBody>
          <a:bodyPr wrap="square" lIns="0" tIns="0" rIns="0" bIns="0" rtlCol="0" anchor="ctr"/>
          <a:lstStyle/>
          <a:p>
            <a:pPr indent="0" marL="0">
              <a:buNone/>
            </a:pPr>
            <a:r>
              <a:rPr lang="en-US" sz="1200" dirty="0">
                <a:solidFill>
                  <a:schemeClr val="tx1"/>
                </a:solidFill>
              </a:rPr>
              <a:t>caractères par rédacteur</a:t>
            </a:r>
            <a:endParaRPr lang="en-US" sz="1200" dirty="0"/>
          </a:p>
          <a:p>
            <a:pPr indent="0" marL="0">
              <a:buNone/>
            </a:pPr>
            <a:r>
              <a:rPr lang="en-US" sz="1200" dirty="0">
                <a:solidFill>
                  <a:schemeClr val="tx1"/>
                </a:solidFill>
              </a:rPr>
              <a:t>et par jour</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822960"/>
            <a:ext cx="8046720" cy="365760"/>
          </a:xfrm>
          <a:prstGeom prst="rect">
            <a:avLst/>
          </a:prstGeom>
          <a:noFill/>
          <a:ln/>
        </p:spPr>
        <p:txBody>
          <a:bodyPr wrap="square" rtlCol="0" anchor="b"/>
          <a:lstStyle/>
          <a:p>
            <a:pPr indent="0" marL="0">
              <a:buNone/>
            </a:pPr>
            <a:r>
              <a:rPr lang="en-US" sz="1300" b="1" dirty="0">
                <a:solidFill>
                  <a:schemeClr val="accent1"/>
                </a:solidFill>
              </a:rPr>
              <a:t>PROBLÉMATIQUE</a:t>
            </a:r>
            <a:endParaRPr lang="en-US" sz="1300" dirty="0"/>
          </a:p>
        </p:txBody>
      </p:sp>
      <p:sp>
        <p:nvSpPr>
          <p:cNvPr id="3" name="Text 0"/>
          <p:cNvSpPr/>
          <p:nvPr>
            <p:ph idx="101" type="title" hasCustomPrompt="1"/>
          </p:nvPr>
        </p:nvSpPr>
        <p:spPr>
          <a:xfrm>
            <a:off x="548640" y="1234440"/>
            <a:ext cx="8046720" cy="1554480"/>
          </a:xfrm>
          <a:prstGeom prst="rect">
            <a:avLst/>
          </a:prstGeom>
          <a:noFill/>
          <a:ln/>
        </p:spPr>
        <p:txBody>
          <a:bodyPr wrap="square" rtlCol="0" anchor="ctr"/>
          <a:lstStyle/>
          <a:p>
            <a:pPr indent="0" marL="0">
              <a:buNone/>
            </a:pPr>
            <a:r>
              <a:rPr lang="en-US" sz="3800" b="1" dirty="0">
                <a:solidFill>
                  <a:schemeClr val="bg1"/>
                </a:solidFill>
                <a:latin typeface="Cambria" pitchFamily="34" charset="0"/>
                <a:ea typeface="Cambria" pitchFamily="34" charset="-122"/>
                <a:cs typeface="Cambria" pitchFamily="34" charset="-120"/>
              </a:rPr>
              <a:t>Comment garantir l'exactitude sous un pic soudain, sans serveur à gérer et sans payer ?</a:t>
            </a:r>
            <a:endParaRPr lang="en-US" sz="3800" dirty="0"/>
          </a:p>
        </p:txBody>
      </p:sp>
      <p:sp>
        <p:nvSpPr>
          <p:cNvPr id="4" name="difficulté 0"/>
          <p:cNvSpPr/>
          <p:nvPr/>
        </p:nvSpPr>
        <p:spPr>
          <a:xfrm>
            <a:off x="548640" y="3246120"/>
            <a:ext cx="2514600" cy="1005840"/>
          </a:xfrm>
          <a:prstGeom prst="roundRect">
            <a:avLst>
              <a:gd name="adj" fmla="val 9091"/>
            </a:avLst>
          </a:prstGeom>
          <a:solidFill>
            <a:schemeClr val="accent3"/>
          </a:solidFill>
          <a:ln w="12700">
            <a:solidFill>
              <a:schemeClr val="accent3"/>
            </a:solidFill>
            <a:prstDash val="solid"/>
          </a:ln>
        </p:spPr>
      </p:sp>
      <p:sp>
        <p:nvSpPr>
          <p:cNvPr id="5" name="Text 3"/>
          <p:cNvSpPr txBox="1"/>
          <p:nvPr/>
        </p:nvSpPr>
        <p:spPr>
          <a:xfrm>
            <a:off x="685800" y="3246120"/>
            <a:ext cx="2240280" cy="1005840"/>
          </a:xfrm>
          <a:prstGeom prst="rect">
            <a:avLst/>
          </a:prstGeom>
          <a:noFill/>
          <a:ln/>
        </p:spPr>
        <p:txBody>
          <a:bodyPr wrap="square" lIns="0" tIns="0" rIns="0" bIns="0" rtlCol="0" anchor="ctr"/>
          <a:lstStyle/>
          <a:p>
            <a:pPr indent="0" marL="0">
              <a:buNone/>
            </a:pPr>
            <a:r>
              <a:rPr lang="en-US" sz="1500" b="1" dirty="0">
                <a:solidFill>
                  <a:schemeClr val="accent1"/>
                </a:solidFill>
              </a:rPr>
              <a:t>Concurrence</a:t>
            </a:r>
            <a:endParaRPr lang="en-US" sz="1500" dirty="0"/>
          </a:p>
          <a:p>
            <a:pPr indent="0" marL="0">
              <a:buNone/>
            </a:pPr>
            <a:r>
              <a:rPr lang="en-US" sz="1200" dirty="0">
                <a:solidFill>
                  <a:schemeClr val="bg1"/>
                </a:solidFill>
              </a:rPr>
              <a:t>des milliers de clics sur un même compteur</a:t>
            </a:r>
            <a:endParaRPr lang="en-US" sz="1500" dirty="0"/>
          </a:p>
        </p:txBody>
      </p:sp>
      <p:sp>
        <p:nvSpPr>
          <p:cNvPr id="6" name="difficulté 1"/>
          <p:cNvSpPr/>
          <p:nvPr/>
        </p:nvSpPr>
        <p:spPr>
          <a:xfrm>
            <a:off x="3246120" y="3246120"/>
            <a:ext cx="2514600" cy="1005840"/>
          </a:xfrm>
          <a:prstGeom prst="roundRect">
            <a:avLst>
              <a:gd name="adj" fmla="val 9091"/>
            </a:avLst>
          </a:prstGeom>
          <a:solidFill>
            <a:schemeClr val="accent3"/>
          </a:solidFill>
          <a:ln w="12700">
            <a:solidFill>
              <a:schemeClr val="accent3"/>
            </a:solidFill>
            <a:prstDash val="solid"/>
          </a:ln>
        </p:spPr>
      </p:sp>
      <p:sp>
        <p:nvSpPr>
          <p:cNvPr id="7" name="Text 5"/>
          <p:cNvSpPr txBox="1"/>
          <p:nvPr/>
        </p:nvSpPr>
        <p:spPr>
          <a:xfrm>
            <a:off x="3383280" y="3246120"/>
            <a:ext cx="2240280" cy="1005840"/>
          </a:xfrm>
          <a:prstGeom prst="rect">
            <a:avLst/>
          </a:prstGeom>
          <a:noFill/>
          <a:ln/>
        </p:spPr>
        <p:txBody>
          <a:bodyPr wrap="square" lIns="0" tIns="0" rIns="0" bIns="0" rtlCol="0" anchor="ctr"/>
          <a:lstStyle/>
          <a:p>
            <a:pPr indent="0" marL="0">
              <a:buNone/>
            </a:pPr>
            <a:r>
              <a:rPr lang="en-US" sz="1500" b="1" dirty="0">
                <a:solidFill>
                  <a:schemeClr val="accent1"/>
                </a:solidFill>
              </a:rPr>
              <a:t>Collaboration</a:t>
            </a:r>
            <a:endParaRPr lang="en-US" sz="1500" dirty="0"/>
          </a:p>
          <a:p>
            <a:pPr indent="0" marL="0">
              <a:buNone/>
            </a:pPr>
            <a:r>
              <a:rPr lang="en-US" sz="1200" dirty="0">
                <a:solidFill>
                  <a:schemeClr val="bg1"/>
                </a:solidFill>
              </a:rPr>
              <a:t>des écritures simultanées au même endroit</a:t>
            </a:r>
            <a:endParaRPr lang="en-US" sz="1500" dirty="0"/>
          </a:p>
        </p:txBody>
      </p:sp>
      <p:sp>
        <p:nvSpPr>
          <p:cNvPr id="8" name="difficulté 2"/>
          <p:cNvSpPr/>
          <p:nvPr/>
        </p:nvSpPr>
        <p:spPr>
          <a:xfrm>
            <a:off x="5943600" y="3246120"/>
            <a:ext cx="2514600" cy="1005840"/>
          </a:xfrm>
          <a:prstGeom prst="roundRect">
            <a:avLst>
              <a:gd name="adj" fmla="val 9091"/>
            </a:avLst>
          </a:prstGeom>
          <a:solidFill>
            <a:schemeClr val="accent3"/>
          </a:solidFill>
          <a:ln w="12700">
            <a:solidFill>
              <a:schemeClr val="accent3"/>
            </a:solidFill>
            <a:prstDash val="solid"/>
          </a:ln>
        </p:spPr>
      </p:sp>
      <p:sp>
        <p:nvSpPr>
          <p:cNvPr id="9" name="Text 7"/>
          <p:cNvSpPr txBox="1"/>
          <p:nvPr/>
        </p:nvSpPr>
        <p:spPr>
          <a:xfrm>
            <a:off x="6080760" y="3246120"/>
            <a:ext cx="2240280" cy="1005840"/>
          </a:xfrm>
          <a:prstGeom prst="rect">
            <a:avLst/>
          </a:prstGeom>
          <a:noFill/>
          <a:ln/>
        </p:spPr>
        <p:txBody>
          <a:bodyPr wrap="square" lIns="0" tIns="0" rIns="0" bIns="0" rtlCol="0" anchor="ctr"/>
          <a:lstStyle/>
          <a:p>
            <a:pPr indent="0" marL="0">
              <a:buNone/>
            </a:pPr>
            <a:r>
              <a:rPr lang="en-US" sz="1500" b="1" dirty="0">
                <a:solidFill>
                  <a:schemeClr val="accent1"/>
                </a:solidFill>
              </a:rPr>
              <a:t>Pic</a:t>
            </a:r>
            <a:endParaRPr lang="en-US" sz="1500" dirty="0"/>
          </a:p>
          <a:p>
            <a:pPr indent="0" marL="0">
              <a:buNone/>
            </a:pPr>
            <a:r>
              <a:rPr lang="en-US" sz="1200" dirty="0">
                <a:solidFill>
                  <a:schemeClr val="bg1"/>
                </a:solidFill>
              </a:rPr>
              <a:t>80 % des visiteurs dans la 1re minute</a:t>
            </a:r>
            <a:endParaRPr lang="en-US" sz="1500" dirty="0"/>
          </a:p>
        </p:txBody>
      </p:sp>
      <p:sp>
        <p:nvSpPr>
          <p:cNvPr id="11" name="Text 0"/>
          <p:cNvSpPr/>
          <p:nvPr>
            <p:ph idx="102" type="body" hasCustomPrompt="1"/>
          </p:nvPr>
        </p:nvSpPr>
        <p:spPr>
          <a:xfrm>
            <a:off x="548640" y="2880360"/>
            <a:ext cx="8046720" cy="1097280"/>
          </a:xfrm>
          <a:prstGeom prst="rect">
            <a:avLst/>
          </a:prstGeom>
          <a:noFill/>
          <a:ln/>
        </p:spPr>
        <p:txBody>
          <a:bodyPr wrap="square" rtlCol="0" anchor="t"/>
          <a:lstStyle/>
          <a:p>
            <a:pPr indent="0" marL="0">
              <a:buNone/>
            </a:pP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457200" y="201168"/>
            <a:ext cx="8229600" cy="274320"/>
          </a:xfrm>
          <a:prstGeom prst="rect">
            <a:avLst/>
          </a:prstGeom>
          <a:noFill/>
          <a:ln/>
        </p:spPr>
        <p:txBody>
          <a:bodyPr wrap="square" rtlCol="0" anchor="ctr"/>
          <a:lstStyle/>
          <a:p>
            <a:pPr indent="0" marL="0">
              <a:buNone/>
            </a:pPr>
            <a:r>
              <a:rPr lang="en-US" sz="1100" b="1" dirty="0">
                <a:solidFill>
                  <a:schemeClr val="accent1"/>
                </a:solidFill>
              </a:rPr>
              <a:t>01 · CONTEXTE ET PROBLÉMATIQUE</a:t>
            </a:r>
            <a:endParaRPr lang="en-US" sz="1100" dirty="0"/>
          </a:p>
        </p:txBody>
      </p:sp>
      <p:sp>
        <p:nvSpPr>
          <p:cNvPr id="3" name="Text 1"/>
          <p:cNvSpPr/>
          <p:nvPr>
            <p:ph idx="102" type="title" hasCustomPrompt="1"/>
          </p:nvPr>
        </p:nvSpPr>
        <p:spPr>
          <a:xfrm>
            <a:off x="457200" y="457200"/>
            <a:ext cx="8229600" cy="640080"/>
          </a:xfrm>
          <a:prstGeom prst="rect">
            <a:avLst/>
          </a:prstGeom>
          <a:noFill/>
          <a:ln/>
        </p:spPr>
        <p:txBody>
          <a:bodyPr wrap="square" rtlCol="0" anchor="ctr"/>
          <a:lstStyle/>
          <a:p>
            <a:pPr indent="0" marL="0">
              <a:buNone/>
            </a:pPr>
            <a:r>
              <a:rPr lang="en-US" sz="2600" b="1" dirty="0">
                <a:solidFill>
                  <a:schemeClr val="tx2"/>
                </a:solidFill>
                <a:latin typeface="Cambria" pitchFamily="34" charset="0"/>
                <a:ea typeface="Cambria" pitchFamily="34" charset="-122"/>
                <a:cs typeface="Cambria" pitchFamily="34" charset="-120"/>
              </a:rPr>
              <a:t>Les contraintes imposées par le sujet</a:t>
            </a:r>
            <a:endParaRPr lang="en-US" sz="2600" dirty="0"/>
          </a:p>
        </p:txBody>
      </p:sp>
      <p:sp>
        <p:nvSpPr>
          <p:cNvPr id="4" name="C1"/>
          <p:cNvSpPr/>
          <p:nvPr/>
        </p:nvSpPr>
        <p:spPr>
          <a:xfrm>
            <a:off x="457200" y="1234440"/>
            <a:ext cx="2606040" cy="960120"/>
          </a:xfrm>
          <a:prstGeom prst="roundRect">
            <a:avLst>
              <a:gd name="adj" fmla="val 9524"/>
            </a:avLst>
          </a:prstGeom>
          <a:solidFill>
            <a:schemeClr val="bg2"/>
          </a:solidFill>
          <a:ln w="12700">
            <a:solidFill>
              <a:schemeClr val="bg2"/>
            </a:solidFill>
            <a:prstDash val="solid"/>
          </a:ln>
        </p:spPr>
      </p:sp>
      <p:sp>
        <p:nvSpPr>
          <p:cNvPr id="5" name="Text 3"/>
          <p:cNvSpPr txBox="1"/>
          <p:nvPr/>
        </p:nvSpPr>
        <p:spPr>
          <a:xfrm>
            <a:off x="594360" y="1234440"/>
            <a:ext cx="548640" cy="960120"/>
          </a:xfrm>
          <a:prstGeom prst="rect">
            <a:avLst/>
          </a:prstGeom>
          <a:noFill/>
          <a:ln/>
        </p:spPr>
        <p:txBody>
          <a:bodyPr wrap="square" lIns="0" tIns="0" rIns="0" bIns="0" rtlCol="0" anchor="ctr"/>
          <a:lstStyle/>
          <a:p>
            <a:pPr indent="0" marL="0">
              <a:buNone/>
            </a:pPr>
            <a:r>
              <a:rPr lang="en-US" sz="2000" b="1" dirty="0">
                <a:solidFill>
                  <a:schemeClr val="accent1"/>
                </a:solidFill>
              </a:rPr>
              <a:t>C1</a:t>
            </a:r>
            <a:endParaRPr lang="en-US" sz="2000" dirty="0"/>
          </a:p>
        </p:txBody>
      </p:sp>
      <p:sp>
        <p:nvSpPr>
          <p:cNvPr id="6" name="Text 4"/>
          <p:cNvSpPr txBox="1"/>
          <p:nvPr/>
        </p:nvSpPr>
        <p:spPr>
          <a:xfrm>
            <a:off x="1143000" y="1234440"/>
            <a:ext cx="1783080" cy="960120"/>
          </a:xfrm>
          <a:prstGeom prst="rect">
            <a:avLst/>
          </a:prstGeom>
          <a:noFill/>
          <a:ln/>
        </p:spPr>
        <p:txBody>
          <a:bodyPr wrap="square" lIns="0" tIns="0" rIns="0" bIns="0" rtlCol="0" anchor="ctr"/>
          <a:lstStyle/>
          <a:p>
            <a:pPr indent="0" marL="0">
              <a:buNone/>
            </a:pPr>
            <a:r>
              <a:rPr lang="en-US" sz="1200" dirty="0">
                <a:solidFill>
                  <a:schemeClr val="tx1"/>
                </a:solidFill>
              </a:rPr>
              <a:t>Exactement N téléchargements par lien, jamais un de plus</a:t>
            </a:r>
            <a:endParaRPr lang="en-US" sz="1200" dirty="0"/>
          </a:p>
        </p:txBody>
      </p:sp>
      <p:sp>
        <p:nvSpPr>
          <p:cNvPr id="7" name="C2"/>
          <p:cNvSpPr/>
          <p:nvPr/>
        </p:nvSpPr>
        <p:spPr>
          <a:xfrm>
            <a:off x="3246120" y="1234440"/>
            <a:ext cx="2606040" cy="960120"/>
          </a:xfrm>
          <a:prstGeom prst="roundRect">
            <a:avLst>
              <a:gd name="adj" fmla="val 9524"/>
            </a:avLst>
          </a:prstGeom>
          <a:solidFill>
            <a:schemeClr val="bg2"/>
          </a:solidFill>
          <a:ln w="12700">
            <a:solidFill>
              <a:schemeClr val="bg2"/>
            </a:solidFill>
            <a:prstDash val="solid"/>
          </a:ln>
        </p:spPr>
      </p:sp>
      <p:sp>
        <p:nvSpPr>
          <p:cNvPr id="8" name="Text 6"/>
          <p:cNvSpPr txBox="1"/>
          <p:nvPr/>
        </p:nvSpPr>
        <p:spPr>
          <a:xfrm>
            <a:off x="3383280" y="1234440"/>
            <a:ext cx="548640" cy="960120"/>
          </a:xfrm>
          <a:prstGeom prst="rect">
            <a:avLst/>
          </a:prstGeom>
          <a:noFill/>
          <a:ln/>
        </p:spPr>
        <p:txBody>
          <a:bodyPr wrap="square" lIns="0" tIns="0" rIns="0" bIns="0" rtlCol="0" anchor="ctr"/>
          <a:lstStyle/>
          <a:p>
            <a:pPr indent="0" marL="0">
              <a:buNone/>
            </a:pPr>
            <a:r>
              <a:rPr lang="en-US" sz="2000" b="1" dirty="0">
                <a:solidFill>
                  <a:schemeClr val="accent1"/>
                </a:solidFill>
              </a:rPr>
              <a:t>C2</a:t>
            </a:r>
            <a:endParaRPr lang="en-US" sz="2000" dirty="0"/>
          </a:p>
        </p:txBody>
      </p:sp>
      <p:sp>
        <p:nvSpPr>
          <p:cNvPr id="9" name="Text 7"/>
          <p:cNvSpPr txBox="1"/>
          <p:nvPr/>
        </p:nvSpPr>
        <p:spPr>
          <a:xfrm>
            <a:off x="3931920" y="1234440"/>
            <a:ext cx="1783080" cy="960120"/>
          </a:xfrm>
          <a:prstGeom prst="rect">
            <a:avLst/>
          </a:prstGeom>
          <a:noFill/>
          <a:ln/>
        </p:spPr>
        <p:txBody>
          <a:bodyPr wrap="square" lIns="0" tIns="0" rIns="0" bIns="0" rtlCol="0" anchor="ctr"/>
          <a:lstStyle/>
          <a:p>
            <a:pPr indent="0" marL="0">
              <a:buNone/>
            </a:pPr>
            <a:r>
              <a:rPr lang="en-US" sz="1200" dirty="0">
                <a:solidFill>
                  <a:schemeClr val="tx1"/>
                </a:solidFill>
              </a:rPr>
              <a:t>Aucune modification acceptée perdue ; tous voient le même texte</a:t>
            </a:r>
            <a:endParaRPr lang="en-US" sz="1200" dirty="0"/>
          </a:p>
        </p:txBody>
      </p:sp>
      <p:sp>
        <p:nvSpPr>
          <p:cNvPr id="10" name="C3"/>
          <p:cNvSpPr/>
          <p:nvPr/>
        </p:nvSpPr>
        <p:spPr>
          <a:xfrm>
            <a:off x="457200" y="2331720"/>
            <a:ext cx="2606040" cy="960120"/>
          </a:xfrm>
          <a:prstGeom prst="roundRect">
            <a:avLst>
              <a:gd name="adj" fmla="val 9524"/>
            </a:avLst>
          </a:prstGeom>
          <a:solidFill>
            <a:schemeClr val="bg2"/>
          </a:solidFill>
          <a:ln w="12700">
            <a:solidFill>
              <a:schemeClr val="bg2"/>
            </a:solidFill>
            <a:prstDash val="solid"/>
          </a:ln>
        </p:spPr>
      </p:sp>
      <p:sp>
        <p:nvSpPr>
          <p:cNvPr id="11" name="Text 9"/>
          <p:cNvSpPr txBox="1"/>
          <p:nvPr/>
        </p:nvSpPr>
        <p:spPr>
          <a:xfrm>
            <a:off x="594360" y="2331720"/>
            <a:ext cx="548640" cy="960120"/>
          </a:xfrm>
          <a:prstGeom prst="rect">
            <a:avLst/>
          </a:prstGeom>
          <a:noFill/>
          <a:ln/>
        </p:spPr>
        <p:txBody>
          <a:bodyPr wrap="square" lIns="0" tIns="0" rIns="0" bIns="0" rtlCol="0" anchor="ctr"/>
          <a:lstStyle/>
          <a:p>
            <a:pPr indent="0" marL="0">
              <a:buNone/>
            </a:pPr>
            <a:r>
              <a:rPr lang="en-US" sz="2000" b="1" dirty="0">
                <a:solidFill>
                  <a:schemeClr val="accent1"/>
                </a:solidFill>
              </a:rPr>
              <a:t>C3</a:t>
            </a:r>
            <a:endParaRPr lang="en-US" sz="2000" dirty="0"/>
          </a:p>
        </p:txBody>
      </p:sp>
      <p:sp>
        <p:nvSpPr>
          <p:cNvPr id="12" name="Text 10"/>
          <p:cNvSpPr txBox="1"/>
          <p:nvPr/>
        </p:nvSpPr>
        <p:spPr>
          <a:xfrm>
            <a:off x="1143000" y="2331720"/>
            <a:ext cx="1783080" cy="960120"/>
          </a:xfrm>
          <a:prstGeom prst="rect">
            <a:avLst/>
          </a:prstGeom>
          <a:noFill/>
          <a:ln/>
        </p:spPr>
        <p:txBody>
          <a:bodyPr wrap="square" lIns="0" tIns="0" rIns="0" bIns="0" rtlCol="0" anchor="ctr"/>
          <a:lstStyle/>
          <a:p>
            <a:pPr indent="0" marL="0">
              <a:buNone/>
            </a:pPr>
            <a:r>
              <a:rPr lang="en-US" sz="1200" dirty="0">
                <a:solidFill>
                  <a:schemeClr val="tx1"/>
                </a:solidFill>
              </a:rPr>
              <a:t>Le lien sert le document tel qu'il est au moment du clic</a:t>
            </a:r>
            <a:endParaRPr lang="en-US" sz="1200" dirty="0"/>
          </a:p>
        </p:txBody>
      </p:sp>
      <p:sp>
        <p:nvSpPr>
          <p:cNvPr id="13" name="C4"/>
          <p:cNvSpPr/>
          <p:nvPr/>
        </p:nvSpPr>
        <p:spPr>
          <a:xfrm>
            <a:off x="3246120" y="2331720"/>
            <a:ext cx="2606040" cy="960120"/>
          </a:xfrm>
          <a:prstGeom prst="roundRect">
            <a:avLst>
              <a:gd name="adj" fmla="val 9524"/>
            </a:avLst>
          </a:prstGeom>
          <a:solidFill>
            <a:schemeClr val="bg2"/>
          </a:solidFill>
          <a:ln w="12700">
            <a:solidFill>
              <a:schemeClr val="bg2"/>
            </a:solidFill>
            <a:prstDash val="solid"/>
          </a:ln>
        </p:spPr>
      </p:sp>
      <p:sp>
        <p:nvSpPr>
          <p:cNvPr id="14" name="Text 12"/>
          <p:cNvSpPr txBox="1"/>
          <p:nvPr/>
        </p:nvSpPr>
        <p:spPr>
          <a:xfrm>
            <a:off x="3383280" y="2331720"/>
            <a:ext cx="548640" cy="960120"/>
          </a:xfrm>
          <a:prstGeom prst="rect">
            <a:avLst/>
          </a:prstGeom>
          <a:noFill/>
          <a:ln/>
        </p:spPr>
        <p:txBody>
          <a:bodyPr wrap="square" lIns="0" tIns="0" rIns="0" bIns="0" rtlCol="0" anchor="ctr"/>
          <a:lstStyle/>
          <a:p>
            <a:pPr indent="0" marL="0">
              <a:buNone/>
            </a:pPr>
            <a:r>
              <a:rPr lang="en-US" sz="2000" b="1" dirty="0">
                <a:solidFill>
                  <a:schemeClr val="accent1"/>
                </a:solidFill>
              </a:rPr>
              <a:t>C4</a:t>
            </a:r>
            <a:endParaRPr lang="en-US" sz="2000" dirty="0"/>
          </a:p>
        </p:txBody>
      </p:sp>
      <p:sp>
        <p:nvSpPr>
          <p:cNvPr id="15" name="Text 13"/>
          <p:cNvSpPr txBox="1"/>
          <p:nvPr/>
        </p:nvSpPr>
        <p:spPr>
          <a:xfrm>
            <a:off x="3931920" y="2331720"/>
            <a:ext cx="1783080" cy="960120"/>
          </a:xfrm>
          <a:prstGeom prst="rect">
            <a:avLst/>
          </a:prstGeom>
          <a:noFill/>
          <a:ln/>
        </p:spPr>
        <p:txBody>
          <a:bodyPr wrap="square" lIns="0" tIns="0" rIns="0" bIns="0" rtlCol="0" anchor="ctr"/>
          <a:lstStyle/>
          <a:p>
            <a:pPr indent="0" marL="0">
              <a:buNone/>
            </a:pPr>
            <a:r>
              <a:rPr lang="en-US" sz="1200" dirty="0">
                <a:solidFill>
                  <a:schemeClr val="tx1"/>
                </a:solidFill>
              </a:rPr>
              <a:t>10 000 caractères par jour et par personne, tous appareils confondus</a:t>
            </a:r>
            <a:endParaRPr lang="en-US" sz="1200" dirty="0"/>
          </a:p>
        </p:txBody>
      </p:sp>
      <p:sp>
        <p:nvSpPr>
          <p:cNvPr id="16" name="C5"/>
          <p:cNvSpPr/>
          <p:nvPr/>
        </p:nvSpPr>
        <p:spPr>
          <a:xfrm>
            <a:off x="457200" y="3429000"/>
            <a:ext cx="2606040" cy="960120"/>
          </a:xfrm>
          <a:prstGeom prst="roundRect">
            <a:avLst>
              <a:gd name="adj" fmla="val 9524"/>
            </a:avLst>
          </a:prstGeom>
          <a:solidFill>
            <a:schemeClr val="bg2"/>
          </a:solidFill>
          <a:ln w="12700">
            <a:solidFill>
              <a:schemeClr val="bg2"/>
            </a:solidFill>
            <a:prstDash val="solid"/>
          </a:ln>
        </p:spPr>
      </p:sp>
      <p:sp>
        <p:nvSpPr>
          <p:cNvPr id="17" name="Text 15"/>
          <p:cNvSpPr txBox="1"/>
          <p:nvPr/>
        </p:nvSpPr>
        <p:spPr>
          <a:xfrm>
            <a:off x="594360" y="3429000"/>
            <a:ext cx="548640" cy="960120"/>
          </a:xfrm>
          <a:prstGeom prst="rect">
            <a:avLst/>
          </a:prstGeom>
          <a:noFill/>
          <a:ln/>
        </p:spPr>
        <p:txBody>
          <a:bodyPr wrap="square" lIns="0" tIns="0" rIns="0" bIns="0" rtlCol="0" anchor="ctr"/>
          <a:lstStyle/>
          <a:p>
            <a:pPr indent="0" marL="0">
              <a:buNone/>
            </a:pPr>
            <a:r>
              <a:rPr lang="en-US" sz="2000" b="1" dirty="0">
                <a:solidFill>
                  <a:schemeClr val="accent1"/>
                </a:solidFill>
              </a:rPr>
              <a:t>C5</a:t>
            </a:r>
            <a:endParaRPr lang="en-US" sz="2000" dirty="0"/>
          </a:p>
        </p:txBody>
      </p:sp>
      <p:sp>
        <p:nvSpPr>
          <p:cNvPr id="18" name="Text 16"/>
          <p:cNvSpPr txBox="1"/>
          <p:nvPr/>
        </p:nvSpPr>
        <p:spPr>
          <a:xfrm>
            <a:off x="1143000" y="3429000"/>
            <a:ext cx="1783080" cy="960120"/>
          </a:xfrm>
          <a:prstGeom prst="rect">
            <a:avLst/>
          </a:prstGeom>
          <a:noFill/>
          <a:ln/>
        </p:spPr>
        <p:txBody>
          <a:bodyPr wrap="square" lIns="0" tIns="0" rIns="0" bIns="0" rtlCol="0" anchor="ctr"/>
          <a:lstStyle/>
          <a:p>
            <a:pPr indent="0" marL="0">
              <a:buNone/>
            </a:pPr>
            <a:r>
              <a:rPr lang="en-US" sz="1200" dirty="0">
                <a:solidFill>
                  <a:schemeClr val="tx1"/>
                </a:solidFill>
              </a:rPr>
              <a:t>15 000 visiteurs + 300 rédacteurs : chacun obtient une réponse</a:t>
            </a:r>
            <a:endParaRPr lang="en-US" sz="1200" dirty="0"/>
          </a:p>
        </p:txBody>
      </p:sp>
      <p:sp>
        <p:nvSpPr>
          <p:cNvPr id="19" name="C6"/>
          <p:cNvSpPr/>
          <p:nvPr/>
        </p:nvSpPr>
        <p:spPr>
          <a:xfrm>
            <a:off x="3246120" y="3429000"/>
            <a:ext cx="2606040" cy="960120"/>
          </a:xfrm>
          <a:prstGeom prst="roundRect">
            <a:avLst>
              <a:gd name="adj" fmla="val 9524"/>
            </a:avLst>
          </a:prstGeom>
          <a:solidFill>
            <a:schemeClr val="bg2"/>
          </a:solidFill>
          <a:ln w="12700">
            <a:solidFill>
              <a:schemeClr val="bg2"/>
            </a:solidFill>
            <a:prstDash val="solid"/>
          </a:ln>
        </p:spPr>
      </p:sp>
      <p:sp>
        <p:nvSpPr>
          <p:cNvPr id="20" name="Text 18"/>
          <p:cNvSpPr txBox="1"/>
          <p:nvPr/>
        </p:nvSpPr>
        <p:spPr>
          <a:xfrm>
            <a:off x="3383280" y="3429000"/>
            <a:ext cx="548640" cy="960120"/>
          </a:xfrm>
          <a:prstGeom prst="rect">
            <a:avLst/>
          </a:prstGeom>
          <a:noFill/>
          <a:ln/>
        </p:spPr>
        <p:txBody>
          <a:bodyPr wrap="square" lIns="0" tIns="0" rIns="0" bIns="0" rtlCol="0" anchor="ctr"/>
          <a:lstStyle/>
          <a:p>
            <a:pPr indent="0" marL="0">
              <a:buNone/>
            </a:pPr>
            <a:r>
              <a:rPr lang="en-US" sz="2000" b="1" dirty="0">
                <a:solidFill>
                  <a:schemeClr val="accent1"/>
                </a:solidFill>
              </a:rPr>
              <a:t>C6</a:t>
            </a:r>
            <a:endParaRPr lang="en-US" sz="2000" dirty="0"/>
          </a:p>
        </p:txBody>
      </p:sp>
      <p:sp>
        <p:nvSpPr>
          <p:cNvPr id="21" name="Text 19"/>
          <p:cNvSpPr txBox="1"/>
          <p:nvPr/>
        </p:nvSpPr>
        <p:spPr>
          <a:xfrm>
            <a:off x="3931920" y="3429000"/>
            <a:ext cx="1783080" cy="960120"/>
          </a:xfrm>
          <a:prstGeom prst="rect">
            <a:avLst/>
          </a:prstGeom>
          <a:noFill/>
          <a:ln/>
        </p:spPr>
        <p:txBody>
          <a:bodyPr wrap="square" lIns="0" tIns="0" rIns="0" bIns="0" rtlCol="0" anchor="ctr"/>
          <a:lstStyle/>
          <a:p>
            <a:pPr indent="0" marL="0">
              <a:buNone/>
            </a:pPr>
            <a:r>
              <a:rPr lang="en-US" sz="1200" dirty="0">
                <a:solidFill>
                  <a:schemeClr val="tx1"/>
                </a:solidFill>
              </a:rPr>
              <a:t>Après le dernier exemplaire : on le sait vite, le service s'arrête</a:t>
            </a:r>
            <a:endParaRPr lang="en-US" sz="1200" dirty="0"/>
          </a:p>
        </p:txBody>
      </p:sp>
      <p:sp>
        <p:nvSpPr>
          <p:cNvPr id="22" name="règles"/>
          <p:cNvSpPr/>
          <p:nvPr/>
        </p:nvSpPr>
        <p:spPr>
          <a:xfrm>
            <a:off x="6035040" y="1234440"/>
            <a:ext cx="2651760" cy="3154680"/>
          </a:xfrm>
          <a:prstGeom prst="roundRect">
            <a:avLst>
              <a:gd name="adj" fmla="val 3448"/>
            </a:avLst>
          </a:prstGeom>
          <a:solidFill>
            <a:schemeClr val="tx2"/>
          </a:solidFill>
          <a:ln w="12700">
            <a:solidFill>
              <a:schemeClr val="tx2"/>
            </a:solidFill>
            <a:prstDash val="solid"/>
          </a:ln>
        </p:spPr>
      </p:sp>
      <p:sp>
        <p:nvSpPr>
          <p:cNvPr id="23" name="Text 21"/>
          <p:cNvSpPr txBox="1"/>
          <p:nvPr/>
        </p:nvSpPr>
        <p:spPr>
          <a:xfrm>
            <a:off x="6217920" y="1371600"/>
            <a:ext cx="2286000" cy="365760"/>
          </a:xfrm>
          <a:prstGeom prst="rect">
            <a:avLst/>
          </a:prstGeom>
          <a:noFill/>
          <a:ln/>
        </p:spPr>
        <p:txBody>
          <a:bodyPr wrap="square" lIns="0" tIns="0" rIns="0" bIns="0" rtlCol="0" anchor="ctr"/>
          <a:lstStyle/>
          <a:p>
            <a:pPr indent="0" marL="0">
              <a:buNone/>
            </a:pPr>
            <a:r>
              <a:rPr lang="en-US" sz="1400" b="1" dirty="0">
                <a:solidFill>
                  <a:schemeClr val="accent1"/>
                </a:solidFill>
              </a:rPr>
              <a:t>Règles de mise en œuvre</a:t>
            </a:r>
            <a:endParaRPr lang="en-US" sz="1400" dirty="0"/>
          </a:p>
        </p:txBody>
      </p:sp>
      <p:sp>
        <p:nvSpPr>
          <p:cNvPr id="24" name="Text 22"/>
          <p:cNvSpPr txBox="1"/>
          <p:nvPr/>
        </p:nvSpPr>
        <p:spPr>
          <a:xfrm>
            <a:off x="6217920" y="1783080"/>
            <a:ext cx="2331720" cy="2514600"/>
          </a:xfrm>
          <a:prstGeom prst="rect">
            <a:avLst/>
          </a:prstGeom>
          <a:noFill/>
          <a:ln/>
        </p:spPr>
        <p:txBody>
          <a:bodyPr wrap="square" rtlCol="0" anchor="t"/>
          <a:lstStyle/>
          <a:p>
            <a:pPr marL="342900" indent="-342900">
              <a:spcAft>
                <a:spcPts val="600"/>
              </a:spcAft>
              <a:buSzPct val="100000"/>
              <a:buChar char="•"/>
            </a:pPr>
            <a:r>
              <a:rPr lang="en-US" sz="1200" dirty="0">
                <a:solidFill>
                  <a:schemeClr val="bg1"/>
                </a:solidFill>
              </a:rPr>
              <a:t>Compte AWS personnel, plan gratuit</a:t>
            </a:r>
            <a:endParaRPr lang="en-US" sz="1200" dirty="0"/>
          </a:p>
          <a:p>
            <a:pPr marL="342900" indent="-342900">
              <a:spcAft>
                <a:spcPts val="600"/>
              </a:spcAft>
              <a:buSzPct val="100000"/>
              <a:buChar char="•"/>
            </a:pPr>
            <a:r>
              <a:rPr lang="en-US" sz="1200" dirty="0">
                <a:solidFill>
                  <a:schemeClr val="bg1"/>
                </a:solidFill>
              </a:rPr>
              <a:t>Une seule région</a:t>
            </a:r>
            <a:endParaRPr lang="en-US" sz="1200" dirty="0"/>
          </a:p>
          <a:p>
            <a:pPr marL="342900" indent="-342900">
              <a:spcAft>
                <a:spcPts val="600"/>
              </a:spcAft>
              <a:buSzPct val="100000"/>
              <a:buChar char="•"/>
            </a:pPr>
            <a:r>
              <a:rPr lang="en-US" sz="1200" dirty="0">
                <a:solidFill>
                  <a:schemeClr val="bg1"/>
                </a:solidFill>
              </a:rPr>
              <a:t>Aucune clé d'accès dans le dépôt</a:t>
            </a:r>
            <a:endParaRPr lang="en-US" sz="1200" dirty="0"/>
          </a:p>
          <a:p>
            <a:pPr marL="342900" indent="-342900">
              <a:spcAft>
                <a:spcPts val="600"/>
              </a:spcAft>
              <a:buSzPct val="100000"/>
              <a:buChar char="•"/>
            </a:pPr>
            <a:r>
              <a:rPr lang="en-US" sz="1200" dirty="0">
                <a:solidFill>
                  <a:schemeClr val="bg1"/>
                </a:solidFill>
              </a:rPr>
              <a:t>Moindre privilège</a:t>
            </a:r>
            <a:endParaRPr lang="en-US" sz="1200" dirty="0"/>
          </a:p>
          <a:p>
            <a:pPr marL="342900" indent="-342900">
              <a:spcAft>
                <a:spcPts val="600"/>
              </a:spcAft>
              <a:buSzPct val="100000"/>
              <a:buChar char="•"/>
            </a:pPr>
            <a:r>
              <a:rPr lang="en-US" sz="1200" dirty="0">
                <a:solidFill>
                  <a:schemeClr val="bg1"/>
                </a:solidFill>
              </a:rPr>
              <a:t>Fichiers stockés dans S3</a:t>
            </a:r>
            <a:endParaRPr lang="en-US" sz="1200" dirty="0"/>
          </a:p>
          <a:p>
            <a:pPr marL="342900" indent="-342900">
              <a:spcAft>
                <a:spcPts val="600"/>
              </a:spcAft>
              <a:buSzPct val="100000"/>
              <a:buChar char="•"/>
            </a:pPr>
            <a:r>
              <a:rPr lang="en-US" sz="1200" dirty="0">
                <a:solidFill>
                  <a:schemeClr val="bg1"/>
                </a:solidFill>
              </a:rPr>
              <a:t>Déployer, tester, supprimer par script</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457200" y="201168"/>
            <a:ext cx="8229600" cy="274320"/>
          </a:xfrm>
          <a:prstGeom prst="rect">
            <a:avLst/>
          </a:prstGeom>
          <a:noFill/>
          <a:ln/>
        </p:spPr>
        <p:txBody>
          <a:bodyPr wrap="square" rtlCol="0" anchor="ctr"/>
          <a:lstStyle/>
          <a:p>
            <a:pPr indent="0" marL="0">
              <a:buNone/>
            </a:pPr>
            <a:r>
              <a:rPr lang="en-US" sz="1100" b="1" dirty="0">
                <a:solidFill>
                  <a:schemeClr val="accent1"/>
                </a:solidFill>
              </a:rPr>
              <a:t>02 · ARCHITECTURE ET CHOIX TECHNOLOGIQUES</a:t>
            </a:r>
            <a:endParaRPr lang="en-US" sz="1100" dirty="0"/>
          </a:p>
        </p:txBody>
      </p:sp>
      <p:sp>
        <p:nvSpPr>
          <p:cNvPr id="3" name="Text 1"/>
          <p:cNvSpPr/>
          <p:nvPr>
            <p:ph idx="102" type="title" hasCustomPrompt="1"/>
          </p:nvPr>
        </p:nvSpPr>
        <p:spPr>
          <a:xfrm>
            <a:off x="457200" y="457200"/>
            <a:ext cx="8229600" cy="640080"/>
          </a:xfrm>
          <a:prstGeom prst="rect">
            <a:avLst/>
          </a:prstGeom>
          <a:noFill/>
          <a:ln/>
        </p:spPr>
        <p:txBody>
          <a:bodyPr wrap="square" rtlCol="0" anchor="ctr"/>
          <a:lstStyle/>
          <a:p>
            <a:pPr indent="0" marL="0">
              <a:buNone/>
            </a:pPr>
            <a:r>
              <a:rPr lang="en-US" sz="2600" b="1" dirty="0">
                <a:solidFill>
                  <a:schemeClr val="tx2"/>
                </a:solidFill>
                <a:latin typeface="Cambria" pitchFamily="34" charset="0"/>
                <a:ea typeface="Cambria" pitchFamily="34" charset="-122"/>
                <a:cs typeface="Cambria" pitchFamily="34" charset="-120"/>
              </a:rPr>
              <a:t>Une architecture 100 % serverless, dans une seule région</a:t>
            </a:r>
            <a:endParaRPr lang="en-US" sz="2600" dirty="0"/>
          </a:p>
        </p:txBody>
      </p:sp>
      <p:sp>
        <p:nvSpPr>
          <p:cNvPr id="4" name="Navigateur"/>
          <p:cNvSpPr/>
          <p:nvPr/>
        </p:nvSpPr>
        <p:spPr>
          <a:xfrm>
            <a:off x="457200" y="1280160"/>
            <a:ext cx="1325880" cy="2514600"/>
          </a:xfrm>
          <a:prstGeom prst="roundRect">
            <a:avLst>
              <a:gd name="adj" fmla="val 5517"/>
            </a:avLst>
          </a:prstGeom>
          <a:solidFill>
            <a:schemeClr val="tx2"/>
          </a:solidFill>
          <a:ln w="12700">
            <a:solidFill>
              <a:schemeClr val="tx2"/>
            </a:solidFill>
            <a:prstDash val="solid"/>
          </a:ln>
        </p:spPr>
      </p:sp>
      <p:sp>
        <p:nvSpPr>
          <p:cNvPr id="5" name="Text 3"/>
          <p:cNvSpPr txBox="1"/>
          <p:nvPr/>
        </p:nvSpPr>
        <p:spPr>
          <a:xfrm>
            <a:off x="457200" y="1280160"/>
            <a:ext cx="1325880" cy="2514600"/>
          </a:xfrm>
          <a:prstGeom prst="rect">
            <a:avLst/>
          </a:prstGeom>
          <a:noFill/>
          <a:ln/>
        </p:spPr>
        <p:txBody>
          <a:bodyPr wrap="square" lIns="50800" tIns="50800" rIns="50800" bIns="50800" rtlCol="0" anchor="ctr"/>
          <a:lstStyle/>
          <a:p>
            <a:pPr algn="ctr" indent="0" marL="0">
              <a:buNone/>
            </a:pPr>
            <a:r>
              <a:rPr lang="en-US" sz="1300" b="1" dirty="0">
                <a:solidFill>
                  <a:schemeClr val="bg1"/>
                </a:solidFill>
              </a:rPr>
              <a:t>Navigateur</a:t>
            </a:r>
            <a:endParaRPr lang="en-US" sz="1300" dirty="0"/>
          </a:p>
          <a:p>
            <a:pPr algn="ctr" indent="0" marL="0">
              <a:buNone/>
            </a:pPr>
            <a:r>
              <a:rPr lang="en-US" sz="1000" dirty="0">
                <a:solidFill>
                  <a:schemeClr val="bg1"/>
                </a:solidFill>
              </a:rPr>
              <a:t>rédacteur, visiteur, association</a:t>
            </a:r>
            <a:endParaRPr lang="en-US" sz="1300" dirty="0"/>
          </a:p>
        </p:txBody>
      </p:sp>
      <p:sp>
        <p:nvSpPr>
          <p:cNvPr id="6" name="CloudFront 0"/>
          <p:cNvSpPr/>
          <p:nvPr/>
        </p:nvSpPr>
        <p:spPr>
          <a:xfrm>
            <a:off x="2148840" y="1280160"/>
            <a:ext cx="1463040" cy="685800"/>
          </a:xfrm>
          <a:prstGeom prst="roundRect">
            <a:avLst>
              <a:gd name="adj" fmla="val 10667"/>
            </a:avLst>
          </a:prstGeom>
          <a:solidFill>
            <a:schemeClr val="accent3"/>
          </a:solidFill>
          <a:ln w="12700">
            <a:solidFill>
              <a:schemeClr val="accent3"/>
            </a:solidFill>
            <a:prstDash val="solid"/>
          </a:ln>
        </p:spPr>
      </p:sp>
      <p:sp>
        <p:nvSpPr>
          <p:cNvPr id="7" name="Text 5"/>
          <p:cNvSpPr txBox="1"/>
          <p:nvPr/>
        </p:nvSpPr>
        <p:spPr>
          <a:xfrm>
            <a:off x="2148840" y="1280160"/>
            <a:ext cx="1463040" cy="685800"/>
          </a:xfrm>
          <a:prstGeom prst="rect">
            <a:avLst/>
          </a:prstGeom>
          <a:noFill/>
          <a:ln/>
        </p:spPr>
        <p:txBody>
          <a:bodyPr wrap="square" lIns="25400" tIns="25400" rIns="25400" bIns="25400" rtlCol="0" anchor="ctr"/>
          <a:lstStyle/>
          <a:p>
            <a:pPr algn="ctr" indent="0" marL="0">
              <a:buNone/>
            </a:pPr>
            <a:r>
              <a:rPr lang="en-US" sz="1300" b="1" dirty="0">
                <a:solidFill>
                  <a:schemeClr val="bg1"/>
                </a:solidFill>
              </a:rPr>
              <a:t>CloudFront</a:t>
            </a:r>
            <a:endParaRPr lang="en-US" sz="1300" dirty="0"/>
          </a:p>
          <a:p>
            <a:pPr algn="ctr" indent="0" marL="0">
              <a:buNone/>
            </a:pPr>
            <a:r>
              <a:rPr lang="en-US" sz="1000" dirty="0">
                <a:solidFill>
                  <a:schemeClr val="bg1"/>
                </a:solidFill>
              </a:rPr>
              <a:t>site + statut (cache 2 s)</a:t>
            </a:r>
            <a:endParaRPr lang="en-US" sz="1300" dirty="0"/>
          </a:p>
        </p:txBody>
      </p:sp>
      <p:sp>
        <p:nvSpPr>
          <p:cNvPr id="8" name="API Gateway HTTP 1"/>
          <p:cNvSpPr/>
          <p:nvPr/>
        </p:nvSpPr>
        <p:spPr>
          <a:xfrm>
            <a:off x="2148840" y="2194560"/>
            <a:ext cx="1463040" cy="685800"/>
          </a:xfrm>
          <a:prstGeom prst="roundRect">
            <a:avLst>
              <a:gd name="adj" fmla="val 10667"/>
            </a:avLst>
          </a:prstGeom>
          <a:solidFill>
            <a:schemeClr val="accent3"/>
          </a:solidFill>
          <a:ln w="12700">
            <a:solidFill>
              <a:schemeClr val="accent3"/>
            </a:solidFill>
            <a:prstDash val="solid"/>
          </a:ln>
        </p:spPr>
      </p:sp>
      <p:sp>
        <p:nvSpPr>
          <p:cNvPr id="9" name="Text 7"/>
          <p:cNvSpPr txBox="1"/>
          <p:nvPr/>
        </p:nvSpPr>
        <p:spPr>
          <a:xfrm>
            <a:off x="2148840" y="2194560"/>
            <a:ext cx="1463040" cy="685800"/>
          </a:xfrm>
          <a:prstGeom prst="rect">
            <a:avLst/>
          </a:prstGeom>
          <a:noFill/>
          <a:ln/>
        </p:spPr>
        <p:txBody>
          <a:bodyPr wrap="square" lIns="25400" tIns="25400" rIns="25400" bIns="25400" rtlCol="0" anchor="ctr"/>
          <a:lstStyle/>
          <a:p>
            <a:pPr algn="ctr" indent="0" marL="0">
              <a:buNone/>
            </a:pPr>
            <a:r>
              <a:rPr lang="en-US" sz="1300" b="1" dirty="0">
                <a:solidFill>
                  <a:schemeClr val="bg1"/>
                </a:solidFill>
              </a:rPr>
              <a:t>API Gateway HTTP</a:t>
            </a:r>
            <a:endParaRPr lang="en-US" sz="1300" dirty="0"/>
          </a:p>
          <a:p>
            <a:pPr algn="ctr" indent="0" marL="0">
              <a:buNone/>
            </a:pPr>
            <a:r>
              <a:rPr lang="en-US" sz="1000" dirty="0">
                <a:solidFill>
                  <a:schemeClr val="bg1"/>
                </a:solidFill>
              </a:rPr>
              <a:t>actions, 300 req/s</a:t>
            </a:r>
            <a:endParaRPr lang="en-US" sz="1300" dirty="0"/>
          </a:p>
        </p:txBody>
      </p:sp>
      <p:sp>
        <p:nvSpPr>
          <p:cNvPr id="10" name="API Gateway WS 2"/>
          <p:cNvSpPr/>
          <p:nvPr/>
        </p:nvSpPr>
        <p:spPr>
          <a:xfrm>
            <a:off x="2148840" y="3108960"/>
            <a:ext cx="1463040" cy="685800"/>
          </a:xfrm>
          <a:prstGeom prst="roundRect">
            <a:avLst>
              <a:gd name="adj" fmla="val 10667"/>
            </a:avLst>
          </a:prstGeom>
          <a:solidFill>
            <a:schemeClr val="accent3"/>
          </a:solidFill>
          <a:ln w="12700">
            <a:solidFill>
              <a:schemeClr val="accent3"/>
            </a:solidFill>
            <a:prstDash val="solid"/>
          </a:ln>
        </p:spPr>
      </p:sp>
      <p:sp>
        <p:nvSpPr>
          <p:cNvPr id="11" name="Text 9"/>
          <p:cNvSpPr txBox="1"/>
          <p:nvPr/>
        </p:nvSpPr>
        <p:spPr>
          <a:xfrm>
            <a:off x="2148840" y="3108960"/>
            <a:ext cx="1463040" cy="685800"/>
          </a:xfrm>
          <a:prstGeom prst="rect">
            <a:avLst/>
          </a:prstGeom>
          <a:noFill/>
          <a:ln/>
        </p:spPr>
        <p:txBody>
          <a:bodyPr wrap="square" lIns="25400" tIns="25400" rIns="25400" bIns="25400" rtlCol="0" anchor="ctr"/>
          <a:lstStyle/>
          <a:p>
            <a:pPr algn="ctr" indent="0" marL="0">
              <a:buNone/>
            </a:pPr>
            <a:r>
              <a:rPr lang="en-US" sz="1300" b="1" dirty="0">
                <a:solidFill>
                  <a:schemeClr val="bg1"/>
                </a:solidFill>
              </a:rPr>
              <a:t>API Gateway WS</a:t>
            </a:r>
            <a:endParaRPr lang="en-US" sz="1300" dirty="0"/>
          </a:p>
          <a:p>
            <a:pPr algn="ctr" indent="0" marL="0">
              <a:buNone/>
            </a:pPr>
            <a:r>
              <a:rPr lang="en-US" sz="1000" dirty="0">
                <a:solidFill>
                  <a:schemeClr val="bg1"/>
                </a:solidFill>
              </a:rPr>
              <a:t>présence + diffusion</a:t>
            </a:r>
            <a:endParaRPr lang="en-US" sz="1300" dirty="0"/>
          </a:p>
        </p:txBody>
      </p:sp>
      <p:sp>
        <p:nvSpPr>
          <p:cNvPr id="12" name="S3 0"/>
          <p:cNvSpPr/>
          <p:nvPr/>
        </p:nvSpPr>
        <p:spPr>
          <a:xfrm>
            <a:off x="3840480" y="1280160"/>
            <a:ext cx="1463040" cy="685800"/>
          </a:xfrm>
          <a:prstGeom prst="roundRect">
            <a:avLst>
              <a:gd name="adj" fmla="val 10667"/>
            </a:avLst>
          </a:prstGeom>
          <a:solidFill>
            <a:schemeClr val="accent2"/>
          </a:solidFill>
          <a:ln w="12700">
            <a:solidFill>
              <a:schemeClr val="accent2"/>
            </a:solidFill>
            <a:prstDash val="solid"/>
          </a:ln>
        </p:spPr>
      </p:sp>
      <p:sp>
        <p:nvSpPr>
          <p:cNvPr id="13" name="Text 11"/>
          <p:cNvSpPr txBox="1"/>
          <p:nvPr/>
        </p:nvSpPr>
        <p:spPr>
          <a:xfrm>
            <a:off x="3840480" y="1280160"/>
            <a:ext cx="1463040" cy="685800"/>
          </a:xfrm>
          <a:prstGeom prst="rect">
            <a:avLst/>
          </a:prstGeom>
          <a:noFill/>
          <a:ln/>
        </p:spPr>
        <p:txBody>
          <a:bodyPr wrap="square" lIns="25400" tIns="25400" rIns="25400" bIns="25400" rtlCol="0" anchor="ctr"/>
          <a:lstStyle/>
          <a:p>
            <a:pPr algn="ctr" indent="0" marL="0">
              <a:buNone/>
            </a:pPr>
            <a:r>
              <a:rPr lang="en-US" sz="1300" b="1" dirty="0">
                <a:solidFill>
                  <a:schemeClr val="bg1"/>
                </a:solidFill>
              </a:rPr>
              <a:t>S3</a:t>
            </a:r>
            <a:endParaRPr lang="en-US" sz="1300" dirty="0"/>
          </a:p>
          <a:p>
            <a:pPr algn="ctr" indent="0" marL="0">
              <a:buNone/>
            </a:pPr>
            <a:r>
              <a:rPr lang="en-US" sz="1000" dirty="0">
                <a:solidFill>
                  <a:schemeClr val="bg1"/>
                </a:solidFill>
              </a:rPr>
              <a:t>site privé (OAC)</a:t>
            </a:r>
            <a:endParaRPr lang="en-US" sz="1300" dirty="0"/>
          </a:p>
        </p:txBody>
      </p:sp>
      <p:sp>
        <p:nvSpPr>
          <p:cNvPr id="14" name="Lambda 1"/>
          <p:cNvSpPr/>
          <p:nvPr/>
        </p:nvSpPr>
        <p:spPr>
          <a:xfrm>
            <a:off x="3840480" y="2194560"/>
            <a:ext cx="1463040" cy="685800"/>
          </a:xfrm>
          <a:prstGeom prst="roundRect">
            <a:avLst>
              <a:gd name="adj" fmla="val 10667"/>
            </a:avLst>
          </a:prstGeom>
          <a:solidFill>
            <a:schemeClr val="accent1"/>
          </a:solidFill>
          <a:ln w="12700">
            <a:solidFill>
              <a:schemeClr val="accent1"/>
            </a:solidFill>
            <a:prstDash val="solid"/>
          </a:ln>
        </p:spPr>
      </p:sp>
      <p:sp>
        <p:nvSpPr>
          <p:cNvPr id="15" name="Text 13"/>
          <p:cNvSpPr txBox="1"/>
          <p:nvPr/>
        </p:nvSpPr>
        <p:spPr>
          <a:xfrm>
            <a:off x="3840480" y="2194560"/>
            <a:ext cx="1463040" cy="685800"/>
          </a:xfrm>
          <a:prstGeom prst="rect">
            <a:avLst/>
          </a:prstGeom>
          <a:noFill/>
          <a:ln/>
        </p:spPr>
        <p:txBody>
          <a:bodyPr wrap="square" lIns="25400" tIns="25400" rIns="25400" bIns="25400" rtlCol="0" anchor="ctr"/>
          <a:lstStyle/>
          <a:p>
            <a:pPr algn="ctr" indent="0" marL="0">
              <a:buNone/>
            </a:pPr>
            <a:r>
              <a:rPr lang="en-US" sz="1300" b="1" dirty="0">
                <a:solidFill>
                  <a:schemeClr val="bg1"/>
                </a:solidFill>
              </a:rPr>
              <a:t>Lambda</a:t>
            </a:r>
            <a:endParaRPr lang="en-US" sz="1300" dirty="0"/>
          </a:p>
          <a:p>
            <a:pPr algn="ctr" indent="0" marL="0">
              <a:buNone/>
            </a:pPr>
            <a:r>
              <a:rPr lang="en-US" sz="1000" dirty="0">
                <a:solidFill>
                  <a:schemeClr val="bg1"/>
                </a:solidFill>
              </a:rPr>
              <a:t>api · update · claim · admin</a:t>
            </a:r>
            <a:endParaRPr lang="en-US" sz="1300" dirty="0"/>
          </a:p>
        </p:txBody>
      </p:sp>
      <p:sp>
        <p:nvSpPr>
          <p:cNvPr id="16" name="Lambda 2"/>
          <p:cNvSpPr/>
          <p:nvPr/>
        </p:nvSpPr>
        <p:spPr>
          <a:xfrm>
            <a:off x="3840480" y="3108960"/>
            <a:ext cx="1463040" cy="685800"/>
          </a:xfrm>
          <a:prstGeom prst="roundRect">
            <a:avLst>
              <a:gd name="adj" fmla="val 10667"/>
            </a:avLst>
          </a:prstGeom>
          <a:solidFill>
            <a:schemeClr val="accent1"/>
          </a:solidFill>
          <a:ln w="12700">
            <a:solidFill>
              <a:schemeClr val="accent1"/>
            </a:solidFill>
            <a:prstDash val="solid"/>
          </a:ln>
        </p:spPr>
      </p:sp>
      <p:sp>
        <p:nvSpPr>
          <p:cNvPr id="17" name="Text 15"/>
          <p:cNvSpPr txBox="1"/>
          <p:nvPr/>
        </p:nvSpPr>
        <p:spPr>
          <a:xfrm>
            <a:off x="3840480" y="3108960"/>
            <a:ext cx="1463040" cy="685800"/>
          </a:xfrm>
          <a:prstGeom prst="rect">
            <a:avLst/>
          </a:prstGeom>
          <a:noFill/>
          <a:ln/>
        </p:spPr>
        <p:txBody>
          <a:bodyPr wrap="square" lIns="25400" tIns="25400" rIns="25400" bIns="25400" rtlCol="0" anchor="ctr"/>
          <a:lstStyle/>
          <a:p>
            <a:pPr algn="ctr" indent="0" marL="0">
              <a:buNone/>
            </a:pPr>
            <a:r>
              <a:rPr lang="en-US" sz="1300" b="1" dirty="0">
                <a:solidFill>
                  <a:schemeClr val="bg1"/>
                </a:solidFill>
              </a:rPr>
              <a:t>Lambda</a:t>
            </a:r>
            <a:endParaRPr lang="en-US" sz="1300" dirty="0"/>
          </a:p>
          <a:p>
            <a:pPr algn="ctr" indent="0" marL="0">
              <a:buNone/>
            </a:pPr>
            <a:r>
              <a:rPr lang="en-US" sz="1000" dirty="0">
                <a:solidFill>
                  <a:schemeClr val="bg1"/>
                </a:solidFill>
              </a:rPr>
              <a:t>connexions WebSocket</a:t>
            </a:r>
            <a:endParaRPr lang="en-US" sz="1300" dirty="0"/>
          </a:p>
        </p:txBody>
      </p:sp>
      <p:sp>
        <p:nvSpPr>
          <p:cNvPr id="18" name="S3 0"/>
          <p:cNvSpPr/>
          <p:nvPr/>
        </p:nvSpPr>
        <p:spPr>
          <a:xfrm>
            <a:off x="5532120" y="1280160"/>
            <a:ext cx="1463040" cy="685800"/>
          </a:xfrm>
          <a:prstGeom prst="roundRect">
            <a:avLst>
              <a:gd name="adj" fmla="val 10667"/>
            </a:avLst>
          </a:prstGeom>
          <a:solidFill>
            <a:schemeClr val="accent2"/>
          </a:solidFill>
          <a:ln w="12700">
            <a:solidFill>
              <a:schemeClr val="accent2"/>
            </a:solidFill>
            <a:prstDash val="solid"/>
          </a:ln>
        </p:spPr>
      </p:sp>
      <p:sp>
        <p:nvSpPr>
          <p:cNvPr id="19" name="Text 17"/>
          <p:cNvSpPr txBox="1"/>
          <p:nvPr/>
        </p:nvSpPr>
        <p:spPr>
          <a:xfrm>
            <a:off x="5532120" y="1280160"/>
            <a:ext cx="1463040" cy="685800"/>
          </a:xfrm>
          <a:prstGeom prst="rect">
            <a:avLst/>
          </a:prstGeom>
          <a:noFill/>
          <a:ln/>
        </p:spPr>
        <p:txBody>
          <a:bodyPr wrap="square" lIns="25400" tIns="25400" rIns="25400" bIns="25400" rtlCol="0" anchor="ctr"/>
          <a:lstStyle/>
          <a:p>
            <a:pPr algn="ctr" indent="0" marL="0">
              <a:buNone/>
            </a:pPr>
            <a:r>
              <a:rPr lang="en-US" sz="1300" b="1" dirty="0">
                <a:solidFill>
                  <a:schemeClr val="bg1"/>
                </a:solidFill>
              </a:rPr>
              <a:t>S3</a:t>
            </a:r>
            <a:endParaRPr lang="en-US" sz="1300" dirty="0"/>
          </a:p>
          <a:p>
            <a:pPr algn="ctr" indent="0" marL="0">
              <a:buNone/>
            </a:pPr>
            <a:r>
              <a:rPr lang="en-US" sz="1000" dirty="0">
                <a:solidFill>
                  <a:schemeClr val="bg1"/>
                </a:solidFill>
              </a:rPr>
              <a:t>PDF + versions</a:t>
            </a:r>
            <a:endParaRPr lang="en-US" sz="1300" dirty="0"/>
          </a:p>
        </p:txBody>
      </p:sp>
      <p:sp>
        <p:nvSpPr>
          <p:cNvPr id="20" name="DynamoDB 1"/>
          <p:cNvSpPr/>
          <p:nvPr/>
        </p:nvSpPr>
        <p:spPr>
          <a:xfrm>
            <a:off x="5532120" y="2194560"/>
            <a:ext cx="1463040" cy="685800"/>
          </a:xfrm>
          <a:prstGeom prst="roundRect">
            <a:avLst>
              <a:gd name="adj" fmla="val 10667"/>
            </a:avLst>
          </a:prstGeom>
          <a:solidFill>
            <a:schemeClr val="accent2"/>
          </a:solidFill>
          <a:ln w="12700">
            <a:solidFill>
              <a:schemeClr val="accent2"/>
            </a:solidFill>
            <a:prstDash val="solid"/>
          </a:ln>
        </p:spPr>
      </p:sp>
      <p:sp>
        <p:nvSpPr>
          <p:cNvPr id="21" name="Text 19"/>
          <p:cNvSpPr txBox="1"/>
          <p:nvPr/>
        </p:nvSpPr>
        <p:spPr>
          <a:xfrm>
            <a:off x="5532120" y="2194560"/>
            <a:ext cx="1463040" cy="685800"/>
          </a:xfrm>
          <a:prstGeom prst="rect">
            <a:avLst/>
          </a:prstGeom>
          <a:noFill/>
          <a:ln/>
        </p:spPr>
        <p:txBody>
          <a:bodyPr wrap="square" lIns="25400" tIns="25400" rIns="25400" bIns="25400" rtlCol="0" anchor="ctr"/>
          <a:lstStyle/>
          <a:p>
            <a:pPr algn="ctr" indent="0" marL="0">
              <a:buNone/>
            </a:pPr>
            <a:r>
              <a:rPr lang="en-US" sz="1300" b="1" dirty="0">
                <a:solidFill>
                  <a:schemeClr val="bg1"/>
                </a:solidFill>
              </a:rPr>
              <a:t>DynamoDB</a:t>
            </a:r>
            <a:endParaRPr lang="en-US" sz="1300" dirty="0"/>
          </a:p>
          <a:p>
            <a:pPr algn="ctr" indent="0" marL="0">
              <a:buNone/>
            </a:pPr>
            <a:r>
              <a:rPr lang="en-US" sz="1000" dirty="0">
                <a:solidFill>
                  <a:schemeClr val="bg1"/>
                </a:solidFill>
              </a:rPr>
              <a:t>9 tables à la demande</a:t>
            </a:r>
            <a:endParaRPr lang="en-US" sz="1300" dirty="0"/>
          </a:p>
        </p:txBody>
      </p:sp>
      <p:sp>
        <p:nvSpPr>
          <p:cNvPr id="22" name="Lambda notify 1"/>
          <p:cNvSpPr/>
          <p:nvPr/>
        </p:nvSpPr>
        <p:spPr>
          <a:xfrm>
            <a:off x="7223760" y="2194560"/>
            <a:ext cx="1463040" cy="685800"/>
          </a:xfrm>
          <a:prstGeom prst="roundRect">
            <a:avLst>
              <a:gd name="adj" fmla="val 10667"/>
            </a:avLst>
          </a:prstGeom>
          <a:solidFill>
            <a:schemeClr val="accent1"/>
          </a:solidFill>
          <a:ln w="12700">
            <a:solidFill>
              <a:schemeClr val="accent1"/>
            </a:solidFill>
            <a:prstDash val="solid"/>
          </a:ln>
        </p:spPr>
      </p:sp>
      <p:sp>
        <p:nvSpPr>
          <p:cNvPr id="23" name="Text 21"/>
          <p:cNvSpPr txBox="1"/>
          <p:nvPr/>
        </p:nvSpPr>
        <p:spPr>
          <a:xfrm>
            <a:off x="7223760" y="2194560"/>
            <a:ext cx="1463040" cy="685800"/>
          </a:xfrm>
          <a:prstGeom prst="rect">
            <a:avLst/>
          </a:prstGeom>
          <a:noFill/>
          <a:ln/>
        </p:spPr>
        <p:txBody>
          <a:bodyPr wrap="square" lIns="25400" tIns="25400" rIns="25400" bIns="25400" rtlCol="0" anchor="ctr"/>
          <a:lstStyle/>
          <a:p>
            <a:pPr algn="ctr" indent="0" marL="0">
              <a:buNone/>
            </a:pPr>
            <a:r>
              <a:rPr lang="en-US" sz="1300" b="1" dirty="0">
                <a:solidFill>
                  <a:schemeClr val="bg1"/>
                </a:solidFill>
              </a:rPr>
              <a:t>Lambda notify</a:t>
            </a:r>
            <a:endParaRPr lang="en-US" sz="1300" dirty="0"/>
          </a:p>
          <a:p>
            <a:pPr algn="ctr" indent="0" marL="0">
              <a:buNone/>
            </a:pPr>
            <a:r>
              <a:rPr lang="en-US" sz="1000" dirty="0">
                <a:solidFill>
                  <a:schemeClr val="bg1"/>
                </a:solidFill>
              </a:rPr>
              <a:t>déclenchée par le flux</a:t>
            </a:r>
            <a:endParaRPr lang="en-US" sz="1300" dirty="0"/>
          </a:p>
        </p:txBody>
      </p:sp>
      <p:sp>
        <p:nvSpPr>
          <p:cNvPr id="24" name="SNS 2"/>
          <p:cNvSpPr/>
          <p:nvPr/>
        </p:nvSpPr>
        <p:spPr>
          <a:xfrm>
            <a:off x="7223760" y="3108960"/>
            <a:ext cx="1463040" cy="685800"/>
          </a:xfrm>
          <a:prstGeom prst="roundRect">
            <a:avLst>
              <a:gd name="adj" fmla="val 10667"/>
            </a:avLst>
          </a:prstGeom>
          <a:solidFill>
            <a:schemeClr val="accent3"/>
          </a:solidFill>
          <a:ln w="12700">
            <a:solidFill>
              <a:schemeClr val="accent3"/>
            </a:solidFill>
            <a:prstDash val="solid"/>
          </a:ln>
        </p:spPr>
      </p:sp>
      <p:sp>
        <p:nvSpPr>
          <p:cNvPr id="25" name="Text 23"/>
          <p:cNvSpPr txBox="1"/>
          <p:nvPr/>
        </p:nvSpPr>
        <p:spPr>
          <a:xfrm>
            <a:off x="7223760" y="3108960"/>
            <a:ext cx="1463040" cy="685800"/>
          </a:xfrm>
          <a:prstGeom prst="rect">
            <a:avLst/>
          </a:prstGeom>
          <a:noFill/>
          <a:ln/>
        </p:spPr>
        <p:txBody>
          <a:bodyPr wrap="square" lIns="25400" tIns="25400" rIns="25400" bIns="25400" rtlCol="0" anchor="ctr"/>
          <a:lstStyle/>
          <a:p>
            <a:pPr algn="ctr" indent="0" marL="0">
              <a:buNone/>
            </a:pPr>
            <a:r>
              <a:rPr lang="en-US" sz="1300" b="1" dirty="0">
                <a:solidFill>
                  <a:schemeClr val="bg1"/>
                </a:solidFill>
              </a:rPr>
              <a:t>SNS</a:t>
            </a:r>
            <a:endParaRPr lang="en-US" sz="1300" dirty="0"/>
          </a:p>
          <a:p>
            <a:pPr algn="ctr" indent="0" marL="0">
              <a:buNone/>
            </a:pPr>
            <a:r>
              <a:rPr lang="en-US" sz="1000" dirty="0">
                <a:solidFill>
                  <a:schemeClr val="bg1"/>
                </a:solidFill>
              </a:rPr>
              <a:t>e-mail au créateur</a:t>
            </a:r>
            <a:endParaRPr lang="en-US" sz="1300" dirty="0"/>
          </a:p>
        </p:txBody>
      </p:sp>
      <p:sp>
        <p:nvSpPr>
          <p:cNvPr id="26" name="flèche nav 0"/>
          <p:cNvSpPr/>
          <p:nvPr/>
        </p:nvSpPr>
        <p:spPr>
          <a:xfrm>
            <a:off x="1783080" y="1623060"/>
            <a:ext cx="365760" cy="914"/>
          </a:xfrm>
          <a:prstGeom prst="line">
            <a:avLst/>
          </a:prstGeom>
          <a:noFill/>
          <a:ln w="19050">
            <a:solidFill>
              <a:schemeClr val="accent5"/>
            </a:solidFill>
            <a:prstDash val="solid"/>
            <a:tailEnd type="triangle"/>
          </a:ln>
        </p:spPr>
      </p:sp>
      <p:sp>
        <p:nvSpPr>
          <p:cNvPr id="27" name="flèche entrée 0"/>
          <p:cNvSpPr/>
          <p:nvPr/>
        </p:nvSpPr>
        <p:spPr>
          <a:xfrm>
            <a:off x="3611880" y="1623060"/>
            <a:ext cx="228600" cy="914"/>
          </a:xfrm>
          <a:prstGeom prst="line">
            <a:avLst/>
          </a:prstGeom>
          <a:noFill/>
          <a:ln w="19050">
            <a:solidFill>
              <a:schemeClr val="accent5"/>
            </a:solidFill>
            <a:prstDash val="solid"/>
            <a:tailEnd type="triangle"/>
          </a:ln>
        </p:spPr>
      </p:sp>
      <p:sp>
        <p:nvSpPr>
          <p:cNvPr id="28" name="flèche nav 1"/>
          <p:cNvSpPr/>
          <p:nvPr/>
        </p:nvSpPr>
        <p:spPr>
          <a:xfrm>
            <a:off x="1783080" y="2537460"/>
            <a:ext cx="365760" cy="914"/>
          </a:xfrm>
          <a:prstGeom prst="line">
            <a:avLst/>
          </a:prstGeom>
          <a:noFill/>
          <a:ln w="19050">
            <a:solidFill>
              <a:schemeClr val="accent5"/>
            </a:solidFill>
            <a:prstDash val="solid"/>
            <a:tailEnd type="triangle"/>
          </a:ln>
        </p:spPr>
      </p:sp>
      <p:sp>
        <p:nvSpPr>
          <p:cNvPr id="29" name="flèche entrée 1"/>
          <p:cNvSpPr/>
          <p:nvPr/>
        </p:nvSpPr>
        <p:spPr>
          <a:xfrm>
            <a:off x="3611880" y="2537460"/>
            <a:ext cx="228600" cy="914"/>
          </a:xfrm>
          <a:prstGeom prst="line">
            <a:avLst/>
          </a:prstGeom>
          <a:noFill/>
          <a:ln w="19050">
            <a:solidFill>
              <a:schemeClr val="accent5"/>
            </a:solidFill>
            <a:prstDash val="solid"/>
            <a:tailEnd type="triangle"/>
          </a:ln>
        </p:spPr>
      </p:sp>
      <p:sp>
        <p:nvSpPr>
          <p:cNvPr id="30" name="flèche nav 2"/>
          <p:cNvSpPr/>
          <p:nvPr/>
        </p:nvSpPr>
        <p:spPr>
          <a:xfrm>
            <a:off x="1783080" y="3451860"/>
            <a:ext cx="365760" cy="914"/>
          </a:xfrm>
          <a:prstGeom prst="line">
            <a:avLst/>
          </a:prstGeom>
          <a:noFill/>
          <a:ln w="19050">
            <a:solidFill>
              <a:schemeClr val="accent5"/>
            </a:solidFill>
            <a:prstDash val="solid"/>
            <a:tailEnd type="triangle"/>
          </a:ln>
        </p:spPr>
      </p:sp>
      <p:sp>
        <p:nvSpPr>
          <p:cNvPr id="31" name="flèche entrée 2"/>
          <p:cNvSpPr/>
          <p:nvPr/>
        </p:nvSpPr>
        <p:spPr>
          <a:xfrm>
            <a:off x="3611880" y="3451860"/>
            <a:ext cx="228600" cy="914"/>
          </a:xfrm>
          <a:prstGeom prst="line">
            <a:avLst/>
          </a:prstGeom>
          <a:noFill/>
          <a:ln w="19050">
            <a:solidFill>
              <a:schemeClr val="accent5"/>
            </a:solidFill>
            <a:prstDash val="solid"/>
            <a:tailEnd type="triangle"/>
          </a:ln>
        </p:spPr>
      </p:sp>
      <p:sp>
        <p:nvSpPr>
          <p:cNvPr id="32" name="flèche lambda ddb"/>
          <p:cNvSpPr/>
          <p:nvPr/>
        </p:nvSpPr>
        <p:spPr>
          <a:xfrm>
            <a:off x="5303520" y="2537460"/>
            <a:ext cx="228600" cy="914"/>
          </a:xfrm>
          <a:prstGeom prst="line">
            <a:avLst/>
          </a:prstGeom>
          <a:noFill/>
          <a:ln w="19050">
            <a:solidFill>
              <a:schemeClr val="accent5"/>
            </a:solidFill>
            <a:prstDash val="solid"/>
            <a:tailEnd type="triangle"/>
          </a:ln>
        </p:spPr>
      </p:sp>
      <p:sp>
        <p:nvSpPr>
          <p:cNvPr id="33" name="flèche lambda s3"/>
          <p:cNvSpPr/>
          <p:nvPr/>
        </p:nvSpPr>
        <p:spPr>
          <a:xfrm flipV="1">
            <a:off x="5303520" y="1783080"/>
            <a:ext cx="228600" cy="594360"/>
          </a:xfrm>
          <a:prstGeom prst="line">
            <a:avLst/>
          </a:prstGeom>
          <a:noFill/>
          <a:ln w="19050">
            <a:solidFill>
              <a:schemeClr val="accent5"/>
            </a:solidFill>
            <a:prstDash val="solid"/>
            <a:tailEnd type="triangle"/>
          </a:ln>
        </p:spPr>
      </p:sp>
      <p:sp>
        <p:nvSpPr>
          <p:cNvPr id="34" name="flèche ws ddb"/>
          <p:cNvSpPr/>
          <p:nvPr/>
        </p:nvSpPr>
        <p:spPr>
          <a:xfrm flipV="1">
            <a:off x="5303520" y="2743200"/>
            <a:ext cx="228600" cy="708660"/>
          </a:xfrm>
          <a:prstGeom prst="line">
            <a:avLst/>
          </a:prstGeom>
          <a:noFill/>
          <a:ln w="19050">
            <a:solidFill>
              <a:schemeClr val="accent5"/>
            </a:solidFill>
            <a:prstDash val="solid"/>
            <a:tailEnd type="triangle"/>
          </a:ln>
        </p:spPr>
      </p:sp>
      <p:sp>
        <p:nvSpPr>
          <p:cNvPr id="35" name="flèche ddb notify"/>
          <p:cNvSpPr/>
          <p:nvPr/>
        </p:nvSpPr>
        <p:spPr>
          <a:xfrm>
            <a:off x="6995160" y="2537460"/>
            <a:ext cx="228600" cy="914"/>
          </a:xfrm>
          <a:prstGeom prst="line">
            <a:avLst/>
          </a:prstGeom>
          <a:noFill/>
          <a:ln w="19050">
            <a:solidFill>
              <a:schemeClr val="accent5"/>
            </a:solidFill>
            <a:prstDash val="solid"/>
            <a:tailEnd type="triangle"/>
          </a:ln>
        </p:spPr>
      </p:sp>
      <p:sp>
        <p:nvSpPr>
          <p:cNvPr id="36" name="flèche notify sns"/>
          <p:cNvSpPr/>
          <p:nvPr/>
        </p:nvSpPr>
        <p:spPr>
          <a:xfrm>
            <a:off x="7955280" y="2880360"/>
            <a:ext cx="914" cy="228600"/>
          </a:xfrm>
          <a:prstGeom prst="line">
            <a:avLst/>
          </a:prstGeom>
          <a:noFill/>
          <a:ln w="19050">
            <a:solidFill>
              <a:schemeClr val="accent5"/>
            </a:solidFill>
            <a:prstDash val="solid"/>
            <a:tailEnd type="triangle"/>
          </a:ln>
        </p:spPr>
      </p:sp>
      <p:sp>
        <p:nvSpPr>
          <p:cNvPr id="37" name="Text 35"/>
          <p:cNvSpPr txBox="1"/>
          <p:nvPr/>
        </p:nvSpPr>
        <p:spPr>
          <a:xfrm>
            <a:off x="457200" y="4023360"/>
            <a:ext cx="8229600" cy="457200"/>
          </a:xfrm>
          <a:prstGeom prst="rect">
            <a:avLst/>
          </a:prstGeom>
          <a:noFill/>
          <a:ln/>
        </p:spPr>
        <p:txBody>
          <a:bodyPr wrap="square" lIns="0" tIns="0" rIns="0" bIns="0" rtlCol="0" anchor="ctr"/>
          <a:lstStyle/>
          <a:p>
            <a:pPr indent="0" marL="0">
              <a:buNone/>
            </a:pPr>
            <a:r>
              <a:rPr lang="en-US" sz="1200" dirty="0">
                <a:solidFill>
                  <a:schemeClr val="accent3"/>
                </a:solidFill>
              </a:rPr>
              <a:t>■ </a:t>
            </a:r>
            <a:pPr indent="0" marL="0">
              <a:buNone/>
            </a:pPr>
            <a:r>
              <a:rPr lang="en-US" sz="1200" dirty="0">
                <a:solidFill>
                  <a:schemeClr val="tx1"/>
                </a:solidFill>
              </a:rPr>
              <a:t>Exposition    </a:t>
            </a:r>
            <a:pPr indent="0" marL="0">
              <a:buNone/>
            </a:pPr>
            <a:r>
              <a:rPr lang="en-US" sz="1200" dirty="0">
                <a:solidFill>
                  <a:schemeClr val="accent1"/>
                </a:solidFill>
              </a:rPr>
              <a:t>■ </a:t>
            </a:r>
            <a:pPr indent="0" marL="0">
              <a:buNone/>
            </a:pPr>
            <a:r>
              <a:rPr lang="en-US" sz="1200" dirty="0">
                <a:solidFill>
                  <a:schemeClr val="tx1"/>
                </a:solidFill>
              </a:rPr>
              <a:t>Calcul    </a:t>
            </a:r>
            <a:pPr indent="0" marL="0">
              <a:buNone/>
            </a:pPr>
            <a:r>
              <a:rPr lang="en-US" sz="1200" dirty="0">
                <a:solidFill>
                  <a:schemeClr val="accent2"/>
                </a:solidFill>
              </a:rPr>
              <a:t>■ </a:t>
            </a:r>
            <a:pPr indent="0" marL="0">
              <a:buNone/>
            </a:pPr>
            <a:r>
              <a:rPr lang="en-US" sz="1200" dirty="0">
                <a:solidFill>
                  <a:schemeClr val="tx1"/>
                </a:solidFill>
              </a:rPr>
              <a:t>Stockage    </a:t>
            </a:r>
            <a:pPr indent="0" marL="0">
              <a:buNone/>
            </a:pPr>
            <a:r>
              <a:rPr lang="en-US" sz="1200" dirty="0">
                <a:solidFill>
                  <a:schemeClr val="tx1"/>
                </a:solidFill>
              </a:rPr>
              <a:t>Toute l'infrastructure est décrite dans un seul fichier AWS SAM (template.yaml).</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457200" y="201168"/>
            <a:ext cx="8229600" cy="274320"/>
          </a:xfrm>
          <a:prstGeom prst="rect">
            <a:avLst/>
          </a:prstGeom>
          <a:noFill/>
          <a:ln/>
        </p:spPr>
        <p:txBody>
          <a:bodyPr wrap="square" rtlCol="0" anchor="ctr"/>
          <a:lstStyle/>
          <a:p>
            <a:pPr indent="0" marL="0">
              <a:buNone/>
            </a:pPr>
            <a:r>
              <a:rPr lang="en-US" sz="1100" b="1" dirty="0">
                <a:solidFill>
                  <a:schemeClr val="accent1"/>
                </a:solidFill>
              </a:rPr>
              <a:t>02 · ARCHITECTURE ET CHOIX TECHNOLOGIQUES</a:t>
            </a:r>
            <a:endParaRPr lang="en-US" sz="1100" dirty="0"/>
          </a:p>
        </p:txBody>
      </p:sp>
      <p:sp>
        <p:nvSpPr>
          <p:cNvPr id="3" name="Text 1"/>
          <p:cNvSpPr/>
          <p:nvPr>
            <p:ph idx="102" type="title" hasCustomPrompt="1"/>
          </p:nvPr>
        </p:nvSpPr>
        <p:spPr>
          <a:xfrm>
            <a:off x="457200" y="457200"/>
            <a:ext cx="8229600" cy="640080"/>
          </a:xfrm>
          <a:prstGeom prst="rect">
            <a:avLst/>
          </a:prstGeom>
          <a:noFill/>
          <a:ln/>
        </p:spPr>
        <p:txBody>
          <a:bodyPr wrap="square" rtlCol="0" anchor="ctr"/>
          <a:lstStyle/>
          <a:p>
            <a:pPr indent="0" marL="0">
              <a:buNone/>
            </a:pPr>
            <a:r>
              <a:rPr lang="en-US" sz="2600" b="1" dirty="0">
                <a:solidFill>
                  <a:schemeClr val="tx2"/>
                </a:solidFill>
                <a:latin typeface="Cambria" pitchFamily="34" charset="0"/>
                <a:ea typeface="Cambria" pitchFamily="34" charset="-122"/>
                <a:cs typeface="Cambria" pitchFamily="34" charset="-120"/>
              </a:rPr>
              <a:t>Le choix structurant : serverless plutôt qu'un serveur EC2</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737360"/>
                <a:gridCol w="3383280"/>
                <a:gridCol w="3108960"/>
              </a:tblGrid>
              <a:tr h="365760">
                <a:tc>
                  <a:txBody>
                    <a:bodyPr/>
                    <a:lstStyle/>
                    <a:p>
                      <a:pPr indent="0" marL="0">
                        <a:buNone/>
                      </a:pPr>
                      <a:r>
                        <a:rPr lang="en-US" sz="1200" b="1" dirty="0">
                          <a:solidFill>
                            <a:schemeClr val="bg1"/>
                          </a:solidFill>
                        </a:rPr>
                        <a:t>Critère</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Serverless (Lambda, API Gateway, DynamoDB)</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Serveur EC2 + Node.js (écarté)</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tx2"/>
                    </a:solidFill>
                  </a:tcPr>
                </a:tc>
              </a:tr>
              <a:tr h="438912">
                <a:tc>
                  <a:txBody>
                    <a:bodyPr/>
                    <a:lstStyle/>
                    <a:p>
                      <a:pPr indent="0" marL="0">
                        <a:buNone/>
                      </a:pPr>
                      <a:r>
                        <a:rPr lang="en-US" sz="1200" b="1" dirty="0">
                          <a:solidFill>
                            <a:schemeClr val="tx1"/>
                          </a:solidFill>
                        </a:rPr>
                        <a:t>Pic d'une minute</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Montée en charge automatique et immédiate</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Dimensionner, équilibreur, auto-scaling trop lent</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r>
              <a:tr h="438912">
                <a:tc>
                  <a:txBody>
                    <a:bodyPr/>
                    <a:lstStyle/>
                    <a:p>
                      <a:pPr indent="0" marL="0">
                        <a:buNone/>
                      </a:pPr>
                      <a:r>
                        <a:rPr lang="en-US" sz="1200" b="1" dirty="0">
                          <a:solidFill>
                            <a:schemeClr val="tx1"/>
                          </a:solidFill>
                        </a:rPr>
                        <a:t>Coût, plan gratuit</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Paiement à l'usage, quasi nul au repos</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Instance payée en continu</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r>
              <a:tr h="438912">
                <a:tc>
                  <a:txBody>
                    <a:bodyPr/>
                    <a:lstStyle/>
                    <a:p>
                      <a:pPr indent="0" marL="0">
                        <a:buNone/>
                      </a:pPr>
                      <a:r>
                        <a:rPr lang="en-US" sz="1200" b="1" dirty="0">
                          <a:solidFill>
                            <a:schemeClr val="tx1"/>
                          </a:solidFill>
                        </a:rPr>
                        <a:t>Exploitation</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Aucun serveur à maintenir</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Système, correctifs, redémarrages</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r>
              <a:tr h="438912">
                <a:tc>
                  <a:txBody>
                    <a:bodyPr/>
                    <a:lstStyle/>
                    <a:p>
                      <a:pPr indent="0" marL="0">
                        <a:buNone/>
                      </a:pPr>
                      <a:r>
                        <a:rPr lang="en-US" sz="1200" b="1" dirty="0">
                          <a:solidFill>
                            <a:schemeClr val="tx1"/>
                          </a:solidFill>
                        </a:rPr>
                        <a:t>Sécurité</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Un rôle IAM par fonction</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Un seul rôle pour tout le serveur</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r>
              <a:tr h="438912">
                <a:tc>
                  <a:txBody>
                    <a:bodyPr/>
                    <a:lstStyle/>
                    <a:p>
                      <a:pPr indent="0" marL="0">
                        <a:buNone/>
                      </a:pPr>
                      <a:r>
                        <a:rPr lang="en-US" sz="1200" b="1" dirty="0">
                          <a:solidFill>
                            <a:schemeClr val="tx1"/>
                          </a:solidFill>
                        </a:rPr>
                        <a:t>Contrepartie</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Pas de mémoire partagée : l'état vit dans DynamoDB</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Document gardé en mémoire, plus simple</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r>
            </a:tbl>
          </a:graphicData>
        </a:graphic>
      </p:graphicFrame>
      <p:sp>
        <p:nvSpPr>
          <p:cNvPr id="5" name="encadré Décision"/>
          <p:cNvSpPr/>
          <p:nvPr/>
        </p:nvSpPr>
        <p:spPr>
          <a:xfrm>
            <a:off x="457200" y="3977640"/>
            <a:ext cx="8229600" cy="548640"/>
          </a:xfrm>
          <a:prstGeom prst="roundRect">
            <a:avLst>
              <a:gd name="adj" fmla="val 16667"/>
            </a:avLst>
          </a:prstGeom>
          <a:solidFill>
            <a:schemeClr val="bg2"/>
          </a:solidFill>
          <a:ln w="12700">
            <a:solidFill>
              <a:schemeClr val="bg2"/>
            </a:solidFill>
            <a:prstDash val="solid"/>
          </a:ln>
        </p:spPr>
      </p:sp>
      <p:sp>
        <p:nvSpPr>
          <p:cNvPr id="6" name="Text 3"/>
          <p:cNvSpPr txBox="1"/>
          <p:nvPr/>
        </p:nvSpPr>
        <p:spPr>
          <a:xfrm>
            <a:off x="640080" y="3977640"/>
            <a:ext cx="7863840" cy="548640"/>
          </a:xfrm>
          <a:prstGeom prst="rect">
            <a:avLst/>
          </a:prstGeom>
          <a:noFill/>
          <a:ln/>
        </p:spPr>
        <p:txBody>
          <a:bodyPr wrap="square" lIns="0" tIns="0" rIns="0" bIns="0" rtlCol="0" anchor="ctr"/>
          <a:lstStyle/>
          <a:p>
            <a:pPr indent="0" marL="0">
              <a:buNone/>
            </a:pPr>
            <a:r>
              <a:rPr lang="en-US" sz="1300" b="1" dirty="0">
                <a:solidFill>
                  <a:schemeClr val="accent1"/>
                </a:solidFill>
              </a:rPr>
              <a:t>Décision  </a:t>
            </a:r>
            <a:pPr indent="0" marL="0">
              <a:buNone/>
            </a:pPr>
            <a:r>
              <a:rPr lang="en-US" sz="1300" dirty="0">
                <a:solidFill>
                  <a:schemeClr val="tx1"/>
                </a:solidFill>
              </a:rPr>
              <a:t>La contrepartie est réelle, et c'est elle qui a imposé un algorithme de collaboration sans serveur central (CRDT Yjs).</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457200" y="201168"/>
            <a:ext cx="8229600" cy="274320"/>
          </a:xfrm>
          <a:prstGeom prst="rect">
            <a:avLst/>
          </a:prstGeom>
          <a:noFill/>
          <a:ln/>
        </p:spPr>
        <p:txBody>
          <a:bodyPr wrap="square" rtlCol="0" anchor="ctr"/>
          <a:lstStyle/>
          <a:p>
            <a:pPr indent="0" marL="0">
              <a:buNone/>
            </a:pPr>
            <a:r>
              <a:rPr lang="en-US" sz="1100" b="1" dirty="0">
                <a:solidFill>
                  <a:schemeClr val="accent1"/>
                </a:solidFill>
              </a:rPr>
              <a:t>02 · ARCHITECTURE ET CHOIX TECHNOLOGIQUES</a:t>
            </a:r>
            <a:endParaRPr lang="en-US" sz="1100" dirty="0"/>
          </a:p>
        </p:txBody>
      </p:sp>
      <p:sp>
        <p:nvSpPr>
          <p:cNvPr id="3" name="Text 1"/>
          <p:cNvSpPr/>
          <p:nvPr>
            <p:ph idx="102" type="title" hasCustomPrompt="1"/>
          </p:nvPr>
        </p:nvSpPr>
        <p:spPr>
          <a:xfrm>
            <a:off x="457200" y="457200"/>
            <a:ext cx="8229600" cy="640080"/>
          </a:xfrm>
          <a:prstGeom prst="rect">
            <a:avLst/>
          </a:prstGeom>
          <a:noFill/>
          <a:ln/>
        </p:spPr>
        <p:txBody>
          <a:bodyPr wrap="square" rtlCol="0" anchor="ctr"/>
          <a:lstStyle/>
          <a:p>
            <a:pPr indent="0" marL="0">
              <a:buNone/>
            </a:pPr>
            <a:r>
              <a:rPr lang="en-US" sz="2600" b="1" dirty="0">
                <a:solidFill>
                  <a:schemeClr val="tx2"/>
                </a:solidFill>
                <a:latin typeface="Cambria" pitchFamily="34" charset="0"/>
                <a:ea typeface="Cambria" pitchFamily="34" charset="-122"/>
                <a:cs typeface="Cambria" pitchFamily="34" charset="-120"/>
              </a:rPr>
              <a:t>Exposition et calcul : quatre services, quatre rôles</a:t>
            </a:r>
            <a:endParaRPr lang="en-US" sz="2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600200"/>
                <a:gridCol w="2148840"/>
                <a:gridCol w="2651760"/>
                <a:gridCol w="1828800"/>
              </a:tblGrid>
              <a:tr h="347472">
                <a:tc>
                  <a:txBody>
                    <a:bodyPr/>
                    <a:lstStyle/>
                    <a:p>
                      <a:pPr indent="0" marL="0">
                        <a:buNone/>
                      </a:pPr>
                      <a:r>
                        <a:rPr lang="en-US" sz="1200" b="1" dirty="0">
                          <a:solidFill>
                            <a:schemeClr val="bg1"/>
                          </a:solidFill>
                        </a:rPr>
                        <a:t>Service</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Rôle dans CollabDoc</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Pourquoi ce choix</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Alternative écartée</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tx2"/>
                    </a:solidFill>
                  </a:tcPr>
                </a:tc>
              </a:tr>
              <a:tr h="548640">
                <a:tc>
                  <a:txBody>
                    <a:bodyPr/>
                    <a:lstStyle/>
                    <a:p>
                      <a:pPr indent="0" marL="0">
                        <a:buNone/>
                      </a:pPr>
                      <a:r>
                        <a:rPr lang="en-US" sz="1200" b="1" dirty="0">
                          <a:solidFill>
                            <a:schemeClr val="tx1"/>
                          </a:solidFill>
                        </a:rPr>
                        <a:t>CloudFront</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Sert le site et le statut public des liens</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Cache de 2 s : 15 000 pages, quelques req/s pour l'API</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i="1" dirty="0">
                          <a:solidFill>
                            <a:schemeClr val="accent5"/>
                          </a:solidFill>
                        </a:rPr>
                        <a:t>S3 public en direct, sans cache</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r>
              <a:tr h="548640">
                <a:tc>
                  <a:txBody>
                    <a:bodyPr/>
                    <a:lstStyle/>
                    <a:p>
                      <a:pPr indent="0" marL="0">
                        <a:buNone/>
                      </a:pPr>
                      <a:r>
                        <a:rPr lang="en-US" sz="1200" b="1" dirty="0">
                          <a:solidFill>
                            <a:schemeClr val="tx1"/>
                          </a:solidFill>
                        </a:rPr>
                        <a:t>API Gateway HTTP</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Porte d'entrée de toutes les actions</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Limite de débit par route ; moins cher que REST</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i="1" dirty="0">
                          <a:solidFill>
                            <a:schemeClr val="accent5"/>
                          </a:solidFill>
                        </a:rPr>
                        <a:t>API REST : plus chère, inutile ici</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r>
              <a:tr h="548640">
                <a:tc>
                  <a:txBody>
                    <a:bodyPr/>
                    <a:lstStyle/>
                    <a:p>
                      <a:pPr indent="0" marL="0">
                        <a:buNone/>
                      </a:pPr>
                      <a:r>
                        <a:rPr lang="en-US" sz="1200" b="1" dirty="0">
                          <a:solidFill>
                            <a:schemeClr val="tx1"/>
                          </a:solidFill>
                        </a:rPr>
                        <a:t>API Gateway WebSocket</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Présence, curseurs, diffusion en direct</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Pousser vers les navigateurs sans serveur</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i="1" dirty="0">
                          <a:solidFill>
                            <a:schemeClr val="accent5"/>
                          </a:solidFill>
                        </a:rPr>
                        <a:t>Serveur socket.io sur EC2</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r>
              <a:tr h="548640">
                <a:tc>
                  <a:txBody>
                    <a:bodyPr/>
                    <a:lstStyle/>
                    <a:p>
                      <a:pPr indent="0" marL="0">
                        <a:buNone/>
                      </a:pPr>
                      <a:r>
                        <a:rPr lang="en-US" sz="1200" b="1" dirty="0">
                          <a:solidFill>
                            <a:schemeClr val="tx1"/>
                          </a:solidFill>
                        </a:rPr>
                        <a:t>AWS Lambda</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9 fonctions, une par responsabilité</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Échelle immédiate, concurrence réservée, un rôle chacune</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i="1" dirty="0">
                          <a:solidFill>
                            <a:schemeClr val="accent5"/>
                          </a:solidFill>
                        </a:rPr>
                        <a:t>EC2 ou conteneurs Fargate</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r>
              <a:tr h="548640">
                <a:tc>
                  <a:txBody>
                    <a:bodyPr/>
                    <a:lstStyle/>
                    <a:p>
                      <a:pPr indent="0" marL="0">
                        <a:buNone/>
                      </a:pPr>
                      <a:r>
                        <a:rPr lang="en-US" sz="1200" b="1" dirty="0">
                          <a:solidFill>
                            <a:schemeClr val="tx1"/>
                          </a:solidFill>
                        </a:rPr>
                        <a:t>EventBridge Scheduler</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Version automatique toutes les 10 min</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Tâche planifiée sans machine</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i="1" dirty="0">
                          <a:solidFill>
                            <a:schemeClr val="accent5"/>
                          </a:solidFill>
                        </a:rPr>
                        <a:t>Cron sur une instance</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457200" y="201168"/>
            <a:ext cx="8229600" cy="274320"/>
          </a:xfrm>
          <a:prstGeom prst="rect">
            <a:avLst/>
          </a:prstGeom>
          <a:noFill/>
          <a:ln/>
        </p:spPr>
        <p:txBody>
          <a:bodyPr wrap="square" rtlCol="0" anchor="ctr"/>
          <a:lstStyle/>
          <a:p>
            <a:pPr indent="0" marL="0">
              <a:buNone/>
            </a:pPr>
            <a:r>
              <a:rPr lang="en-US" sz="1100" b="1" dirty="0">
                <a:solidFill>
                  <a:schemeClr val="accent1"/>
                </a:solidFill>
              </a:rPr>
              <a:t>02 · ARCHITECTURE ET CHOIX TECHNOLOGIQUES</a:t>
            </a:r>
            <a:endParaRPr lang="en-US" sz="1100" dirty="0"/>
          </a:p>
        </p:txBody>
      </p:sp>
      <p:sp>
        <p:nvSpPr>
          <p:cNvPr id="3" name="Text 1"/>
          <p:cNvSpPr/>
          <p:nvPr>
            <p:ph idx="102" type="title" hasCustomPrompt="1"/>
          </p:nvPr>
        </p:nvSpPr>
        <p:spPr>
          <a:xfrm>
            <a:off x="457200" y="457200"/>
            <a:ext cx="8229600" cy="640080"/>
          </a:xfrm>
          <a:prstGeom prst="rect">
            <a:avLst/>
          </a:prstGeom>
          <a:noFill/>
          <a:ln/>
        </p:spPr>
        <p:txBody>
          <a:bodyPr wrap="square" rtlCol="0" anchor="ctr"/>
          <a:lstStyle/>
          <a:p>
            <a:pPr indent="0" marL="0">
              <a:buNone/>
            </a:pPr>
            <a:r>
              <a:rPr lang="en-US" sz="2600" b="1" dirty="0">
                <a:solidFill>
                  <a:schemeClr val="tx2"/>
                </a:solidFill>
                <a:latin typeface="Cambria" pitchFamily="34" charset="0"/>
                <a:ea typeface="Cambria" pitchFamily="34" charset="-122"/>
                <a:cs typeface="Cambria" pitchFamily="34" charset="-120"/>
              </a:rPr>
              <a:t>Données et services : l'état et la sécurité hors des fonctions</a:t>
            </a:r>
            <a:endParaRPr lang="en-US" sz="2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600200"/>
                <a:gridCol w="2148840"/>
                <a:gridCol w="2651760"/>
                <a:gridCol w="1828800"/>
              </a:tblGrid>
              <a:tr h="347472">
                <a:tc>
                  <a:txBody>
                    <a:bodyPr/>
                    <a:lstStyle/>
                    <a:p>
                      <a:pPr indent="0" marL="0">
                        <a:buNone/>
                      </a:pPr>
                      <a:r>
                        <a:rPr lang="en-US" sz="1200" b="1" dirty="0">
                          <a:solidFill>
                            <a:schemeClr val="bg1"/>
                          </a:solidFill>
                        </a:rPr>
                        <a:t>Service</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Rôle dans CollabDoc</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Pourquoi ce choix</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Alternative écartée</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tx2"/>
                    </a:solidFill>
                  </a:tcPr>
                </a:tc>
              </a:tr>
              <a:tr h="548640">
                <a:tc>
                  <a:txBody>
                    <a:bodyPr/>
                    <a:lstStyle/>
                    <a:p>
                      <a:pPr indent="0" marL="0">
                        <a:buNone/>
                      </a:pPr>
                      <a:r>
                        <a:rPr lang="en-US" sz="1200" b="1" dirty="0">
                          <a:solidFill>
                            <a:schemeClr val="tx1"/>
                          </a:solidFill>
                        </a:rPr>
                        <a:t>DynamoDB</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9 tables : documents, modifications, crédits, liens…</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Écritures conditionnelles et transactions atomiques ; à la demande</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i="1" dirty="0">
                          <a:solidFill>
                            <a:schemeClr val="accent5"/>
                          </a:solidFill>
                        </a:rPr>
                        <a:t>RDS : connexions limitées, payé au repos</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r>
              <a:tr h="548640">
                <a:tc>
                  <a:txBody>
                    <a:bodyPr/>
                    <a:lstStyle/>
                    <a:p>
                      <a:pPr indent="0" marL="0">
                        <a:buNone/>
                      </a:pPr>
                      <a:r>
                        <a:rPr lang="en-US" sz="1200" b="1" dirty="0">
                          <a:solidFill>
                            <a:schemeClr val="tx1"/>
                          </a:solidFill>
                        </a:rPr>
                        <a:t>S3</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Site web, PDF par révision, versions</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Exigé par le sujet ; URL pré-signée de 60 s</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i="1" dirty="0">
                          <a:solidFill>
                            <a:schemeClr val="accent5"/>
                          </a:solidFill>
                        </a:rPr>
                        <a:t>DynamoDB (400 Ko par élément)</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r>
              <a:tr h="548640">
                <a:tc>
                  <a:txBody>
                    <a:bodyPr/>
                    <a:lstStyle/>
                    <a:p>
                      <a:pPr indent="0" marL="0">
                        <a:buNone/>
                      </a:pPr>
                      <a:r>
                        <a:rPr lang="en-US" sz="1200" b="1" dirty="0">
                          <a:solidFill>
                            <a:schemeClr val="tx1"/>
                          </a:solidFill>
                        </a:rPr>
                        <a:t>SNS</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E-mail au créateur du lien épuisé</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Écrit à toute adresse, sans nom de domaine</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i="1" dirty="0">
                          <a:solidFill>
                            <a:schemeClr val="accent5"/>
                          </a:solidFill>
                        </a:rPr>
                        <a:t>SES : sandbox, filtré par Gmail</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r>
              <a:tr h="548640">
                <a:tc>
                  <a:txBody>
                    <a:bodyPr/>
                    <a:lstStyle/>
                    <a:p>
                      <a:pPr indent="0" marL="0">
                        <a:buNone/>
                      </a:pPr>
                      <a:r>
                        <a:rPr lang="en-US" sz="1200" b="1" dirty="0">
                          <a:solidFill>
                            <a:schemeClr val="tx1"/>
                          </a:solidFill>
                        </a:rPr>
                        <a:t>SSM Parameter Store</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Secret de session, jeton admin</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Chiffré (SecureString), gratuit</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i="1" dirty="0">
                          <a:solidFill>
                            <a:schemeClr val="accent5"/>
                          </a:solidFill>
                        </a:rPr>
                        <a:t>Secrets Manager, payant</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r>
              <a:tr h="548640">
                <a:tc>
                  <a:txBody>
                    <a:bodyPr/>
                    <a:lstStyle/>
                    <a:p>
                      <a:pPr indent="0" marL="0">
                        <a:buNone/>
                      </a:pPr>
                      <a:r>
                        <a:rPr lang="en-US" sz="1200" b="1" dirty="0">
                          <a:solidFill>
                            <a:schemeClr val="tx1"/>
                          </a:solidFill>
                        </a:rPr>
                        <a:t>CloudWatch</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Journaux (14 jours) et métriques</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Diagnostic et mesure du pic côté serveur</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i="1" dirty="0">
                          <a:solidFill>
                            <a:schemeClr val="accent5"/>
                          </a:solidFill>
                        </a:rPr>
                        <a:t>Journaux conservés sans limite</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457200" y="201168"/>
            <a:ext cx="8229600" cy="274320"/>
          </a:xfrm>
          <a:prstGeom prst="rect">
            <a:avLst/>
          </a:prstGeom>
          <a:noFill/>
          <a:ln/>
        </p:spPr>
        <p:txBody>
          <a:bodyPr wrap="square" rtlCol="0" anchor="ctr"/>
          <a:lstStyle/>
          <a:p>
            <a:pPr indent="0" marL="0">
              <a:buNone/>
            </a:pPr>
            <a:r>
              <a:rPr lang="en-US" sz="1100" b="1" dirty="0">
                <a:solidFill>
                  <a:schemeClr val="accent1"/>
                </a:solidFill>
              </a:rPr>
              <a:t>02 · ARCHITECTURE ET CHOIX TECHNOLOGIQUES</a:t>
            </a:r>
            <a:endParaRPr lang="en-US" sz="1100" dirty="0"/>
          </a:p>
        </p:txBody>
      </p:sp>
      <p:sp>
        <p:nvSpPr>
          <p:cNvPr id="3" name="Text 1"/>
          <p:cNvSpPr/>
          <p:nvPr>
            <p:ph idx="102" type="title" hasCustomPrompt="1"/>
          </p:nvPr>
        </p:nvSpPr>
        <p:spPr>
          <a:xfrm>
            <a:off x="457200" y="457200"/>
            <a:ext cx="8229600" cy="640080"/>
          </a:xfrm>
          <a:prstGeom prst="rect">
            <a:avLst/>
          </a:prstGeom>
          <a:noFill/>
          <a:ln/>
        </p:spPr>
        <p:txBody>
          <a:bodyPr wrap="square" rtlCol="0" anchor="ctr"/>
          <a:lstStyle/>
          <a:p>
            <a:pPr indent="0" marL="0">
              <a:buNone/>
            </a:pPr>
            <a:r>
              <a:rPr lang="en-US" sz="2600" b="1" dirty="0">
                <a:solidFill>
                  <a:schemeClr val="tx2"/>
                </a:solidFill>
                <a:latin typeface="Cambria" pitchFamily="34" charset="0"/>
                <a:ea typeface="Cambria" pitchFamily="34" charset="-122"/>
                <a:cs typeface="Cambria" pitchFamily="34" charset="-120"/>
              </a:rPr>
              <a:t>Outillage et logiciel : reproductible, sans clé, sans serveur central</a:t>
            </a:r>
            <a:endParaRPr lang="en-US" sz="2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600200"/>
                <a:gridCol w="2148840"/>
                <a:gridCol w="2651760"/>
                <a:gridCol w="1828800"/>
              </a:tblGrid>
              <a:tr h="347472">
                <a:tc>
                  <a:txBody>
                    <a:bodyPr/>
                    <a:lstStyle/>
                    <a:p>
                      <a:pPr indent="0" marL="0">
                        <a:buNone/>
                      </a:pPr>
                      <a:r>
                        <a:rPr lang="en-US" sz="1200" b="1" dirty="0">
                          <a:solidFill>
                            <a:schemeClr val="bg1"/>
                          </a:solidFill>
                        </a:rPr>
                        <a:t>Outil</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Rôle</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Pourquoi ce choix</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Alternative écartée</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tx2"/>
                    </a:solidFill>
                  </a:tcPr>
                </a:tc>
              </a:tr>
              <a:tr h="548640">
                <a:tc>
                  <a:txBody>
                    <a:bodyPr/>
                    <a:lstStyle/>
                    <a:p>
                      <a:pPr indent="0" marL="0">
                        <a:buNone/>
                      </a:pPr>
                      <a:r>
                        <a:rPr lang="en-US" sz="1200" b="1" dirty="0">
                          <a:solidFill>
                            <a:schemeClr val="tx1"/>
                          </a:solidFill>
                        </a:rPr>
                        <a:t>AWS SAM</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Toute l'infrastructure dans template.yaml</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Une commande déploie, une supprime ; un seul fichier lisible</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i="1" dirty="0">
                          <a:solidFill>
                            <a:schemeClr val="accent5"/>
                          </a:solidFill>
                        </a:rPr>
                        <a:t>Console : rien de reproductible</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r>
              <a:tr h="548640">
                <a:tc>
                  <a:txBody>
                    <a:bodyPr/>
                    <a:lstStyle/>
                    <a:p>
                      <a:pPr indent="0" marL="0">
                        <a:buNone/>
                      </a:pPr>
                      <a:r>
                        <a:rPr lang="en-US" sz="1200" b="1" dirty="0">
                          <a:solidFill>
                            <a:schemeClr val="tx1"/>
                          </a:solidFill>
                        </a:rPr>
                        <a:t>aws login</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Accès de la CLI au compte</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Identifiants temporaires : aucune clé à fuir</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i="1" dirty="0">
                          <a:solidFill>
                            <a:schemeClr val="accent5"/>
                          </a:solidFill>
                        </a:rPr>
                        <a:t>Clé d'accès IAM permanente</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r>
              <a:tr h="548640">
                <a:tc>
                  <a:txBody>
                    <a:bodyPr/>
                    <a:lstStyle/>
                    <a:p>
                      <a:pPr indent="0" marL="0">
                        <a:buNone/>
                      </a:pPr>
                      <a:r>
                        <a:rPr lang="en-US" sz="1200" b="1" dirty="0">
                          <a:solidFill>
                            <a:schemeClr val="tx1"/>
                          </a:solidFill>
                        </a:rPr>
                        <a:t>Yjs (CRDT)</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Fusion des modifications concurrentes</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Convergence garantie sans serveur central</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i="1" dirty="0">
                          <a:solidFill>
                            <a:schemeClr val="accent5"/>
                          </a:solidFill>
                        </a:rPr>
                        <a:t>OT, ou « dernier qui écrit gagne »</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r>
              <a:tr h="548640">
                <a:tc>
                  <a:txBody>
                    <a:bodyPr/>
                    <a:lstStyle/>
                    <a:p>
                      <a:pPr indent="0" marL="0">
                        <a:buNone/>
                      </a:pPr>
                      <a:r>
                        <a:rPr lang="en-US" sz="1200" b="1" dirty="0">
                          <a:solidFill>
                            <a:schemeClr val="tx1"/>
                          </a:solidFill>
                        </a:rPr>
                        <a:t>TypeScript, Node.js 22</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Backend Lambda et frontend React</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Un seul langage ; Yjs est en JavaScript</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i="1" dirty="0">
                          <a:solidFill>
                            <a:schemeClr val="accent5"/>
                          </a:solidFill>
                        </a:rPr>
                        <a:t>Deux langages à maintenir</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r>
              <a:tr h="548640">
                <a:tc>
                  <a:txBody>
                    <a:bodyPr/>
                    <a:lstStyle/>
                    <a:p>
                      <a:pPr indent="0" marL="0">
                        <a:buNone/>
                      </a:pPr>
                      <a:r>
                        <a:rPr lang="en-US" sz="1200" b="1" dirty="0">
                          <a:solidFill>
                            <a:schemeClr val="tx1"/>
                          </a:solidFill>
                        </a:rPr>
                        <a:t>k6 sur EC2</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Simulation du pic</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Machine temporaire dans la région : mesure l'application</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i="1" dirty="0">
                          <a:solidFill>
                            <a:schemeClr val="accent5"/>
                          </a:solidFill>
                        </a:rPr>
                        <a:t>Test depuis un PC : mesure le réseau</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457200" y="201168"/>
            <a:ext cx="8229600" cy="274320"/>
          </a:xfrm>
          <a:prstGeom prst="rect">
            <a:avLst/>
          </a:prstGeom>
          <a:noFill/>
          <a:ln/>
        </p:spPr>
        <p:txBody>
          <a:bodyPr wrap="square" rtlCol="0" anchor="ctr"/>
          <a:lstStyle/>
          <a:p>
            <a:pPr indent="0" marL="0">
              <a:buNone/>
            </a:pPr>
            <a:r>
              <a:rPr lang="en-US" sz="1100" b="1" dirty="0">
                <a:solidFill>
                  <a:schemeClr val="accent1"/>
                </a:solidFill>
              </a:rPr>
              <a:t>03 · AWS FACE AUX CONTRAINTES</a:t>
            </a:r>
            <a:endParaRPr lang="en-US" sz="1100" dirty="0"/>
          </a:p>
        </p:txBody>
      </p:sp>
      <p:sp>
        <p:nvSpPr>
          <p:cNvPr id="3" name="Text 1"/>
          <p:cNvSpPr/>
          <p:nvPr>
            <p:ph idx="102" type="title" hasCustomPrompt="1"/>
          </p:nvPr>
        </p:nvSpPr>
        <p:spPr>
          <a:xfrm>
            <a:off x="457200" y="457200"/>
            <a:ext cx="8229600" cy="640080"/>
          </a:xfrm>
          <a:prstGeom prst="rect">
            <a:avLst/>
          </a:prstGeom>
          <a:noFill/>
          <a:ln/>
        </p:spPr>
        <p:txBody>
          <a:bodyPr wrap="square" rtlCol="0" anchor="ctr"/>
          <a:lstStyle/>
          <a:p>
            <a:pPr indent="0" marL="0">
              <a:buNone/>
            </a:pPr>
            <a:r>
              <a:rPr lang="en-US" sz="2600" b="1" dirty="0">
                <a:solidFill>
                  <a:schemeClr val="tx2"/>
                </a:solidFill>
                <a:latin typeface="Cambria" pitchFamily="34" charset="0"/>
                <a:ea typeface="Cambria" pitchFamily="34" charset="-122"/>
                <a:cs typeface="Cambria" pitchFamily="34" charset="-120"/>
              </a:rPr>
              <a:t>Chaque contrainte repose sur un mécanisme AWS précis</a:t>
            </a:r>
            <a:endParaRPr lang="en-US" sz="2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828800"/>
                <a:gridCol w="2560320"/>
                <a:gridCol w="3840480"/>
              </a:tblGrid>
              <a:tr h="347472">
                <a:tc>
                  <a:txBody>
                    <a:bodyPr/>
                    <a:lstStyle/>
                    <a:p>
                      <a:pPr indent="0" marL="0">
                        <a:buNone/>
                      </a:pPr>
                      <a:r>
                        <a:rPr lang="en-US" sz="1200" b="1" dirty="0">
                          <a:solidFill>
                            <a:schemeClr val="bg1"/>
                          </a:solidFill>
                        </a:rPr>
                        <a:t>Contrainte</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Services AWS</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Mécanisme qui la garantit</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tx2"/>
                    </a:solidFill>
                  </a:tcPr>
                </a:tc>
              </a:tr>
              <a:tr h="384048">
                <a:tc>
                  <a:txBody>
                    <a:bodyPr/>
                    <a:lstStyle/>
                    <a:p>
                      <a:pPr indent="0" marL="0">
                        <a:buNone/>
                      </a:pPr>
                      <a:r>
                        <a:rPr lang="en-US" sz="1200" b="1" dirty="0">
                          <a:solidFill>
                            <a:schemeClr val="tx1"/>
                          </a:solidFill>
                        </a:rPr>
                        <a:t>C1 · exemplaires</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DynamoDB</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Décrément conditionnel : seulement si remaining &gt; 0</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r>
              <a:tr h="384048">
                <a:tc>
                  <a:txBody>
                    <a:bodyPr/>
                    <a:lstStyle/>
                    <a:p>
                      <a:pPr indent="0" marL="0">
                        <a:buNone/>
                      </a:pPr>
                      <a:r>
                        <a:rPr lang="en-US" sz="1200" b="1" dirty="0">
                          <a:solidFill>
                            <a:schemeClr val="tx1"/>
                          </a:solidFill>
                        </a:rPr>
                        <a:t>C2 · convergence</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DynamoDB, API Gateway WS</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Stockage avant confirmation, fusion par CRDT</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r>
              <a:tr h="384048">
                <a:tc>
                  <a:txBody>
                    <a:bodyPr/>
                    <a:lstStyle/>
                    <a:p>
                      <a:pPr indent="0" marL="0">
                        <a:buNone/>
                      </a:pPr>
                      <a:r>
                        <a:rPr lang="en-US" sz="1200" b="1" dirty="0">
                          <a:solidFill>
                            <a:schemeClr val="tx1"/>
                          </a:solidFill>
                        </a:rPr>
                        <a:t>C3 · document à T1</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S3, DynamoDB</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PDF généré au clic, mis en cache par révision</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r>
              <a:tr h="384048">
                <a:tc>
                  <a:txBody>
                    <a:bodyPr/>
                    <a:lstStyle/>
                    <a:p>
                      <a:pPr indent="0" marL="0">
                        <a:buNone/>
                      </a:pPr>
                      <a:r>
                        <a:rPr lang="en-US" sz="1200" b="1" dirty="0">
                          <a:solidFill>
                            <a:schemeClr val="tx1"/>
                          </a:solidFill>
                        </a:rPr>
                        <a:t>C4 · crédit</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DynamoDB</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Transaction : stocker + débiter, tout ou rien</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r>
              <a:tr h="384048">
                <a:tc>
                  <a:txBody>
                    <a:bodyPr/>
                    <a:lstStyle/>
                    <a:p>
                      <a:pPr indent="0" marL="0">
                        <a:buNone/>
                      </a:pPr>
                      <a:r>
                        <a:rPr lang="en-US" sz="1200" b="1" dirty="0">
                          <a:solidFill>
                            <a:schemeClr val="tx1"/>
                          </a:solidFill>
                        </a:rPr>
                        <a:t>C5 · pic</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CloudFront, API Gateway, Lambda</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Cache 2 s, 300 req/s, 100 Lambda réservées</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r>
              <a:tr h="384048">
                <a:tc>
                  <a:txBody>
                    <a:bodyPr/>
                    <a:lstStyle/>
                    <a:p>
                      <a:pPr indent="0" marL="0">
                        <a:buNone/>
                      </a:pPr>
                      <a:r>
                        <a:rPr lang="en-US" sz="1200" b="1" dirty="0">
                          <a:solidFill>
                            <a:schemeClr val="tx1"/>
                          </a:solidFill>
                        </a:rPr>
                        <a:t>C6 · fin</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DynamoDB Streams, Lambda, SNS</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Réponse 410 immédiate ; flux → e-mail au créateur</a:t>
                      </a:r>
                      <a:endParaRPr lang="en-US" sz="1200" dirty="0"/>
                    </a:p>
                  </a:txBody>
                  <a:tcPr marL="76200" marR="76200" marT="38100" marB="38100" anchor="ctr">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r>
            </a:tbl>
          </a:graphicData>
        </a:graphic>
      </p:graphicFrame>
      <p:sp>
        <p:nvSpPr>
          <p:cNvPr id="5" name="encadré À retenir"/>
          <p:cNvSpPr/>
          <p:nvPr/>
        </p:nvSpPr>
        <p:spPr>
          <a:xfrm>
            <a:off x="457200" y="4069080"/>
            <a:ext cx="8229600" cy="502920"/>
          </a:xfrm>
          <a:prstGeom prst="roundRect">
            <a:avLst>
              <a:gd name="adj" fmla="val 18182"/>
            </a:avLst>
          </a:prstGeom>
          <a:solidFill>
            <a:schemeClr val="bg2"/>
          </a:solidFill>
          <a:ln w="12700">
            <a:solidFill>
              <a:schemeClr val="bg2"/>
            </a:solidFill>
            <a:prstDash val="solid"/>
          </a:ln>
        </p:spPr>
      </p:sp>
      <p:sp>
        <p:nvSpPr>
          <p:cNvPr id="6" name="Text 3"/>
          <p:cNvSpPr txBox="1"/>
          <p:nvPr/>
        </p:nvSpPr>
        <p:spPr>
          <a:xfrm>
            <a:off x="640080" y="4069080"/>
            <a:ext cx="7863840" cy="502920"/>
          </a:xfrm>
          <a:prstGeom prst="rect">
            <a:avLst/>
          </a:prstGeom>
          <a:noFill/>
          <a:ln/>
        </p:spPr>
        <p:txBody>
          <a:bodyPr wrap="square" lIns="0" tIns="0" rIns="0" bIns="0" rtlCol="0" anchor="ctr"/>
          <a:lstStyle/>
          <a:p>
            <a:pPr indent="0" marL="0">
              <a:buNone/>
            </a:pPr>
            <a:r>
              <a:rPr lang="en-US" sz="1300" b="1" dirty="0">
                <a:solidFill>
                  <a:schemeClr val="accent1"/>
                </a:solidFill>
              </a:rPr>
              <a:t>À retenir  </a:t>
            </a:r>
            <a:pPr indent="0" marL="0">
              <a:buNone/>
            </a:pPr>
            <a:r>
              <a:rPr lang="en-US" sz="1300" dirty="0">
                <a:solidFill>
                  <a:schemeClr val="tx1"/>
                </a:solidFill>
              </a:rPr>
              <a:t>Les garanties ne reposent pas sur la chance ou la vitesse, mais sur des opérations atomiques de DynamoDB.</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457200" y="201168"/>
            <a:ext cx="8229600" cy="274320"/>
          </a:xfrm>
          <a:prstGeom prst="rect">
            <a:avLst/>
          </a:prstGeom>
          <a:noFill/>
          <a:ln/>
        </p:spPr>
        <p:txBody>
          <a:bodyPr wrap="square" rtlCol="0" anchor="ctr"/>
          <a:lstStyle/>
          <a:p>
            <a:pPr indent="0" marL="0">
              <a:buNone/>
            </a:pPr>
            <a:r>
              <a:rPr lang="en-US" sz="1100" b="1" dirty="0">
                <a:solidFill>
                  <a:schemeClr val="accent1"/>
                </a:solidFill>
              </a:rPr>
              <a:t>03 · AWS FACE AUX CONTRAINTES</a:t>
            </a:r>
            <a:endParaRPr lang="en-US" sz="1100" dirty="0"/>
          </a:p>
        </p:txBody>
      </p:sp>
      <p:sp>
        <p:nvSpPr>
          <p:cNvPr id="3" name="Text 1"/>
          <p:cNvSpPr/>
          <p:nvPr>
            <p:ph idx="102" type="title" hasCustomPrompt="1"/>
          </p:nvPr>
        </p:nvSpPr>
        <p:spPr>
          <a:xfrm>
            <a:off x="457200" y="457200"/>
            <a:ext cx="8229600" cy="640080"/>
          </a:xfrm>
          <a:prstGeom prst="rect">
            <a:avLst/>
          </a:prstGeom>
          <a:noFill/>
          <a:ln/>
        </p:spPr>
        <p:txBody>
          <a:bodyPr wrap="square" rtlCol="0" anchor="ctr"/>
          <a:lstStyle/>
          <a:p>
            <a:pPr indent="0" marL="0">
              <a:buNone/>
            </a:pPr>
            <a:r>
              <a:rPr lang="en-US" sz="2600" b="1" dirty="0">
                <a:solidFill>
                  <a:schemeClr val="tx2"/>
                </a:solidFill>
                <a:latin typeface="Cambria" pitchFamily="34" charset="0"/>
                <a:ea typeface="Cambria" pitchFamily="34" charset="-122"/>
                <a:cs typeface="Cambria" pitchFamily="34" charset="-120"/>
              </a:rPr>
              <a:t>C1 · C3 · C6 : la distribution des PDF</a:t>
            </a:r>
            <a:endParaRPr lang="en-US" sz="2600" dirty="0"/>
          </a:p>
        </p:txBody>
      </p:sp>
      <p:sp>
        <p:nvSpPr>
          <p:cNvPr id="4" name="CloudFront"/>
          <p:cNvSpPr/>
          <p:nvPr/>
        </p:nvSpPr>
        <p:spPr>
          <a:xfrm>
            <a:off x="457200" y="1280160"/>
            <a:ext cx="1426464" cy="685800"/>
          </a:xfrm>
          <a:prstGeom prst="roundRect">
            <a:avLst>
              <a:gd name="adj" fmla="val 10667"/>
            </a:avLst>
          </a:prstGeom>
          <a:solidFill>
            <a:schemeClr val="accent3"/>
          </a:solidFill>
          <a:ln w="12700">
            <a:solidFill>
              <a:schemeClr val="accent3"/>
            </a:solidFill>
            <a:prstDash val="solid"/>
          </a:ln>
        </p:spPr>
      </p:sp>
      <p:sp>
        <p:nvSpPr>
          <p:cNvPr id="5" name="Text 3"/>
          <p:cNvSpPr txBox="1"/>
          <p:nvPr/>
        </p:nvSpPr>
        <p:spPr>
          <a:xfrm>
            <a:off x="457200" y="1280160"/>
            <a:ext cx="1426464" cy="685800"/>
          </a:xfrm>
          <a:prstGeom prst="rect">
            <a:avLst/>
          </a:prstGeom>
          <a:noFill/>
          <a:ln/>
        </p:spPr>
        <p:txBody>
          <a:bodyPr wrap="square" lIns="25400" tIns="25400" rIns="25400" bIns="25400" rtlCol="0" anchor="ctr"/>
          <a:lstStyle/>
          <a:p>
            <a:pPr algn="ctr" indent="0" marL="0">
              <a:buNone/>
            </a:pPr>
            <a:r>
              <a:rPr lang="en-US" sz="1300" b="1" dirty="0">
                <a:solidFill>
                  <a:schemeClr val="bg1"/>
                </a:solidFill>
              </a:rPr>
              <a:t>CloudFront</a:t>
            </a:r>
            <a:endParaRPr lang="en-US" sz="1300" dirty="0"/>
          </a:p>
          <a:p>
            <a:pPr algn="ctr" indent="0" marL="0">
              <a:buNone/>
            </a:pPr>
            <a:r>
              <a:rPr lang="en-US" sz="1000" dirty="0">
                <a:solidFill>
                  <a:schemeClr val="bg1"/>
                </a:solidFill>
              </a:rPr>
              <a:t>statut du lien</a:t>
            </a:r>
            <a:endParaRPr lang="en-US" sz="1300" dirty="0"/>
          </a:p>
        </p:txBody>
      </p:sp>
      <p:sp>
        <p:nvSpPr>
          <p:cNvPr id="6" name="flèche CloudFront"/>
          <p:cNvSpPr/>
          <p:nvPr/>
        </p:nvSpPr>
        <p:spPr>
          <a:xfrm>
            <a:off x="1911096" y="1623060"/>
            <a:ext cx="219456" cy="0"/>
          </a:xfrm>
          <a:prstGeom prst="line">
            <a:avLst/>
          </a:prstGeom>
          <a:noFill/>
          <a:ln w="19050">
            <a:solidFill>
              <a:schemeClr val="accent5"/>
            </a:solidFill>
            <a:prstDash val="solid"/>
            <a:tailEnd type="triangle"/>
          </a:ln>
        </p:spPr>
      </p:sp>
      <p:sp>
        <p:nvSpPr>
          <p:cNvPr id="7" name="Text 5"/>
          <p:cNvSpPr txBox="1"/>
          <p:nvPr/>
        </p:nvSpPr>
        <p:spPr>
          <a:xfrm>
            <a:off x="457200" y="2057400"/>
            <a:ext cx="1426464" cy="640080"/>
          </a:xfrm>
          <a:prstGeom prst="rect">
            <a:avLst/>
          </a:prstGeom>
          <a:noFill/>
          <a:ln/>
        </p:spPr>
        <p:txBody>
          <a:bodyPr wrap="square" lIns="0" tIns="0" rIns="0" bIns="0" rtlCol="0" anchor="t"/>
          <a:lstStyle/>
          <a:p>
            <a:pPr indent="0" marL="0">
              <a:buNone/>
            </a:pPr>
            <a:r>
              <a:rPr lang="en-US" sz="1100" dirty="0">
                <a:solidFill>
                  <a:schemeClr val="tx1"/>
                </a:solidFill>
              </a:rPr>
              <a:t>Statut mis en cache 2 s : l'épuisement se voit sans cliquer</a:t>
            </a:r>
            <a:endParaRPr lang="en-US" sz="1100" dirty="0"/>
          </a:p>
        </p:txBody>
      </p:sp>
      <p:sp>
        <p:nvSpPr>
          <p:cNvPr id="8" name="API Gateway"/>
          <p:cNvSpPr/>
          <p:nvPr/>
        </p:nvSpPr>
        <p:spPr>
          <a:xfrm>
            <a:off x="2157984" y="1280160"/>
            <a:ext cx="1426464" cy="685800"/>
          </a:xfrm>
          <a:prstGeom prst="roundRect">
            <a:avLst>
              <a:gd name="adj" fmla="val 10667"/>
            </a:avLst>
          </a:prstGeom>
          <a:solidFill>
            <a:schemeClr val="accent3"/>
          </a:solidFill>
          <a:ln w="12700">
            <a:solidFill>
              <a:schemeClr val="accent3"/>
            </a:solidFill>
            <a:prstDash val="solid"/>
          </a:ln>
        </p:spPr>
      </p:sp>
      <p:sp>
        <p:nvSpPr>
          <p:cNvPr id="9" name="Text 7"/>
          <p:cNvSpPr txBox="1"/>
          <p:nvPr/>
        </p:nvSpPr>
        <p:spPr>
          <a:xfrm>
            <a:off x="2157984" y="1280160"/>
            <a:ext cx="1426464" cy="685800"/>
          </a:xfrm>
          <a:prstGeom prst="rect">
            <a:avLst/>
          </a:prstGeom>
          <a:noFill/>
          <a:ln/>
        </p:spPr>
        <p:txBody>
          <a:bodyPr wrap="square" lIns="25400" tIns="25400" rIns="25400" bIns="25400" rtlCol="0" anchor="ctr"/>
          <a:lstStyle/>
          <a:p>
            <a:pPr algn="ctr" indent="0" marL="0">
              <a:buNone/>
            </a:pPr>
            <a:r>
              <a:rPr lang="en-US" sz="1300" b="1" dirty="0">
                <a:solidFill>
                  <a:schemeClr val="bg1"/>
                </a:solidFill>
              </a:rPr>
              <a:t>API Gateway</a:t>
            </a:r>
            <a:endParaRPr lang="en-US" sz="1300" dirty="0"/>
          </a:p>
          <a:p>
            <a:pPr algn="ctr" indent="0" marL="0">
              <a:buNone/>
            </a:pPr>
            <a:r>
              <a:rPr lang="en-US" sz="1000" dirty="0">
                <a:solidFill>
                  <a:schemeClr val="bg1"/>
                </a:solidFill>
              </a:rPr>
              <a:t>POST /claim</a:t>
            </a:r>
            <a:endParaRPr lang="en-US" sz="1300" dirty="0"/>
          </a:p>
        </p:txBody>
      </p:sp>
      <p:sp>
        <p:nvSpPr>
          <p:cNvPr id="10" name="flèche API Gateway"/>
          <p:cNvSpPr/>
          <p:nvPr/>
        </p:nvSpPr>
        <p:spPr>
          <a:xfrm>
            <a:off x="3611880" y="1623060"/>
            <a:ext cx="219456" cy="0"/>
          </a:xfrm>
          <a:prstGeom prst="line">
            <a:avLst/>
          </a:prstGeom>
          <a:noFill/>
          <a:ln w="19050">
            <a:solidFill>
              <a:schemeClr val="accent5"/>
            </a:solidFill>
            <a:prstDash val="solid"/>
            <a:tailEnd type="triangle"/>
          </a:ln>
        </p:spPr>
      </p:sp>
      <p:sp>
        <p:nvSpPr>
          <p:cNvPr id="11" name="Text 9"/>
          <p:cNvSpPr txBox="1"/>
          <p:nvPr/>
        </p:nvSpPr>
        <p:spPr>
          <a:xfrm>
            <a:off x="2157984" y="2057400"/>
            <a:ext cx="1426464" cy="640080"/>
          </a:xfrm>
          <a:prstGeom prst="rect">
            <a:avLst/>
          </a:prstGeom>
          <a:noFill/>
          <a:ln/>
        </p:spPr>
        <p:txBody>
          <a:bodyPr wrap="square" lIns="0" tIns="0" rIns="0" bIns="0" rtlCol="0" anchor="t"/>
          <a:lstStyle/>
          <a:p>
            <a:pPr indent="0" marL="0">
              <a:buNone/>
            </a:pPr>
            <a:r>
              <a:rPr lang="en-US" sz="1100" dirty="0">
                <a:solidFill>
                  <a:schemeClr val="tx1"/>
                </a:solidFill>
              </a:rPr>
              <a:t>300 req/s ; au-delà : 429, « patientez »</a:t>
            </a:r>
            <a:endParaRPr lang="en-US" sz="1100" dirty="0"/>
          </a:p>
        </p:txBody>
      </p:sp>
      <p:sp>
        <p:nvSpPr>
          <p:cNvPr id="12" name="Lambda claim"/>
          <p:cNvSpPr/>
          <p:nvPr/>
        </p:nvSpPr>
        <p:spPr>
          <a:xfrm>
            <a:off x="3858768" y="1280160"/>
            <a:ext cx="1426464" cy="685800"/>
          </a:xfrm>
          <a:prstGeom prst="roundRect">
            <a:avLst>
              <a:gd name="adj" fmla="val 10667"/>
            </a:avLst>
          </a:prstGeom>
          <a:solidFill>
            <a:schemeClr val="accent1"/>
          </a:solidFill>
          <a:ln w="12700">
            <a:solidFill>
              <a:schemeClr val="accent1"/>
            </a:solidFill>
            <a:prstDash val="solid"/>
          </a:ln>
        </p:spPr>
      </p:sp>
      <p:sp>
        <p:nvSpPr>
          <p:cNvPr id="13" name="Text 11"/>
          <p:cNvSpPr txBox="1"/>
          <p:nvPr/>
        </p:nvSpPr>
        <p:spPr>
          <a:xfrm>
            <a:off x="3858768" y="1280160"/>
            <a:ext cx="1426464" cy="685800"/>
          </a:xfrm>
          <a:prstGeom prst="rect">
            <a:avLst/>
          </a:prstGeom>
          <a:noFill/>
          <a:ln/>
        </p:spPr>
        <p:txBody>
          <a:bodyPr wrap="square" lIns="25400" tIns="25400" rIns="25400" bIns="25400" rtlCol="0" anchor="ctr"/>
          <a:lstStyle/>
          <a:p>
            <a:pPr algn="ctr" indent="0" marL="0">
              <a:buNone/>
            </a:pPr>
            <a:r>
              <a:rPr lang="en-US" sz="1300" b="1" dirty="0">
                <a:solidFill>
                  <a:schemeClr val="bg1"/>
                </a:solidFill>
              </a:rPr>
              <a:t>Lambda claim</a:t>
            </a:r>
            <a:endParaRPr lang="en-US" sz="1300" dirty="0"/>
          </a:p>
          <a:p>
            <a:pPr algn="ctr" indent="0" marL="0">
              <a:buNone/>
            </a:pPr>
            <a:r>
              <a:rPr lang="en-US" sz="1000" dirty="0">
                <a:solidFill>
                  <a:schemeClr val="bg1"/>
                </a:solidFill>
              </a:rPr>
              <a:t>100 réservées</a:t>
            </a:r>
            <a:endParaRPr lang="en-US" sz="1300" dirty="0"/>
          </a:p>
        </p:txBody>
      </p:sp>
      <p:sp>
        <p:nvSpPr>
          <p:cNvPr id="14" name="flèche Lambda claim"/>
          <p:cNvSpPr/>
          <p:nvPr/>
        </p:nvSpPr>
        <p:spPr>
          <a:xfrm>
            <a:off x="5312664" y="1623060"/>
            <a:ext cx="219456" cy="0"/>
          </a:xfrm>
          <a:prstGeom prst="line">
            <a:avLst/>
          </a:prstGeom>
          <a:noFill/>
          <a:ln w="19050">
            <a:solidFill>
              <a:schemeClr val="accent5"/>
            </a:solidFill>
            <a:prstDash val="solid"/>
            <a:tailEnd type="triangle"/>
          </a:ln>
        </p:spPr>
      </p:sp>
      <p:sp>
        <p:nvSpPr>
          <p:cNvPr id="15" name="Text 13"/>
          <p:cNvSpPr txBox="1"/>
          <p:nvPr/>
        </p:nvSpPr>
        <p:spPr>
          <a:xfrm>
            <a:off x="3858768" y="2057400"/>
            <a:ext cx="1426464" cy="640080"/>
          </a:xfrm>
          <a:prstGeom prst="rect">
            <a:avLst/>
          </a:prstGeom>
          <a:noFill/>
          <a:ln/>
        </p:spPr>
        <p:txBody>
          <a:bodyPr wrap="square" lIns="0" tIns="0" rIns="0" bIns="0" rtlCol="0" anchor="t"/>
          <a:lstStyle/>
          <a:p>
            <a:pPr indent="0" marL="0">
              <a:buNone/>
            </a:pPr>
            <a:r>
              <a:rPr lang="en-US" sz="1100" dirty="0">
                <a:solidFill>
                  <a:schemeClr val="tx1"/>
                </a:solidFill>
              </a:rPr>
              <a:t>Fonction isolée, droits minimaux</a:t>
            </a:r>
            <a:endParaRPr lang="en-US" sz="1100" dirty="0"/>
          </a:p>
        </p:txBody>
      </p:sp>
      <p:sp>
        <p:nvSpPr>
          <p:cNvPr id="16" name="DynamoDB"/>
          <p:cNvSpPr/>
          <p:nvPr/>
        </p:nvSpPr>
        <p:spPr>
          <a:xfrm>
            <a:off x="5559552" y="1280160"/>
            <a:ext cx="1426464" cy="685800"/>
          </a:xfrm>
          <a:prstGeom prst="roundRect">
            <a:avLst>
              <a:gd name="adj" fmla="val 10667"/>
            </a:avLst>
          </a:prstGeom>
          <a:solidFill>
            <a:schemeClr val="accent2"/>
          </a:solidFill>
          <a:ln w="12700">
            <a:solidFill>
              <a:schemeClr val="accent2"/>
            </a:solidFill>
            <a:prstDash val="solid"/>
          </a:ln>
        </p:spPr>
      </p:sp>
      <p:sp>
        <p:nvSpPr>
          <p:cNvPr id="17" name="Text 15"/>
          <p:cNvSpPr txBox="1"/>
          <p:nvPr/>
        </p:nvSpPr>
        <p:spPr>
          <a:xfrm>
            <a:off x="5559552" y="1280160"/>
            <a:ext cx="1426464" cy="685800"/>
          </a:xfrm>
          <a:prstGeom prst="rect">
            <a:avLst/>
          </a:prstGeom>
          <a:noFill/>
          <a:ln/>
        </p:spPr>
        <p:txBody>
          <a:bodyPr wrap="square" lIns="25400" tIns="25400" rIns="25400" bIns="25400" rtlCol="0" anchor="ctr"/>
          <a:lstStyle/>
          <a:p>
            <a:pPr algn="ctr" indent="0" marL="0">
              <a:buNone/>
            </a:pPr>
            <a:r>
              <a:rPr lang="en-US" sz="1300" b="1" dirty="0">
                <a:solidFill>
                  <a:schemeClr val="bg1"/>
                </a:solidFill>
              </a:rPr>
              <a:t>DynamoDB</a:t>
            </a:r>
            <a:endParaRPr lang="en-US" sz="1300" dirty="0"/>
          </a:p>
          <a:p>
            <a:pPr algn="ctr" indent="0" marL="0">
              <a:buNone/>
            </a:pPr>
            <a:r>
              <a:rPr lang="en-US" sz="1000" dirty="0">
                <a:solidFill>
                  <a:schemeClr val="bg1"/>
                </a:solidFill>
              </a:rPr>
              <a:t>table Links</a:t>
            </a:r>
            <a:endParaRPr lang="en-US" sz="1300" dirty="0"/>
          </a:p>
        </p:txBody>
      </p:sp>
      <p:sp>
        <p:nvSpPr>
          <p:cNvPr id="18" name="flèche DynamoDB"/>
          <p:cNvSpPr/>
          <p:nvPr/>
        </p:nvSpPr>
        <p:spPr>
          <a:xfrm>
            <a:off x="7013448" y="1623060"/>
            <a:ext cx="219456" cy="0"/>
          </a:xfrm>
          <a:prstGeom prst="line">
            <a:avLst/>
          </a:prstGeom>
          <a:noFill/>
          <a:ln w="19050">
            <a:solidFill>
              <a:schemeClr val="accent5"/>
            </a:solidFill>
            <a:prstDash val="solid"/>
            <a:tailEnd type="triangle"/>
          </a:ln>
        </p:spPr>
      </p:sp>
      <p:sp>
        <p:nvSpPr>
          <p:cNvPr id="19" name="Text 17"/>
          <p:cNvSpPr txBox="1"/>
          <p:nvPr/>
        </p:nvSpPr>
        <p:spPr>
          <a:xfrm>
            <a:off x="5559552" y="2057400"/>
            <a:ext cx="1426464" cy="640080"/>
          </a:xfrm>
          <a:prstGeom prst="rect">
            <a:avLst/>
          </a:prstGeom>
          <a:noFill/>
          <a:ln/>
        </p:spPr>
        <p:txBody>
          <a:bodyPr wrap="square" lIns="0" tIns="0" rIns="0" bIns="0" rtlCol="0" anchor="t"/>
          <a:lstStyle/>
          <a:p>
            <a:pPr indent="0" marL="0">
              <a:buNone/>
            </a:pPr>
            <a:r>
              <a:rPr lang="en-US" sz="1100" dirty="0">
                <a:solidFill>
                  <a:schemeClr val="tx1"/>
                </a:solidFill>
              </a:rPr>
              <a:t>remaining − 1 si remaining &gt; 0</a:t>
            </a:r>
            <a:endParaRPr lang="en-US" sz="1100" dirty="0"/>
          </a:p>
        </p:txBody>
      </p:sp>
      <p:sp>
        <p:nvSpPr>
          <p:cNvPr id="20" name="S3"/>
          <p:cNvSpPr/>
          <p:nvPr/>
        </p:nvSpPr>
        <p:spPr>
          <a:xfrm>
            <a:off x="7260336" y="1280160"/>
            <a:ext cx="1426464" cy="685800"/>
          </a:xfrm>
          <a:prstGeom prst="roundRect">
            <a:avLst>
              <a:gd name="adj" fmla="val 10667"/>
            </a:avLst>
          </a:prstGeom>
          <a:solidFill>
            <a:schemeClr val="accent2"/>
          </a:solidFill>
          <a:ln w="12700">
            <a:solidFill>
              <a:schemeClr val="accent2"/>
            </a:solidFill>
            <a:prstDash val="solid"/>
          </a:ln>
        </p:spPr>
      </p:sp>
      <p:sp>
        <p:nvSpPr>
          <p:cNvPr id="21" name="Text 19"/>
          <p:cNvSpPr txBox="1"/>
          <p:nvPr/>
        </p:nvSpPr>
        <p:spPr>
          <a:xfrm>
            <a:off x="7260336" y="1280160"/>
            <a:ext cx="1426464" cy="685800"/>
          </a:xfrm>
          <a:prstGeom prst="rect">
            <a:avLst/>
          </a:prstGeom>
          <a:noFill/>
          <a:ln/>
        </p:spPr>
        <p:txBody>
          <a:bodyPr wrap="square" lIns="25400" tIns="25400" rIns="25400" bIns="25400" rtlCol="0" anchor="ctr"/>
          <a:lstStyle/>
          <a:p>
            <a:pPr algn="ctr" indent="0" marL="0">
              <a:buNone/>
            </a:pPr>
            <a:r>
              <a:rPr lang="en-US" sz="1300" b="1" dirty="0">
                <a:solidFill>
                  <a:schemeClr val="bg1"/>
                </a:solidFill>
              </a:rPr>
              <a:t>S3</a:t>
            </a:r>
            <a:endParaRPr lang="en-US" sz="1300" dirty="0"/>
          </a:p>
          <a:p>
            <a:pPr algn="ctr" indent="0" marL="0">
              <a:buNone/>
            </a:pPr>
            <a:r>
              <a:rPr lang="en-US" sz="1000" dirty="0">
                <a:solidFill>
                  <a:schemeClr val="bg1"/>
                </a:solidFill>
              </a:rPr>
              <a:t>pdf/&lt;doc&gt;/&lt;rev&gt;</a:t>
            </a:r>
            <a:endParaRPr lang="en-US" sz="1300" dirty="0"/>
          </a:p>
        </p:txBody>
      </p:sp>
      <p:sp>
        <p:nvSpPr>
          <p:cNvPr id="22" name="Text 20"/>
          <p:cNvSpPr txBox="1"/>
          <p:nvPr/>
        </p:nvSpPr>
        <p:spPr>
          <a:xfrm>
            <a:off x="7260336" y="2057400"/>
            <a:ext cx="1426464" cy="640080"/>
          </a:xfrm>
          <a:prstGeom prst="rect">
            <a:avLst/>
          </a:prstGeom>
          <a:noFill/>
          <a:ln/>
        </p:spPr>
        <p:txBody>
          <a:bodyPr wrap="square" lIns="0" tIns="0" rIns="0" bIns="0" rtlCol="0" anchor="t"/>
          <a:lstStyle/>
          <a:p>
            <a:pPr indent="0" marL="0">
              <a:buNone/>
            </a:pPr>
            <a:r>
              <a:rPr lang="en-US" sz="1100" dirty="0">
                <a:solidFill>
                  <a:schemeClr val="tx1"/>
                </a:solidFill>
              </a:rPr>
              <a:t>PDF de la révision courante, URL de 60 s</a:t>
            </a:r>
            <a:endParaRPr lang="en-US" sz="1100" dirty="0"/>
          </a:p>
        </p:txBody>
      </p:sp>
      <p:sp>
        <p:nvSpPr>
          <p:cNvPr id="23" name="garantie C1"/>
          <p:cNvSpPr/>
          <p:nvPr/>
        </p:nvSpPr>
        <p:spPr>
          <a:xfrm>
            <a:off x="457200" y="2880360"/>
            <a:ext cx="2606040" cy="1600200"/>
          </a:xfrm>
          <a:prstGeom prst="roundRect">
            <a:avLst>
              <a:gd name="adj" fmla="val 5714"/>
            </a:avLst>
          </a:prstGeom>
          <a:solidFill>
            <a:schemeClr val="bg2"/>
          </a:solidFill>
          <a:ln w="12700">
            <a:solidFill>
              <a:schemeClr val="bg2"/>
            </a:solidFill>
            <a:prstDash val="solid"/>
          </a:ln>
        </p:spPr>
      </p:sp>
      <p:sp>
        <p:nvSpPr>
          <p:cNvPr id="24" name="Text 22"/>
          <p:cNvSpPr txBox="1"/>
          <p:nvPr/>
        </p:nvSpPr>
        <p:spPr>
          <a:xfrm>
            <a:off x="640080" y="2990088"/>
            <a:ext cx="2240280" cy="320040"/>
          </a:xfrm>
          <a:prstGeom prst="rect">
            <a:avLst/>
          </a:prstGeom>
          <a:noFill/>
          <a:ln/>
        </p:spPr>
        <p:txBody>
          <a:bodyPr wrap="square" lIns="0" tIns="0" rIns="0" bIns="0" rtlCol="0" anchor="ctr"/>
          <a:lstStyle/>
          <a:p>
            <a:pPr indent="0" marL="0">
              <a:buNone/>
            </a:pPr>
            <a:r>
              <a:rPr lang="en-US" sz="1400" b="1" dirty="0">
                <a:solidFill>
                  <a:schemeClr val="accent1"/>
                </a:solidFill>
              </a:rPr>
              <a:t>C1  </a:t>
            </a:r>
            <a:pPr indent="0" marL="0">
              <a:buNone/>
            </a:pPr>
            <a:r>
              <a:rPr lang="en-US" sz="1400" b="1" dirty="0">
                <a:solidFill>
                  <a:schemeClr val="tx2"/>
                </a:solidFill>
              </a:rPr>
              <a:t>Jamais un de trop</a:t>
            </a:r>
            <a:endParaRPr lang="en-US" sz="1400" dirty="0"/>
          </a:p>
        </p:txBody>
      </p:sp>
      <p:sp>
        <p:nvSpPr>
          <p:cNvPr id="25" name="Text 23"/>
          <p:cNvSpPr txBox="1"/>
          <p:nvPr/>
        </p:nvSpPr>
        <p:spPr>
          <a:xfrm>
            <a:off x="640080" y="3337560"/>
            <a:ext cx="2240280" cy="1051560"/>
          </a:xfrm>
          <a:prstGeom prst="rect">
            <a:avLst/>
          </a:prstGeom>
          <a:noFill/>
          <a:ln/>
        </p:spPr>
        <p:txBody>
          <a:bodyPr wrap="square" lIns="0" tIns="0" rIns="0" bIns="0" rtlCol="0" anchor="t"/>
          <a:lstStyle/>
          <a:p>
            <a:pPr indent="0" marL="0">
              <a:buNone/>
            </a:pPr>
            <a:r>
              <a:rPr lang="en-US" sz="1200" dirty="0">
                <a:solidFill>
                  <a:schemeClr val="tx1"/>
                </a:solidFill>
              </a:rPr>
              <a:t>DynamoDB applique les écritures sur un élément l'une après l'autre : avec N exemplaires, exactement N réussissent.</a:t>
            </a:r>
            <a:endParaRPr lang="en-US" sz="1200" dirty="0"/>
          </a:p>
        </p:txBody>
      </p:sp>
      <p:sp>
        <p:nvSpPr>
          <p:cNvPr id="26" name="garantie C3"/>
          <p:cNvSpPr/>
          <p:nvPr/>
        </p:nvSpPr>
        <p:spPr>
          <a:xfrm>
            <a:off x="3246120" y="2880360"/>
            <a:ext cx="2606040" cy="1600200"/>
          </a:xfrm>
          <a:prstGeom prst="roundRect">
            <a:avLst>
              <a:gd name="adj" fmla="val 5714"/>
            </a:avLst>
          </a:prstGeom>
          <a:solidFill>
            <a:schemeClr val="bg2"/>
          </a:solidFill>
          <a:ln w="12700">
            <a:solidFill>
              <a:schemeClr val="bg2"/>
            </a:solidFill>
            <a:prstDash val="solid"/>
          </a:ln>
        </p:spPr>
      </p:sp>
      <p:sp>
        <p:nvSpPr>
          <p:cNvPr id="27" name="Text 25"/>
          <p:cNvSpPr txBox="1"/>
          <p:nvPr/>
        </p:nvSpPr>
        <p:spPr>
          <a:xfrm>
            <a:off x="3429000" y="2990088"/>
            <a:ext cx="2240280" cy="320040"/>
          </a:xfrm>
          <a:prstGeom prst="rect">
            <a:avLst/>
          </a:prstGeom>
          <a:noFill/>
          <a:ln/>
        </p:spPr>
        <p:txBody>
          <a:bodyPr wrap="square" lIns="0" tIns="0" rIns="0" bIns="0" rtlCol="0" anchor="ctr"/>
          <a:lstStyle/>
          <a:p>
            <a:pPr indent="0" marL="0">
              <a:buNone/>
            </a:pPr>
            <a:r>
              <a:rPr lang="en-US" sz="1400" b="1" dirty="0">
                <a:solidFill>
                  <a:schemeClr val="accent2"/>
                </a:solidFill>
              </a:rPr>
              <a:t>C3  </a:t>
            </a:r>
            <a:pPr indent="0" marL="0">
              <a:buNone/>
            </a:pPr>
            <a:r>
              <a:rPr lang="en-US" sz="1400" b="1" dirty="0">
                <a:solidFill>
                  <a:schemeClr val="tx2"/>
                </a:solidFill>
              </a:rPr>
              <a:t>Le document à T1</a:t>
            </a:r>
            <a:endParaRPr lang="en-US" sz="1400" dirty="0"/>
          </a:p>
        </p:txBody>
      </p:sp>
      <p:sp>
        <p:nvSpPr>
          <p:cNvPr id="28" name="Text 26"/>
          <p:cNvSpPr txBox="1"/>
          <p:nvPr/>
        </p:nvSpPr>
        <p:spPr>
          <a:xfrm>
            <a:off x="3429000" y="3337560"/>
            <a:ext cx="2240280" cy="1051560"/>
          </a:xfrm>
          <a:prstGeom prst="rect">
            <a:avLst/>
          </a:prstGeom>
          <a:noFill/>
          <a:ln/>
        </p:spPr>
        <p:txBody>
          <a:bodyPr wrap="square" lIns="0" tIns="0" rIns="0" bIns="0" rtlCol="0" anchor="t"/>
          <a:lstStyle/>
          <a:p>
            <a:pPr indent="0" marL="0">
              <a:buNone/>
            </a:pPr>
            <a:r>
              <a:rPr lang="en-US" sz="1200" dirty="0">
                <a:solidFill>
                  <a:schemeClr val="tx1"/>
                </a:solidFill>
              </a:rPr>
              <a:t>Le lien ne contient qu'un compteur. Le PDF est produit au clic, à partir de la révision courante.</a:t>
            </a:r>
            <a:endParaRPr lang="en-US" sz="1200" dirty="0"/>
          </a:p>
        </p:txBody>
      </p:sp>
      <p:sp>
        <p:nvSpPr>
          <p:cNvPr id="29" name="garantie C6"/>
          <p:cNvSpPr/>
          <p:nvPr/>
        </p:nvSpPr>
        <p:spPr>
          <a:xfrm>
            <a:off x="6035040" y="2880360"/>
            <a:ext cx="2606040" cy="1600200"/>
          </a:xfrm>
          <a:prstGeom prst="roundRect">
            <a:avLst>
              <a:gd name="adj" fmla="val 5714"/>
            </a:avLst>
          </a:prstGeom>
          <a:solidFill>
            <a:schemeClr val="bg2"/>
          </a:solidFill>
          <a:ln w="12700">
            <a:solidFill>
              <a:schemeClr val="bg2"/>
            </a:solidFill>
            <a:prstDash val="solid"/>
          </a:ln>
        </p:spPr>
      </p:sp>
      <p:sp>
        <p:nvSpPr>
          <p:cNvPr id="30" name="Text 28"/>
          <p:cNvSpPr txBox="1"/>
          <p:nvPr/>
        </p:nvSpPr>
        <p:spPr>
          <a:xfrm>
            <a:off x="6217920" y="2990088"/>
            <a:ext cx="2240280" cy="320040"/>
          </a:xfrm>
          <a:prstGeom prst="rect">
            <a:avLst/>
          </a:prstGeom>
          <a:noFill/>
          <a:ln/>
        </p:spPr>
        <p:txBody>
          <a:bodyPr wrap="square" lIns="0" tIns="0" rIns="0" bIns="0" rtlCol="0" anchor="ctr"/>
          <a:lstStyle/>
          <a:p>
            <a:pPr indent="0" marL="0">
              <a:buNone/>
            </a:pPr>
            <a:r>
              <a:rPr lang="en-US" sz="1400" b="1" dirty="0">
                <a:solidFill>
                  <a:schemeClr val="accent3"/>
                </a:solidFill>
              </a:rPr>
              <a:t>C6  </a:t>
            </a:r>
            <a:pPr indent="0" marL="0">
              <a:buNone/>
            </a:pPr>
            <a:r>
              <a:rPr lang="en-US" sz="1400" b="1" dirty="0">
                <a:solidFill>
                  <a:schemeClr val="tx2"/>
                </a:solidFill>
              </a:rPr>
              <a:t>Fin immédiate</a:t>
            </a:r>
            <a:endParaRPr lang="en-US" sz="1400" dirty="0"/>
          </a:p>
        </p:txBody>
      </p:sp>
      <p:sp>
        <p:nvSpPr>
          <p:cNvPr id="31" name="Text 29"/>
          <p:cNvSpPr txBox="1"/>
          <p:nvPr/>
        </p:nvSpPr>
        <p:spPr>
          <a:xfrm>
            <a:off x="6217920" y="3337560"/>
            <a:ext cx="2240280" cy="1051560"/>
          </a:xfrm>
          <a:prstGeom prst="rect">
            <a:avLst/>
          </a:prstGeom>
          <a:noFill/>
          <a:ln/>
        </p:spPr>
        <p:txBody>
          <a:bodyPr wrap="square" lIns="0" tIns="0" rIns="0" bIns="0" rtlCol="0" anchor="t"/>
          <a:lstStyle/>
          <a:p>
            <a:pPr indent="0" marL="0">
              <a:buNone/>
            </a:pPr>
            <a:r>
              <a:rPr lang="en-US" sz="1200" dirty="0">
                <a:solidFill>
                  <a:schemeClr val="tx1"/>
                </a:solidFill>
              </a:rPr>
              <a:t>Stock à 0 : réponse 410. Le flux DynamoDB déclenche notify, qui publie l'e-mail sur SNS.</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457200" y="201168"/>
            <a:ext cx="8229600" cy="274320"/>
          </a:xfrm>
          <a:prstGeom prst="rect">
            <a:avLst/>
          </a:prstGeom>
          <a:noFill/>
          <a:ln/>
        </p:spPr>
        <p:txBody>
          <a:bodyPr wrap="square" rtlCol="0" anchor="ctr"/>
          <a:lstStyle/>
          <a:p>
            <a:pPr indent="0" marL="0">
              <a:buNone/>
            </a:pPr>
            <a:r>
              <a:rPr lang="en-US" sz="1100" b="1" dirty="0">
                <a:solidFill>
                  <a:schemeClr val="accent1"/>
                </a:solidFill>
              </a:rPr>
              <a:t>03 · AWS FACE AUX CONTRAINTES</a:t>
            </a:r>
            <a:endParaRPr lang="en-US" sz="1100" dirty="0"/>
          </a:p>
        </p:txBody>
      </p:sp>
      <p:sp>
        <p:nvSpPr>
          <p:cNvPr id="3" name="Text 1"/>
          <p:cNvSpPr/>
          <p:nvPr>
            <p:ph idx="102" type="title" hasCustomPrompt="1"/>
          </p:nvPr>
        </p:nvSpPr>
        <p:spPr>
          <a:xfrm>
            <a:off x="457200" y="457200"/>
            <a:ext cx="8229600" cy="640080"/>
          </a:xfrm>
          <a:prstGeom prst="rect">
            <a:avLst/>
          </a:prstGeom>
          <a:noFill/>
          <a:ln/>
        </p:spPr>
        <p:txBody>
          <a:bodyPr wrap="square" rtlCol="0" anchor="ctr"/>
          <a:lstStyle/>
          <a:p>
            <a:pPr indent="0" marL="0">
              <a:buNone/>
            </a:pPr>
            <a:r>
              <a:rPr lang="en-US" sz="2600" b="1" dirty="0">
                <a:solidFill>
                  <a:schemeClr val="tx2"/>
                </a:solidFill>
                <a:latin typeface="Cambria" pitchFamily="34" charset="0"/>
                <a:ea typeface="Cambria" pitchFamily="34" charset="-122"/>
                <a:cs typeface="Cambria" pitchFamily="34" charset="-120"/>
              </a:rPr>
              <a:t>C2 · C4 : l'édition collaborative</a:t>
            </a:r>
            <a:endParaRPr lang="en-US" sz="2600" dirty="0"/>
          </a:p>
        </p:txBody>
      </p:sp>
      <p:sp>
        <p:nvSpPr>
          <p:cNvPr id="4" name="Navigateur"/>
          <p:cNvSpPr/>
          <p:nvPr/>
        </p:nvSpPr>
        <p:spPr>
          <a:xfrm>
            <a:off x="457200" y="1280160"/>
            <a:ext cx="1426464" cy="685800"/>
          </a:xfrm>
          <a:prstGeom prst="roundRect">
            <a:avLst>
              <a:gd name="adj" fmla="val 10667"/>
            </a:avLst>
          </a:prstGeom>
          <a:solidFill>
            <a:schemeClr val="tx2"/>
          </a:solidFill>
          <a:ln w="12700">
            <a:solidFill>
              <a:schemeClr val="tx2"/>
            </a:solidFill>
            <a:prstDash val="solid"/>
          </a:ln>
        </p:spPr>
      </p:sp>
      <p:sp>
        <p:nvSpPr>
          <p:cNvPr id="5" name="Text 3"/>
          <p:cNvSpPr txBox="1"/>
          <p:nvPr/>
        </p:nvSpPr>
        <p:spPr>
          <a:xfrm>
            <a:off x="457200" y="1280160"/>
            <a:ext cx="1426464" cy="685800"/>
          </a:xfrm>
          <a:prstGeom prst="rect">
            <a:avLst/>
          </a:prstGeom>
          <a:noFill/>
          <a:ln/>
        </p:spPr>
        <p:txBody>
          <a:bodyPr wrap="square" lIns="25400" tIns="25400" rIns="25400" bIns="25400" rtlCol="0" anchor="ctr"/>
          <a:lstStyle/>
          <a:p>
            <a:pPr algn="ctr" indent="0" marL="0">
              <a:buNone/>
            </a:pPr>
            <a:r>
              <a:rPr lang="en-US" sz="1300" b="1" dirty="0">
                <a:solidFill>
                  <a:schemeClr val="bg1"/>
                </a:solidFill>
              </a:rPr>
              <a:t>Navigateur</a:t>
            </a:r>
            <a:endParaRPr lang="en-US" sz="1300" dirty="0"/>
          </a:p>
          <a:p>
            <a:pPr algn="ctr" indent="0" marL="0">
              <a:buNone/>
            </a:pPr>
            <a:r>
              <a:rPr lang="en-US" sz="1000" dirty="0">
                <a:solidFill>
                  <a:schemeClr val="bg1"/>
                </a:solidFill>
              </a:rPr>
              <a:t>Yjs + CodeMirror</a:t>
            </a:r>
            <a:endParaRPr lang="en-US" sz="1300" dirty="0"/>
          </a:p>
        </p:txBody>
      </p:sp>
      <p:sp>
        <p:nvSpPr>
          <p:cNvPr id="6" name="flèche Navigateur"/>
          <p:cNvSpPr/>
          <p:nvPr/>
        </p:nvSpPr>
        <p:spPr>
          <a:xfrm>
            <a:off x="1911096" y="1623060"/>
            <a:ext cx="219456" cy="0"/>
          </a:xfrm>
          <a:prstGeom prst="line">
            <a:avLst/>
          </a:prstGeom>
          <a:noFill/>
          <a:ln w="19050">
            <a:solidFill>
              <a:schemeClr val="accent5"/>
            </a:solidFill>
            <a:prstDash val="solid"/>
            <a:tailEnd type="triangle"/>
          </a:ln>
        </p:spPr>
      </p:sp>
      <p:sp>
        <p:nvSpPr>
          <p:cNvPr id="7" name="Text 5"/>
          <p:cNvSpPr txBox="1"/>
          <p:nvPr/>
        </p:nvSpPr>
        <p:spPr>
          <a:xfrm>
            <a:off x="457200" y="2057400"/>
            <a:ext cx="1426464" cy="640080"/>
          </a:xfrm>
          <a:prstGeom prst="rect">
            <a:avLst/>
          </a:prstGeom>
          <a:noFill/>
          <a:ln/>
        </p:spPr>
        <p:txBody>
          <a:bodyPr wrap="square" lIns="0" tIns="0" rIns="0" bIns="0" rtlCol="0" anchor="t"/>
          <a:lstStyle/>
          <a:p>
            <a:pPr indent="0" marL="0">
              <a:buNone/>
            </a:pPr>
            <a:r>
              <a:rPr lang="en-US" sz="1100" dirty="0">
                <a:solidFill>
                  <a:schemeClr val="tx1"/>
                </a:solidFill>
              </a:rPr>
              <a:t>Modification avec un identifiant unique</a:t>
            </a:r>
            <a:endParaRPr lang="en-US" sz="1100" dirty="0"/>
          </a:p>
        </p:txBody>
      </p:sp>
      <p:sp>
        <p:nvSpPr>
          <p:cNvPr id="8" name="API Gateway"/>
          <p:cNvSpPr/>
          <p:nvPr/>
        </p:nvSpPr>
        <p:spPr>
          <a:xfrm>
            <a:off x="2157984" y="1280160"/>
            <a:ext cx="1426464" cy="685800"/>
          </a:xfrm>
          <a:prstGeom prst="roundRect">
            <a:avLst>
              <a:gd name="adj" fmla="val 10667"/>
            </a:avLst>
          </a:prstGeom>
          <a:solidFill>
            <a:schemeClr val="accent3"/>
          </a:solidFill>
          <a:ln w="12700">
            <a:solidFill>
              <a:schemeClr val="accent3"/>
            </a:solidFill>
            <a:prstDash val="solid"/>
          </a:ln>
        </p:spPr>
      </p:sp>
      <p:sp>
        <p:nvSpPr>
          <p:cNvPr id="9" name="Text 7"/>
          <p:cNvSpPr txBox="1"/>
          <p:nvPr/>
        </p:nvSpPr>
        <p:spPr>
          <a:xfrm>
            <a:off x="2157984" y="1280160"/>
            <a:ext cx="1426464" cy="685800"/>
          </a:xfrm>
          <a:prstGeom prst="rect">
            <a:avLst/>
          </a:prstGeom>
          <a:noFill/>
          <a:ln/>
        </p:spPr>
        <p:txBody>
          <a:bodyPr wrap="square" lIns="25400" tIns="25400" rIns="25400" bIns="25400" rtlCol="0" anchor="ctr"/>
          <a:lstStyle/>
          <a:p>
            <a:pPr algn="ctr" indent="0" marL="0">
              <a:buNone/>
            </a:pPr>
            <a:r>
              <a:rPr lang="en-US" sz="1300" b="1" dirty="0">
                <a:solidFill>
                  <a:schemeClr val="bg1"/>
                </a:solidFill>
              </a:rPr>
              <a:t>API Gateway</a:t>
            </a:r>
            <a:endParaRPr lang="en-US" sz="1300" dirty="0"/>
          </a:p>
          <a:p>
            <a:pPr algn="ctr" indent="0" marL="0">
              <a:buNone/>
            </a:pPr>
            <a:r>
              <a:rPr lang="en-US" sz="1000" dirty="0">
                <a:solidFill>
                  <a:schemeClr val="bg1"/>
                </a:solidFill>
              </a:rPr>
              <a:t>POST /updates</a:t>
            </a:r>
            <a:endParaRPr lang="en-US" sz="1300" dirty="0"/>
          </a:p>
        </p:txBody>
      </p:sp>
      <p:sp>
        <p:nvSpPr>
          <p:cNvPr id="10" name="flèche API Gateway"/>
          <p:cNvSpPr/>
          <p:nvPr/>
        </p:nvSpPr>
        <p:spPr>
          <a:xfrm>
            <a:off x="3611880" y="1623060"/>
            <a:ext cx="219456" cy="0"/>
          </a:xfrm>
          <a:prstGeom prst="line">
            <a:avLst/>
          </a:prstGeom>
          <a:noFill/>
          <a:ln w="19050">
            <a:solidFill>
              <a:schemeClr val="accent5"/>
            </a:solidFill>
            <a:prstDash val="solid"/>
            <a:tailEnd type="triangle"/>
          </a:ln>
        </p:spPr>
      </p:sp>
      <p:sp>
        <p:nvSpPr>
          <p:cNvPr id="11" name="Text 9"/>
          <p:cNvSpPr txBox="1"/>
          <p:nvPr/>
        </p:nvSpPr>
        <p:spPr>
          <a:xfrm>
            <a:off x="2157984" y="2057400"/>
            <a:ext cx="1426464" cy="640080"/>
          </a:xfrm>
          <a:prstGeom prst="rect">
            <a:avLst/>
          </a:prstGeom>
          <a:noFill/>
          <a:ln/>
        </p:spPr>
        <p:txBody>
          <a:bodyPr wrap="square" lIns="0" tIns="0" rIns="0" bIns="0" rtlCol="0" anchor="t"/>
          <a:lstStyle/>
          <a:p>
            <a:pPr indent="0" marL="0">
              <a:buNone/>
            </a:pPr>
            <a:r>
              <a:rPr lang="en-US" sz="1100" dirty="0">
                <a:solidFill>
                  <a:schemeClr val="tx1"/>
                </a:solidFill>
              </a:rPr>
              <a:t>La réponse 200 vaut accusé de réception</a:t>
            </a:r>
            <a:endParaRPr lang="en-US" sz="1100" dirty="0"/>
          </a:p>
        </p:txBody>
      </p:sp>
      <p:sp>
        <p:nvSpPr>
          <p:cNvPr id="12" name="Lambda update"/>
          <p:cNvSpPr/>
          <p:nvPr/>
        </p:nvSpPr>
        <p:spPr>
          <a:xfrm>
            <a:off x="3858768" y="1280160"/>
            <a:ext cx="1426464" cy="685800"/>
          </a:xfrm>
          <a:prstGeom prst="roundRect">
            <a:avLst>
              <a:gd name="adj" fmla="val 10667"/>
            </a:avLst>
          </a:prstGeom>
          <a:solidFill>
            <a:schemeClr val="accent1"/>
          </a:solidFill>
          <a:ln w="12700">
            <a:solidFill>
              <a:schemeClr val="accent1"/>
            </a:solidFill>
            <a:prstDash val="solid"/>
          </a:ln>
        </p:spPr>
      </p:sp>
      <p:sp>
        <p:nvSpPr>
          <p:cNvPr id="13" name="Text 11"/>
          <p:cNvSpPr txBox="1"/>
          <p:nvPr/>
        </p:nvSpPr>
        <p:spPr>
          <a:xfrm>
            <a:off x="3858768" y="1280160"/>
            <a:ext cx="1426464" cy="685800"/>
          </a:xfrm>
          <a:prstGeom prst="rect">
            <a:avLst/>
          </a:prstGeom>
          <a:noFill/>
          <a:ln/>
        </p:spPr>
        <p:txBody>
          <a:bodyPr wrap="square" lIns="25400" tIns="25400" rIns="25400" bIns="25400" rtlCol="0" anchor="ctr"/>
          <a:lstStyle/>
          <a:p>
            <a:pPr algn="ctr" indent="0" marL="0">
              <a:buNone/>
            </a:pPr>
            <a:r>
              <a:rPr lang="en-US" sz="1300" b="1" dirty="0">
                <a:solidFill>
                  <a:schemeClr val="bg1"/>
                </a:solidFill>
              </a:rPr>
              <a:t>Lambda update</a:t>
            </a:r>
            <a:endParaRPr lang="en-US" sz="1300" dirty="0"/>
          </a:p>
          <a:p>
            <a:pPr algn="ctr" indent="0" marL="0">
              <a:buNone/>
            </a:pPr>
            <a:r>
              <a:rPr lang="en-US" sz="1000" dirty="0">
                <a:solidFill>
                  <a:schemeClr val="bg1"/>
                </a:solidFill>
              </a:rPr>
              <a:t>sans état</a:t>
            </a:r>
            <a:endParaRPr lang="en-US" sz="1300" dirty="0"/>
          </a:p>
        </p:txBody>
      </p:sp>
      <p:sp>
        <p:nvSpPr>
          <p:cNvPr id="14" name="flèche Lambda update"/>
          <p:cNvSpPr/>
          <p:nvPr/>
        </p:nvSpPr>
        <p:spPr>
          <a:xfrm>
            <a:off x="5312664" y="1623060"/>
            <a:ext cx="219456" cy="0"/>
          </a:xfrm>
          <a:prstGeom prst="line">
            <a:avLst/>
          </a:prstGeom>
          <a:noFill/>
          <a:ln w="19050">
            <a:solidFill>
              <a:schemeClr val="accent5"/>
            </a:solidFill>
            <a:prstDash val="solid"/>
            <a:tailEnd type="triangle"/>
          </a:ln>
        </p:spPr>
      </p:sp>
      <p:sp>
        <p:nvSpPr>
          <p:cNvPr id="15" name="Text 13"/>
          <p:cNvSpPr txBox="1"/>
          <p:nvPr/>
        </p:nvSpPr>
        <p:spPr>
          <a:xfrm>
            <a:off x="3858768" y="2057400"/>
            <a:ext cx="1426464" cy="640080"/>
          </a:xfrm>
          <a:prstGeom prst="rect">
            <a:avLst/>
          </a:prstGeom>
          <a:noFill/>
          <a:ln/>
        </p:spPr>
        <p:txBody>
          <a:bodyPr wrap="square" lIns="0" tIns="0" rIns="0" bIns="0" rtlCol="0" anchor="t"/>
          <a:lstStyle/>
          <a:p>
            <a:pPr indent="0" marL="0">
              <a:buNone/>
            </a:pPr>
            <a:r>
              <a:rPr lang="en-US" sz="1100" dirty="0">
                <a:solidFill>
                  <a:schemeClr val="tx1"/>
                </a:solidFill>
              </a:rPr>
              <a:t>Compte les caractères insérés</a:t>
            </a:r>
            <a:endParaRPr lang="en-US" sz="1100" dirty="0"/>
          </a:p>
        </p:txBody>
      </p:sp>
      <p:sp>
        <p:nvSpPr>
          <p:cNvPr id="16" name="DynamoDB"/>
          <p:cNvSpPr/>
          <p:nvPr/>
        </p:nvSpPr>
        <p:spPr>
          <a:xfrm>
            <a:off x="5559552" y="1280160"/>
            <a:ext cx="1426464" cy="685800"/>
          </a:xfrm>
          <a:prstGeom prst="roundRect">
            <a:avLst>
              <a:gd name="adj" fmla="val 10667"/>
            </a:avLst>
          </a:prstGeom>
          <a:solidFill>
            <a:schemeClr val="accent2"/>
          </a:solidFill>
          <a:ln w="12700">
            <a:solidFill>
              <a:schemeClr val="accent2"/>
            </a:solidFill>
            <a:prstDash val="solid"/>
          </a:ln>
        </p:spPr>
      </p:sp>
      <p:sp>
        <p:nvSpPr>
          <p:cNvPr id="17" name="Text 15"/>
          <p:cNvSpPr txBox="1"/>
          <p:nvPr/>
        </p:nvSpPr>
        <p:spPr>
          <a:xfrm>
            <a:off x="5559552" y="1280160"/>
            <a:ext cx="1426464" cy="685800"/>
          </a:xfrm>
          <a:prstGeom prst="rect">
            <a:avLst/>
          </a:prstGeom>
          <a:noFill/>
          <a:ln/>
        </p:spPr>
        <p:txBody>
          <a:bodyPr wrap="square" lIns="25400" tIns="25400" rIns="25400" bIns="25400" rtlCol="0" anchor="ctr"/>
          <a:lstStyle/>
          <a:p>
            <a:pPr algn="ctr" indent="0" marL="0">
              <a:buNone/>
            </a:pPr>
            <a:r>
              <a:rPr lang="en-US" sz="1300" b="1" dirty="0">
                <a:solidFill>
                  <a:schemeClr val="bg1"/>
                </a:solidFill>
              </a:rPr>
              <a:t>DynamoDB</a:t>
            </a:r>
            <a:endParaRPr lang="en-US" sz="1300" dirty="0"/>
          </a:p>
          <a:p>
            <a:pPr algn="ctr" indent="0" marL="0">
              <a:buNone/>
            </a:pPr>
            <a:r>
              <a:rPr lang="en-US" sz="1000" dirty="0">
                <a:solidFill>
                  <a:schemeClr val="bg1"/>
                </a:solidFill>
              </a:rPr>
              <a:t>Updates + Credits</a:t>
            </a:r>
            <a:endParaRPr lang="en-US" sz="1300" dirty="0"/>
          </a:p>
        </p:txBody>
      </p:sp>
      <p:sp>
        <p:nvSpPr>
          <p:cNvPr id="18" name="flèche DynamoDB"/>
          <p:cNvSpPr/>
          <p:nvPr/>
        </p:nvSpPr>
        <p:spPr>
          <a:xfrm>
            <a:off x="7013448" y="1623060"/>
            <a:ext cx="219456" cy="0"/>
          </a:xfrm>
          <a:prstGeom prst="line">
            <a:avLst/>
          </a:prstGeom>
          <a:noFill/>
          <a:ln w="19050">
            <a:solidFill>
              <a:schemeClr val="accent5"/>
            </a:solidFill>
            <a:prstDash val="solid"/>
            <a:tailEnd type="triangle"/>
          </a:ln>
        </p:spPr>
      </p:sp>
      <p:sp>
        <p:nvSpPr>
          <p:cNvPr id="19" name="Text 17"/>
          <p:cNvSpPr txBox="1"/>
          <p:nvPr/>
        </p:nvSpPr>
        <p:spPr>
          <a:xfrm>
            <a:off x="5559552" y="2057400"/>
            <a:ext cx="1426464" cy="640080"/>
          </a:xfrm>
          <a:prstGeom prst="rect">
            <a:avLst/>
          </a:prstGeom>
          <a:noFill/>
          <a:ln/>
        </p:spPr>
        <p:txBody>
          <a:bodyPr wrap="square" lIns="0" tIns="0" rIns="0" bIns="0" rtlCol="0" anchor="t"/>
          <a:lstStyle/>
          <a:p>
            <a:pPr indent="0" marL="0">
              <a:buNone/>
            </a:pPr>
            <a:r>
              <a:rPr lang="en-US" sz="1100" dirty="0">
                <a:solidFill>
                  <a:schemeClr val="tx1"/>
                </a:solidFill>
              </a:rPr>
              <a:t>Transaction : stocker + débiter</a:t>
            </a:r>
            <a:endParaRPr lang="en-US" sz="1100" dirty="0"/>
          </a:p>
        </p:txBody>
      </p:sp>
      <p:sp>
        <p:nvSpPr>
          <p:cNvPr id="20" name="API Gateway WS"/>
          <p:cNvSpPr/>
          <p:nvPr/>
        </p:nvSpPr>
        <p:spPr>
          <a:xfrm>
            <a:off x="7260336" y="1280160"/>
            <a:ext cx="1426464" cy="685800"/>
          </a:xfrm>
          <a:prstGeom prst="roundRect">
            <a:avLst>
              <a:gd name="adj" fmla="val 10667"/>
            </a:avLst>
          </a:prstGeom>
          <a:solidFill>
            <a:schemeClr val="accent3"/>
          </a:solidFill>
          <a:ln w="12700">
            <a:solidFill>
              <a:schemeClr val="accent3"/>
            </a:solidFill>
            <a:prstDash val="solid"/>
          </a:ln>
        </p:spPr>
      </p:sp>
      <p:sp>
        <p:nvSpPr>
          <p:cNvPr id="21" name="Text 19"/>
          <p:cNvSpPr txBox="1"/>
          <p:nvPr/>
        </p:nvSpPr>
        <p:spPr>
          <a:xfrm>
            <a:off x="7260336" y="1280160"/>
            <a:ext cx="1426464" cy="685800"/>
          </a:xfrm>
          <a:prstGeom prst="rect">
            <a:avLst/>
          </a:prstGeom>
          <a:noFill/>
          <a:ln/>
        </p:spPr>
        <p:txBody>
          <a:bodyPr wrap="square" lIns="25400" tIns="25400" rIns="25400" bIns="25400" rtlCol="0" anchor="ctr"/>
          <a:lstStyle/>
          <a:p>
            <a:pPr algn="ctr" indent="0" marL="0">
              <a:buNone/>
            </a:pPr>
            <a:r>
              <a:rPr lang="en-US" sz="1300" b="1" dirty="0">
                <a:solidFill>
                  <a:schemeClr val="bg1"/>
                </a:solidFill>
              </a:rPr>
              <a:t>API Gateway WS</a:t>
            </a:r>
            <a:endParaRPr lang="en-US" sz="1300" dirty="0"/>
          </a:p>
          <a:p>
            <a:pPr algn="ctr" indent="0" marL="0">
              <a:buNone/>
            </a:pPr>
            <a:r>
              <a:rPr lang="en-US" sz="1000" dirty="0">
                <a:solidFill>
                  <a:schemeClr val="bg1"/>
                </a:solidFill>
              </a:rPr>
              <a:t>diffusion</a:t>
            </a:r>
            <a:endParaRPr lang="en-US" sz="1300" dirty="0"/>
          </a:p>
        </p:txBody>
      </p:sp>
      <p:sp>
        <p:nvSpPr>
          <p:cNvPr id="22" name="Text 20"/>
          <p:cNvSpPr txBox="1"/>
          <p:nvPr/>
        </p:nvSpPr>
        <p:spPr>
          <a:xfrm>
            <a:off x="7260336" y="2057400"/>
            <a:ext cx="1426464" cy="640080"/>
          </a:xfrm>
          <a:prstGeom prst="rect">
            <a:avLst/>
          </a:prstGeom>
          <a:noFill/>
          <a:ln/>
        </p:spPr>
        <p:txBody>
          <a:bodyPr wrap="square" lIns="0" tIns="0" rIns="0" bIns="0" rtlCol="0" anchor="t"/>
          <a:lstStyle/>
          <a:p>
            <a:pPr indent="0" marL="0">
              <a:buNone/>
            </a:pPr>
            <a:r>
              <a:rPr lang="en-US" sz="1100" dirty="0">
                <a:solidFill>
                  <a:schemeClr val="tx1"/>
                </a:solidFill>
              </a:rPr>
              <a:t>Envoi aux autres participants</a:t>
            </a:r>
            <a:endParaRPr lang="en-US" sz="1100" dirty="0"/>
          </a:p>
        </p:txBody>
      </p:sp>
      <p:sp>
        <p:nvSpPr>
          <p:cNvPr id="23" name="garantie C2"/>
          <p:cNvSpPr/>
          <p:nvPr/>
        </p:nvSpPr>
        <p:spPr>
          <a:xfrm>
            <a:off x="457200" y="2880360"/>
            <a:ext cx="2606040" cy="1600200"/>
          </a:xfrm>
          <a:prstGeom prst="roundRect">
            <a:avLst>
              <a:gd name="adj" fmla="val 5714"/>
            </a:avLst>
          </a:prstGeom>
          <a:solidFill>
            <a:schemeClr val="bg2"/>
          </a:solidFill>
          <a:ln w="12700">
            <a:solidFill>
              <a:schemeClr val="bg2"/>
            </a:solidFill>
            <a:prstDash val="solid"/>
          </a:ln>
        </p:spPr>
      </p:sp>
      <p:sp>
        <p:nvSpPr>
          <p:cNvPr id="24" name="Text 22"/>
          <p:cNvSpPr txBox="1"/>
          <p:nvPr/>
        </p:nvSpPr>
        <p:spPr>
          <a:xfrm>
            <a:off x="640080" y="2990088"/>
            <a:ext cx="2240280" cy="320040"/>
          </a:xfrm>
          <a:prstGeom prst="rect">
            <a:avLst/>
          </a:prstGeom>
          <a:noFill/>
          <a:ln/>
        </p:spPr>
        <p:txBody>
          <a:bodyPr wrap="square" lIns="0" tIns="0" rIns="0" bIns="0" rtlCol="0" anchor="ctr"/>
          <a:lstStyle/>
          <a:p>
            <a:pPr indent="0" marL="0">
              <a:buNone/>
            </a:pPr>
            <a:r>
              <a:rPr lang="en-US" sz="1400" b="1" dirty="0">
                <a:solidFill>
                  <a:schemeClr val="accent2"/>
                </a:solidFill>
              </a:rPr>
              <a:t>C2  </a:t>
            </a:r>
            <a:pPr indent="0" marL="0">
              <a:buNone/>
            </a:pPr>
            <a:r>
              <a:rPr lang="en-US" sz="1400" b="1" dirty="0">
                <a:solidFill>
                  <a:schemeClr val="tx2"/>
                </a:solidFill>
              </a:rPr>
              <a:t>Rien ne se perd</a:t>
            </a:r>
            <a:endParaRPr lang="en-US" sz="1400" dirty="0"/>
          </a:p>
        </p:txBody>
      </p:sp>
      <p:sp>
        <p:nvSpPr>
          <p:cNvPr id="25" name="Text 23"/>
          <p:cNvSpPr txBox="1"/>
          <p:nvPr/>
        </p:nvSpPr>
        <p:spPr>
          <a:xfrm>
            <a:off x="640080" y="3337560"/>
            <a:ext cx="2240280" cy="1051560"/>
          </a:xfrm>
          <a:prstGeom prst="rect">
            <a:avLst/>
          </a:prstGeom>
          <a:noFill/>
          <a:ln/>
        </p:spPr>
        <p:txBody>
          <a:bodyPr wrap="square" lIns="0" tIns="0" rIns="0" bIns="0" rtlCol="0" anchor="t"/>
          <a:lstStyle/>
          <a:p>
            <a:pPr indent="0" marL="0">
              <a:buNone/>
            </a:pPr>
            <a:r>
              <a:rPr lang="en-US" sz="1200" dirty="0">
                <a:solidFill>
                  <a:schemeClr val="tx1"/>
                </a:solidFill>
              </a:rPr>
              <a:t>Confirmé seulement une fois stocké ; doublon ignoré. Le navigateur rattrape toute diffusion perdue toutes les 15 s.</a:t>
            </a:r>
            <a:endParaRPr lang="en-US" sz="1200" dirty="0"/>
          </a:p>
        </p:txBody>
      </p:sp>
      <p:sp>
        <p:nvSpPr>
          <p:cNvPr id="26" name="garantie C4"/>
          <p:cNvSpPr/>
          <p:nvPr/>
        </p:nvSpPr>
        <p:spPr>
          <a:xfrm>
            <a:off x="3246120" y="2880360"/>
            <a:ext cx="2606040" cy="1600200"/>
          </a:xfrm>
          <a:prstGeom prst="roundRect">
            <a:avLst>
              <a:gd name="adj" fmla="val 5714"/>
            </a:avLst>
          </a:prstGeom>
          <a:solidFill>
            <a:schemeClr val="bg2"/>
          </a:solidFill>
          <a:ln w="12700">
            <a:solidFill>
              <a:schemeClr val="bg2"/>
            </a:solidFill>
            <a:prstDash val="solid"/>
          </a:ln>
        </p:spPr>
      </p:sp>
      <p:sp>
        <p:nvSpPr>
          <p:cNvPr id="27" name="Text 25"/>
          <p:cNvSpPr txBox="1"/>
          <p:nvPr/>
        </p:nvSpPr>
        <p:spPr>
          <a:xfrm>
            <a:off x="3429000" y="2990088"/>
            <a:ext cx="2240280" cy="320040"/>
          </a:xfrm>
          <a:prstGeom prst="rect">
            <a:avLst/>
          </a:prstGeom>
          <a:noFill/>
          <a:ln/>
        </p:spPr>
        <p:txBody>
          <a:bodyPr wrap="square" lIns="0" tIns="0" rIns="0" bIns="0" rtlCol="0" anchor="ctr"/>
          <a:lstStyle/>
          <a:p>
            <a:pPr indent="0" marL="0">
              <a:buNone/>
            </a:pPr>
            <a:r>
              <a:rPr lang="en-US" sz="1400" b="1" dirty="0">
                <a:solidFill>
                  <a:schemeClr val="accent1"/>
                </a:solidFill>
              </a:rPr>
              <a:t>C4  </a:t>
            </a:r>
            <a:pPr indent="0" marL="0">
              <a:buNone/>
            </a:pPr>
            <a:r>
              <a:rPr lang="en-US" sz="1400" b="1" dirty="0">
                <a:solidFill>
                  <a:schemeClr val="tx2"/>
                </a:solidFill>
              </a:rPr>
              <a:t>Crédit multi-appareils</a:t>
            </a:r>
            <a:endParaRPr lang="en-US" sz="1400" dirty="0"/>
          </a:p>
        </p:txBody>
      </p:sp>
      <p:sp>
        <p:nvSpPr>
          <p:cNvPr id="28" name="Text 26"/>
          <p:cNvSpPr txBox="1"/>
          <p:nvPr/>
        </p:nvSpPr>
        <p:spPr>
          <a:xfrm>
            <a:off x="3429000" y="3337560"/>
            <a:ext cx="2240280" cy="1051560"/>
          </a:xfrm>
          <a:prstGeom prst="rect">
            <a:avLst/>
          </a:prstGeom>
          <a:noFill/>
          <a:ln/>
        </p:spPr>
        <p:txBody>
          <a:bodyPr wrap="square" lIns="0" tIns="0" rIns="0" bIns="0" rtlCol="0" anchor="t"/>
          <a:lstStyle/>
          <a:p>
            <a:pPr indent="0" marL="0">
              <a:buNone/>
            </a:pPr>
            <a:r>
              <a:rPr lang="en-US" sz="1200" dirty="0">
                <a:solidFill>
                  <a:schemeClr val="tx1"/>
                </a:solidFill>
              </a:rPr>
              <a:t>Un compteur par personne et par jour. La transaction refuse si used + n dépasse 10 000.</a:t>
            </a:r>
            <a:endParaRPr lang="en-US" sz="1200" dirty="0"/>
          </a:p>
        </p:txBody>
      </p:sp>
      <p:sp>
        <p:nvSpPr>
          <p:cNvPr id="29" name="garantie Abus"/>
          <p:cNvSpPr/>
          <p:nvPr/>
        </p:nvSpPr>
        <p:spPr>
          <a:xfrm>
            <a:off x="6035040" y="2880360"/>
            <a:ext cx="2606040" cy="1600200"/>
          </a:xfrm>
          <a:prstGeom prst="roundRect">
            <a:avLst>
              <a:gd name="adj" fmla="val 5714"/>
            </a:avLst>
          </a:prstGeom>
          <a:solidFill>
            <a:schemeClr val="bg2"/>
          </a:solidFill>
          <a:ln w="12700">
            <a:solidFill>
              <a:schemeClr val="bg2"/>
            </a:solidFill>
            <a:prstDash val="solid"/>
          </a:ln>
        </p:spPr>
      </p:sp>
      <p:sp>
        <p:nvSpPr>
          <p:cNvPr id="30" name="Text 28"/>
          <p:cNvSpPr txBox="1"/>
          <p:nvPr/>
        </p:nvSpPr>
        <p:spPr>
          <a:xfrm>
            <a:off x="6217920" y="2990088"/>
            <a:ext cx="2240280" cy="320040"/>
          </a:xfrm>
          <a:prstGeom prst="rect">
            <a:avLst/>
          </a:prstGeom>
          <a:noFill/>
          <a:ln/>
        </p:spPr>
        <p:txBody>
          <a:bodyPr wrap="square" lIns="0" tIns="0" rIns="0" bIns="0" rtlCol="0" anchor="ctr"/>
          <a:lstStyle/>
          <a:p>
            <a:pPr indent="0" marL="0">
              <a:buNone/>
            </a:pPr>
            <a:r>
              <a:rPr lang="en-US" sz="1400" b="1" dirty="0">
                <a:solidFill>
                  <a:schemeClr val="accent4"/>
                </a:solidFill>
              </a:rPr>
              <a:t>Abus  </a:t>
            </a:r>
            <a:pPr indent="0" marL="0">
              <a:buNone/>
            </a:pPr>
            <a:r>
              <a:rPr lang="en-US" sz="1400" b="1" dirty="0">
                <a:solidFill>
                  <a:schemeClr val="tx2"/>
                </a:solidFill>
              </a:rPr>
              <a:t>Blocage automatique</a:t>
            </a:r>
            <a:endParaRPr lang="en-US" sz="1400" dirty="0"/>
          </a:p>
        </p:txBody>
      </p:sp>
      <p:sp>
        <p:nvSpPr>
          <p:cNvPr id="31" name="Text 29"/>
          <p:cNvSpPr txBox="1"/>
          <p:nvPr/>
        </p:nvSpPr>
        <p:spPr>
          <a:xfrm>
            <a:off x="6217920" y="3337560"/>
            <a:ext cx="2240280" cy="1051560"/>
          </a:xfrm>
          <a:prstGeom prst="rect">
            <a:avLst/>
          </a:prstGeom>
          <a:noFill/>
          <a:ln/>
        </p:spPr>
        <p:txBody>
          <a:bodyPr wrap="square" lIns="0" tIns="0" rIns="0" bIns="0" rtlCol="0" anchor="t"/>
          <a:lstStyle/>
          <a:p>
            <a:pPr indent="0" marL="0">
              <a:buNone/>
            </a:pPr>
            <a:r>
              <a:rPr lang="en-US" sz="1200" dirty="0">
                <a:solidFill>
                  <a:schemeClr val="tx1"/>
                </a:solidFill>
              </a:rPr>
              <a:t>Plus de 20 refus en 10 min : blocage de 15 min. Le TTL DynamoDB lève le blocage seul.</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457200" y="201168"/>
            <a:ext cx="8229600" cy="274320"/>
          </a:xfrm>
          <a:prstGeom prst="rect">
            <a:avLst/>
          </a:prstGeom>
          <a:noFill/>
          <a:ln/>
        </p:spPr>
        <p:txBody>
          <a:bodyPr wrap="square" rtlCol="0" anchor="ctr"/>
          <a:lstStyle/>
          <a:p>
            <a:pPr indent="0" marL="0">
              <a:buNone/>
            </a:pPr>
            <a:r>
              <a:rPr lang="en-US" sz="1100" b="1" dirty="0">
                <a:solidFill>
                  <a:schemeClr val="accent1"/>
                </a:solidFill>
              </a:rPr>
              <a:t>03 · AWS FACE AUX CONTRAINTES</a:t>
            </a:r>
            <a:endParaRPr lang="en-US" sz="1100" dirty="0"/>
          </a:p>
        </p:txBody>
      </p:sp>
      <p:sp>
        <p:nvSpPr>
          <p:cNvPr id="3" name="Text 1"/>
          <p:cNvSpPr/>
          <p:nvPr>
            <p:ph idx="102" type="title" hasCustomPrompt="1"/>
          </p:nvPr>
        </p:nvSpPr>
        <p:spPr>
          <a:xfrm>
            <a:off x="457200" y="457200"/>
            <a:ext cx="8229600" cy="640080"/>
          </a:xfrm>
          <a:prstGeom prst="rect">
            <a:avLst/>
          </a:prstGeom>
          <a:noFill/>
          <a:ln/>
        </p:spPr>
        <p:txBody>
          <a:bodyPr wrap="square" rtlCol="0" anchor="ctr"/>
          <a:lstStyle/>
          <a:p>
            <a:pPr indent="0" marL="0">
              <a:buNone/>
            </a:pPr>
            <a:r>
              <a:rPr lang="en-US" sz="2600" b="1" dirty="0">
                <a:solidFill>
                  <a:schemeClr val="tx2"/>
                </a:solidFill>
                <a:latin typeface="Cambria" pitchFamily="34" charset="0"/>
                <a:ea typeface="Cambria" pitchFamily="34" charset="-122"/>
                <a:cs typeface="Cambria" pitchFamily="34" charset="-120"/>
              </a:rPr>
              <a:t>C5 : absorber le pic en cloisonnant visiteurs et rédacteurs</a:t>
            </a:r>
            <a:endParaRPr lang="en-US" sz="2600" dirty="0"/>
          </a:p>
        </p:txBody>
      </p:sp>
      <p:sp>
        <p:nvSpPr>
          <p:cNvPr id="4" name="entonnoir 0"/>
          <p:cNvSpPr/>
          <p:nvPr/>
        </p:nvSpPr>
        <p:spPr>
          <a:xfrm>
            <a:off x="457200" y="1280160"/>
            <a:ext cx="1463040" cy="2377440"/>
          </a:xfrm>
          <a:prstGeom prst="roundRect">
            <a:avLst>
              <a:gd name="adj" fmla="val 5000"/>
            </a:avLst>
          </a:prstGeom>
          <a:solidFill>
            <a:schemeClr val="tx2"/>
          </a:solidFill>
          <a:ln w="12700">
            <a:solidFill>
              <a:schemeClr val="tx2"/>
            </a:solidFill>
            <a:prstDash val="solid"/>
          </a:ln>
        </p:spPr>
      </p:sp>
      <p:sp>
        <p:nvSpPr>
          <p:cNvPr id="5" name="Text 3"/>
          <p:cNvSpPr txBox="1"/>
          <p:nvPr/>
        </p:nvSpPr>
        <p:spPr>
          <a:xfrm>
            <a:off x="457200" y="1280160"/>
            <a:ext cx="1463040" cy="2377440"/>
          </a:xfrm>
          <a:prstGeom prst="rect">
            <a:avLst/>
          </a:prstGeom>
          <a:noFill/>
          <a:ln/>
        </p:spPr>
        <p:txBody>
          <a:bodyPr wrap="square" lIns="38100" tIns="38100" rIns="38100" bIns="38100" rtlCol="0" anchor="ctr"/>
          <a:lstStyle/>
          <a:p>
            <a:pPr algn="ctr" indent="0" marL="0">
              <a:buNone/>
            </a:pPr>
            <a:r>
              <a:rPr lang="en-US" sz="1300" b="1" dirty="0">
                <a:solidFill>
                  <a:schemeClr val="bg1"/>
                </a:solidFill>
              </a:rPr>
              <a:t>15 000 visiteurs</a:t>
            </a:r>
            <a:endParaRPr lang="en-US" sz="1300" dirty="0"/>
          </a:p>
          <a:p>
            <a:pPr algn="ctr" indent="0" marL="0">
              <a:buNone/>
            </a:pPr>
            <a:r>
              <a:rPr lang="en-US" sz="1000" dirty="0">
                <a:solidFill>
                  <a:schemeClr val="bg1"/>
                </a:solidFill>
              </a:rPr>
              <a:t>80 % en 1 min</a:t>
            </a:r>
            <a:endParaRPr lang="en-US" sz="1300" dirty="0"/>
          </a:p>
        </p:txBody>
      </p:sp>
      <p:sp>
        <p:nvSpPr>
          <p:cNvPr id="6" name="flèche entonnoir 0"/>
          <p:cNvSpPr/>
          <p:nvPr/>
        </p:nvSpPr>
        <p:spPr>
          <a:xfrm>
            <a:off x="1938528" y="2468880"/>
            <a:ext cx="201168" cy="0"/>
          </a:xfrm>
          <a:prstGeom prst="line">
            <a:avLst/>
          </a:prstGeom>
          <a:noFill/>
          <a:ln w="19050">
            <a:solidFill>
              <a:schemeClr val="accent5"/>
            </a:solidFill>
            <a:prstDash val="solid"/>
            <a:tailEnd type="triangle"/>
          </a:ln>
        </p:spPr>
      </p:sp>
      <p:sp>
        <p:nvSpPr>
          <p:cNvPr id="7" name="entonnoir 1"/>
          <p:cNvSpPr/>
          <p:nvPr/>
        </p:nvSpPr>
        <p:spPr>
          <a:xfrm>
            <a:off x="2157984" y="1463040"/>
            <a:ext cx="1463040" cy="2011680"/>
          </a:xfrm>
          <a:prstGeom prst="roundRect">
            <a:avLst>
              <a:gd name="adj" fmla="val 5000"/>
            </a:avLst>
          </a:prstGeom>
          <a:solidFill>
            <a:schemeClr val="accent3"/>
          </a:solidFill>
          <a:ln w="12700">
            <a:solidFill>
              <a:schemeClr val="accent3"/>
            </a:solidFill>
            <a:prstDash val="solid"/>
          </a:ln>
        </p:spPr>
      </p:sp>
      <p:sp>
        <p:nvSpPr>
          <p:cNvPr id="8" name="Text 6"/>
          <p:cNvSpPr txBox="1"/>
          <p:nvPr/>
        </p:nvSpPr>
        <p:spPr>
          <a:xfrm>
            <a:off x="2157984" y="1463040"/>
            <a:ext cx="1463040" cy="2011680"/>
          </a:xfrm>
          <a:prstGeom prst="rect">
            <a:avLst/>
          </a:prstGeom>
          <a:noFill/>
          <a:ln/>
        </p:spPr>
        <p:txBody>
          <a:bodyPr wrap="square" lIns="38100" tIns="38100" rIns="38100" bIns="38100" rtlCol="0" anchor="ctr"/>
          <a:lstStyle/>
          <a:p>
            <a:pPr algn="ctr" indent="0" marL="0">
              <a:buNone/>
            </a:pPr>
            <a:r>
              <a:rPr lang="en-US" sz="1300" b="1" dirty="0">
                <a:solidFill>
                  <a:schemeClr val="bg1"/>
                </a:solidFill>
              </a:rPr>
              <a:t>CloudFront</a:t>
            </a:r>
            <a:endParaRPr lang="en-US" sz="1300" dirty="0"/>
          </a:p>
          <a:p>
            <a:pPr algn="ctr" indent="0" marL="0">
              <a:buNone/>
            </a:pPr>
            <a:r>
              <a:rPr lang="en-US" sz="1000" dirty="0">
                <a:solidFill>
                  <a:schemeClr val="bg1"/>
                </a:solidFill>
              </a:rPr>
              <a:t>statut en cache 2 s</a:t>
            </a:r>
            <a:endParaRPr lang="en-US" sz="1300" dirty="0"/>
          </a:p>
        </p:txBody>
      </p:sp>
      <p:sp>
        <p:nvSpPr>
          <p:cNvPr id="9" name="flèche entonnoir 1"/>
          <p:cNvSpPr/>
          <p:nvPr/>
        </p:nvSpPr>
        <p:spPr>
          <a:xfrm>
            <a:off x="3639312" y="2468880"/>
            <a:ext cx="201168" cy="0"/>
          </a:xfrm>
          <a:prstGeom prst="line">
            <a:avLst/>
          </a:prstGeom>
          <a:noFill/>
          <a:ln w="19050">
            <a:solidFill>
              <a:schemeClr val="accent5"/>
            </a:solidFill>
            <a:prstDash val="solid"/>
            <a:tailEnd type="triangle"/>
          </a:ln>
        </p:spPr>
      </p:sp>
      <p:sp>
        <p:nvSpPr>
          <p:cNvPr id="10" name="entonnoir 2"/>
          <p:cNvSpPr/>
          <p:nvPr/>
        </p:nvSpPr>
        <p:spPr>
          <a:xfrm>
            <a:off x="3858768" y="1645920"/>
            <a:ext cx="1463040" cy="1645920"/>
          </a:xfrm>
          <a:prstGeom prst="roundRect">
            <a:avLst>
              <a:gd name="adj" fmla="val 5000"/>
            </a:avLst>
          </a:prstGeom>
          <a:solidFill>
            <a:schemeClr val="accent3"/>
          </a:solidFill>
          <a:ln w="12700">
            <a:solidFill>
              <a:schemeClr val="accent3"/>
            </a:solidFill>
            <a:prstDash val="solid"/>
          </a:ln>
        </p:spPr>
      </p:sp>
      <p:sp>
        <p:nvSpPr>
          <p:cNvPr id="11" name="Text 9"/>
          <p:cNvSpPr txBox="1"/>
          <p:nvPr/>
        </p:nvSpPr>
        <p:spPr>
          <a:xfrm>
            <a:off x="3858768" y="1645920"/>
            <a:ext cx="1463040" cy="1645920"/>
          </a:xfrm>
          <a:prstGeom prst="rect">
            <a:avLst/>
          </a:prstGeom>
          <a:noFill/>
          <a:ln/>
        </p:spPr>
        <p:txBody>
          <a:bodyPr wrap="square" lIns="38100" tIns="38100" rIns="38100" bIns="38100" rtlCol="0" anchor="ctr"/>
          <a:lstStyle/>
          <a:p>
            <a:pPr algn="ctr" indent="0" marL="0">
              <a:buNone/>
            </a:pPr>
            <a:r>
              <a:rPr lang="en-US" sz="1300" b="1" dirty="0">
                <a:solidFill>
                  <a:schemeClr val="bg1"/>
                </a:solidFill>
              </a:rPr>
              <a:t>API Gateway</a:t>
            </a:r>
            <a:endParaRPr lang="en-US" sz="1300" dirty="0"/>
          </a:p>
          <a:p>
            <a:pPr algn="ctr" indent="0" marL="0">
              <a:buNone/>
            </a:pPr>
            <a:r>
              <a:rPr lang="en-US" sz="1000" dirty="0">
                <a:solidFill>
                  <a:schemeClr val="bg1"/>
                </a:solidFill>
              </a:rPr>
              <a:t>300 req/s, sinon 429</a:t>
            </a:r>
            <a:endParaRPr lang="en-US" sz="1300" dirty="0"/>
          </a:p>
        </p:txBody>
      </p:sp>
      <p:sp>
        <p:nvSpPr>
          <p:cNvPr id="12" name="flèche entonnoir 2"/>
          <p:cNvSpPr/>
          <p:nvPr/>
        </p:nvSpPr>
        <p:spPr>
          <a:xfrm>
            <a:off x="5340096" y="2468880"/>
            <a:ext cx="201168" cy="0"/>
          </a:xfrm>
          <a:prstGeom prst="line">
            <a:avLst/>
          </a:prstGeom>
          <a:noFill/>
          <a:ln w="19050">
            <a:solidFill>
              <a:schemeClr val="accent5"/>
            </a:solidFill>
            <a:prstDash val="solid"/>
            <a:tailEnd type="triangle"/>
          </a:ln>
        </p:spPr>
      </p:sp>
      <p:sp>
        <p:nvSpPr>
          <p:cNvPr id="13" name="entonnoir 3"/>
          <p:cNvSpPr/>
          <p:nvPr/>
        </p:nvSpPr>
        <p:spPr>
          <a:xfrm>
            <a:off x="5559552" y="1828800"/>
            <a:ext cx="1463040" cy="1280160"/>
          </a:xfrm>
          <a:prstGeom prst="roundRect">
            <a:avLst>
              <a:gd name="adj" fmla="val 5714"/>
            </a:avLst>
          </a:prstGeom>
          <a:solidFill>
            <a:schemeClr val="accent1"/>
          </a:solidFill>
          <a:ln w="12700">
            <a:solidFill>
              <a:schemeClr val="accent1"/>
            </a:solidFill>
            <a:prstDash val="solid"/>
          </a:ln>
        </p:spPr>
      </p:sp>
      <p:sp>
        <p:nvSpPr>
          <p:cNvPr id="14" name="Text 12"/>
          <p:cNvSpPr txBox="1"/>
          <p:nvPr/>
        </p:nvSpPr>
        <p:spPr>
          <a:xfrm>
            <a:off x="5559552" y="1828800"/>
            <a:ext cx="1463040" cy="1280160"/>
          </a:xfrm>
          <a:prstGeom prst="rect">
            <a:avLst/>
          </a:prstGeom>
          <a:noFill/>
          <a:ln/>
        </p:spPr>
        <p:txBody>
          <a:bodyPr wrap="square" lIns="38100" tIns="38100" rIns="38100" bIns="38100" rtlCol="0" anchor="ctr"/>
          <a:lstStyle/>
          <a:p>
            <a:pPr algn="ctr" indent="0" marL="0">
              <a:buNone/>
            </a:pPr>
            <a:r>
              <a:rPr lang="en-US" sz="1300" b="1" dirty="0">
                <a:solidFill>
                  <a:schemeClr val="bg1"/>
                </a:solidFill>
              </a:rPr>
              <a:t>Lambda claim</a:t>
            </a:r>
            <a:endParaRPr lang="en-US" sz="1300" dirty="0"/>
          </a:p>
          <a:p>
            <a:pPr algn="ctr" indent="0" marL="0">
              <a:buNone/>
            </a:pPr>
            <a:r>
              <a:rPr lang="en-US" sz="1000" dirty="0">
                <a:solidFill>
                  <a:schemeClr val="bg1"/>
                </a:solidFill>
              </a:rPr>
              <a:t>100 exécutions max</a:t>
            </a:r>
            <a:endParaRPr lang="en-US" sz="1300" dirty="0"/>
          </a:p>
        </p:txBody>
      </p:sp>
      <p:sp>
        <p:nvSpPr>
          <p:cNvPr id="15" name="flèche entonnoir 3"/>
          <p:cNvSpPr/>
          <p:nvPr/>
        </p:nvSpPr>
        <p:spPr>
          <a:xfrm>
            <a:off x="7040880" y="2468880"/>
            <a:ext cx="201168" cy="0"/>
          </a:xfrm>
          <a:prstGeom prst="line">
            <a:avLst/>
          </a:prstGeom>
          <a:noFill/>
          <a:ln w="19050">
            <a:solidFill>
              <a:schemeClr val="accent5"/>
            </a:solidFill>
            <a:prstDash val="solid"/>
            <a:tailEnd type="triangle"/>
          </a:ln>
        </p:spPr>
      </p:sp>
      <p:sp>
        <p:nvSpPr>
          <p:cNvPr id="16" name="entonnoir 4"/>
          <p:cNvSpPr/>
          <p:nvPr/>
        </p:nvSpPr>
        <p:spPr>
          <a:xfrm>
            <a:off x="7260336" y="1828800"/>
            <a:ext cx="1463040" cy="1280160"/>
          </a:xfrm>
          <a:prstGeom prst="roundRect">
            <a:avLst>
              <a:gd name="adj" fmla="val 5714"/>
            </a:avLst>
          </a:prstGeom>
          <a:solidFill>
            <a:schemeClr val="accent2"/>
          </a:solidFill>
          <a:ln w="12700">
            <a:solidFill>
              <a:schemeClr val="accent2"/>
            </a:solidFill>
            <a:prstDash val="solid"/>
          </a:ln>
        </p:spPr>
      </p:sp>
      <p:sp>
        <p:nvSpPr>
          <p:cNvPr id="17" name="Text 15"/>
          <p:cNvSpPr txBox="1"/>
          <p:nvPr/>
        </p:nvSpPr>
        <p:spPr>
          <a:xfrm>
            <a:off x="7260336" y="1828800"/>
            <a:ext cx="1463040" cy="1280160"/>
          </a:xfrm>
          <a:prstGeom prst="rect">
            <a:avLst/>
          </a:prstGeom>
          <a:noFill/>
          <a:ln/>
        </p:spPr>
        <p:txBody>
          <a:bodyPr wrap="square" lIns="38100" tIns="38100" rIns="38100" bIns="38100" rtlCol="0" anchor="ctr"/>
          <a:lstStyle/>
          <a:p>
            <a:pPr algn="ctr" indent="0" marL="0">
              <a:buNone/>
            </a:pPr>
            <a:r>
              <a:rPr lang="en-US" sz="1300" b="1" dirty="0">
                <a:solidFill>
                  <a:schemeClr val="bg1"/>
                </a:solidFill>
              </a:rPr>
              <a:t>DynamoDB</a:t>
            </a:r>
            <a:endParaRPr lang="en-US" sz="1300" dirty="0"/>
          </a:p>
          <a:p>
            <a:pPr algn="ctr" indent="0" marL="0">
              <a:buNone/>
            </a:pPr>
            <a:r>
              <a:rPr lang="en-US" sz="1000" dirty="0">
                <a:solidFill>
                  <a:schemeClr val="bg1"/>
                </a:solidFill>
              </a:rPr>
              <a:t>à la demande</a:t>
            </a:r>
            <a:endParaRPr lang="en-US" sz="1300" dirty="0"/>
          </a:p>
        </p:txBody>
      </p:sp>
      <p:sp>
        <p:nvSpPr>
          <p:cNvPr id="18" name="Text 16"/>
          <p:cNvSpPr txBox="1"/>
          <p:nvPr/>
        </p:nvSpPr>
        <p:spPr>
          <a:xfrm>
            <a:off x="457200" y="3794760"/>
            <a:ext cx="8229600" cy="274320"/>
          </a:xfrm>
          <a:prstGeom prst="rect">
            <a:avLst/>
          </a:prstGeom>
          <a:noFill/>
          <a:ln/>
        </p:spPr>
        <p:txBody>
          <a:bodyPr wrap="square" lIns="0" tIns="0" rIns="0" bIns="0" rtlCol="0" anchor="ctr"/>
          <a:lstStyle/>
          <a:p>
            <a:pPr indent="0" marL="0">
              <a:buNone/>
            </a:pPr>
            <a:r>
              <a:rPr lang="en-US" sz="1200" b="1" dirty="0">
                <a:solidFill>
                  <a:schemeClr val="tx2"/>
                </a:solidFill>
              </a:rPr>
              <a:t>Concurrence Lambda du compte (400)</a:t>
            </a:r>
            <a:endParaRPr lang="en-US" sz="1200" dirty="0"/>
          </a:p>
        </p:txBody>
      </p:sp>
      <p:sp>
        <p:nvSpPr>
          <p:cNvPr id="19" name="part réservée"/>
          <p:cNvSpPr/>
          <p:nvPr/>
        </p:nvSpPr>
        <p:spPr>
          <a:xfrm>
            <a:off x="457200" y="4114800"/>
            <a:ext cx="2057400" cy="411480"/>
          </a:xfrm>
          <a:prstGeom prst="rect">
            <a:avLst/>
          </a:prstGeom>
          <a:solidFill>
            <a:schemeClr val="accent1"/>
          </a:solidFill>
          <a:ln w="12700">
            <a:solidFill>
              <a:schemeClr val="accent1"/>
            </a:solidFill>
            <a:prstDash val="solid"/>
          </a:ln>
        </p:spPr>
      </p:sp>
      <p:sp>
        <p:nvSpPr>
          <p:cNvPr id="20" name="Text 18"/>
          <p:cNvSpPr txBox="1"/>
          <p:nvPr/>
        </p:nvSpPr>
        <p:spPr>
          <a:xfrm>
            <a:off x="457200" y="4114800"/>
            <a:ext cx="2057400" cy="411480"/>
          </a:xfrm>
          <a:prstGeom prst="rect">
            <a:avLst/>
          </a:prstGeom>
          <a:noFill/>
          <a:ln/>
        </p:spPr>
        <p:txBody>
          <a:bodyPr wrap="square" lIns="0" tIns="0" rIns="0" bIns="0" rtlCol="0" anchor="ctr"/>
          <a:lstStyle/>
          <a:p>
            <a:pPr algn="ctr" indent="0" marL="0">
              <a:buNone/>
            </a:pPr>
            <a:r>
              <a:rPr lang="en-US" sz="1100" b="1" dirty="0">
                <a:solidFill>
                  <a:schemeClr val="bg1"/>
                </a:solidFill>
              </a:rPr>
              <a:t>100 réservées : claim</a:t>
            </a:r>
            <a:endParaRPr lang="en-US" sz="1100" dirty="0"/>
          </a:p>
        </p:txBody>
      </p:sp>
      <p:sp>
        <p:nvSpPr>
          <p:cNvPr id="21" name="part libre"/>
          <p:cNvSpPr/>
          <p:nvPr/>
        </p:nvSpPr>
        <p:spPr>
          <a:xfrm>
            <a:off x="2514600" y="4114800"/>
            <a:ext cx="6172200" cy="411480"/>
          </a:xfrm>
          <a:prstGeom prst="rect">
            <a:avLst/>
          </a:prstGeom>
          <a:solidFill>
            <a:schemeClr val="accent2"/>
          </a:solidFill>
          <a:ln w="12700">
            <a:solidFill>
              <a:schemeClr val="accent2"/>
            </a:solidFill>
            <a:prstDash val="solid"/>
          </a:ln>
        </p:spPr>
      </p:sp>
      <p:sp>
        <p:nvSpPr>
          <p:cNvPr id="22" name="Text 20"/>
          <p:cNvSpPr txBox="1"/>
          <p:nvPr/>
        </p:nvSpPr>
        <p:spPr>
          <a:xfrm>
            <a:off x="2514600" y="4114800"/>
            <a:ext cx="6172200" cy="411480"/>
          </a:xfrm>
          <a:prstGeom prst="rect">
            <a:avLst/>
          </a:prstGeom>
          <a:noFill/>
          <a:ln/>
        </p:spPr>
        <p:txBody>
          <a:bodyPr wrap="square" lIns="0" tIns="0" rIns="0" bIns="0" rtlCol="0" anchor="ctr"/>
          <a:lstStyle/>
          <a:p>
            <a:pPr algn="ctr" indent="0" marL="0">
              <a:buNone/>
            </a:pPr>
            <a:r>
              <a:rPr lang="en-US" sz="1100" b="1" dirty="0">
                <a:solidFill>
                  <a:schemeClr val="bg1"/>
                </a:solidFill>
              </a:rPr>
              <a:t>300 restent pour l'édition et le reste (max observé pendant le pic : 75)</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body" hasCustomPrompt="1"/>
          </p:nvPr>
        </p:nvSpPr>
        <p:spPr>
          <a:xfrm>
            <a:off x="457200" y="201168"/>
            <a:ext cx="8229600" cy="274320"/>
          </a:xfrm>
          <a:prstGeom prst="rect">
            <a:avLst/>
          </a:prstGeom>
          <a:noFill/>
          <a:ln/>
        </p:spPr>
        <p:txBody>
          <a:bodyPr wrap="square" rtlCol="0" anchor="ctr"/>
          <a:lstStyle/>
          <a:p>
            <a:pPr indent="0" marL="0">
              <a:buNone/>
            </a:pPr>
            <a:r>
              <a:rPr lang="en-US" sz="1100" b="1" dirty="0">
                <a:solidFill>
                  <a:schemeClr val="accent1"/>
                </a:solidFill>
              </a:rPr>
              <a:t>03 · AWS FACE AUX CONTRAINTES</a:t>
            </a:r>
            <a:endParaRPr lang="en-US" sz="1100" dirty="0"/>
          </a:p>
        </p:txBody>
      </p:sp>
      <p:sp>
        <p:nvSpPr>
          <p:cNvPr id="3" name="Text 1"/>
          <p:cNvSpPr/>
          <p:nvPr>
            <p:ph idx="102" type="title" hasCustomPrompt="1"/>
          </p:nvPr>
        </p:nvSpPr>
        <p:spPr>
          <a:xfrm>
            <a:off x="457200" y="457200"/>
            <a:ext cx="8229600" cy="640080"/>
          </a:xfrm>
          <a:prstGeom prst="rect">
            <a:avLst/>
          </a:prstGeom>
          <a:noFill/>
          <a:ln/>
        </p:spPr>
        <p:txBody>
          <a:bodyPr wrap="square" rtlCol="0" anchor="ctr"/>
          <a:lstStyle/>
          <a:p>
            <a:pPr indent="0" marL="0">
              <a:buNone/>
            </a:pPr>
            <a:r>
              <a:rPr lang="en-US" sz="2600" b="1" dirty="0">
                <a:solidFill>
                  <a:schemeClr val="tx2"/>
                </a:solidFill>
                <a:latin typeface="Cambria" pitchFamily="34" charset="0"/>
                <a:ea typeface="Cambria" pitchFamily="34" charset="-122"/>
                <a:cs typeface="Cambria" pitchFamily="34" charset="-120"/>
              </a:rPr>
              <a:t>Les règles du sujet, tenues par la configuration AWS</a:t>
            </a:r>
            <a:endParaRPr lang="en-US" sz="2600" dirty="0"/>
          </a:p>
        </p:txBody>
      </p:sp>
      <p:sp>
        <p:nvSpPr>
          <p:cNvPr id="4" name="règle 0"/>
          <p:cNvSpPr/>
          <p:nvPr/>
        </p:nvSpPr>
        <p:spPr>
          <a:xfrm>
            <a:off x="457200" y="1280160"/>
            <a:ext cx="4023360" cy="1417320"/>
          </a:xfrm>
          <a:prstGeom prst="roundRect">
            <a:avLst>
              <a:gd name="adj" fmla="val 6452"/>
            </a:avLst>
          </a:prstGeom>
          <a:solidFill>
            <a:schemeClr val="bg2"/>
          </a:solidFill>
          <a:ln w="12700">
            <a:solidFill>
              <a:schemeClr val="bg2"/>
            </a:solidFill>
            <a:prstDash val="solid"/>
          </a:ln>
        </p:spPr>
      </p:sp>
      <p:sp>
        <p:nvSpPr>
          <p:cNvPr id="5" name="règle 0 cercle"/>
          <p:cNvSpPr/>
          <p:nvPr/>
        </p:nvSpPr>
        <p:spPr>
          <a:xfrm>
            <a:off x="685800" y="1600200"/>
            <a:ext cx="640080" cy="640080"/>
          </a:xfrm>
          <a:prstGeom prst="ellipse">
            <a:avLst/>
          </a:prstGeom>
          <a:solidFill>
            <a:schemeClr val="accent3"/>
          </a:solidFill>
          <a:ln w="12700">
            <a:solidFill>
              <a:schemeClr val="accent3"/>
            </a:solidFill>
            <a:prstDash val="solid"/>
          </a:ln>
        </p:spPr>
      </p:sp>
      <p:pic>
        <p:nvPicPr>
          <p:cNvPr id="6" name="règle 0 icône" descr="preencoded.png">    </p:cNvPr>
          <p:cNvPicPr>
            <a:picLocks noChangeAspect="1"/>
          </p:cNvPicPr>
          <p:nvPr/>
        </p:nvPicPr>
        <p:blipFill>
          <a:blip r:embed="rId1"/>
          <a:stretch>
            <a:fillRect/>
          </a:stretch>
        </p:blipFill>
        <p:spPr>
          <a:xfrm>
            <a:off x="839419" y="1753819"/>
            <a:ext cx="332842" cy="332842"/>
          </a:xfrm>
          <a:prstGeom prst="rect">
            <a:avLst/>
          </a:prstGeom>
        </p:spPr>
      </p:pic>
      <p:sp>
        <p:nvSpPr>
          <p:cNvPr id="7" name="Text 4"/>
          <p:cNvSpPr txBox="1"/>
          <p:nvPr/>
        </p:nvSpPr>
        <p:spPr>
          <a:xfrm>
            <a:off x="1508760" y="1463040"/>
            <a:ext cx="2788920" cy="365760"/>
          </a:xfrm>
          <a:prstGeom prst="rect">
            <a:avLst/>
          </a:prstGeom>
          <a:noFill/>
          <a:ln/>
        </p:spPr>
        <p:txBody>
          <a:bodyPr wrap="square" lIns="0" tIns="0" rIns="0" bIns="0" rtlCol="0" anchor="ctr"/>
          <a:lstStyle/>
          <a:p>
            <a:pPr indent="0" marL="0">
              <a:buNone/>
            </a:pPr>
            <a:r>
              <a:rPr lang="en-US" sz="1500" b="1" dirty="0">
                <a:solidFill>
                  <a:schemeClr val="tx2"/>
                </a:solidFill>
              </a:rPr>
              <a:t>Une seule région</a:t>
            </a:r>
            <a:endParaRPr lang="en-US" sz="1500" dirty="0"/>
          </a:p>
        </p:txBody>
      </p:sp>
      <p:sp>
        <p:nvSpPr>
          <p:cNvPr id="8" name="Text 5"/>
          <p:cNvSpPr txBox="1"/>
          <p:nvPr/>
        </p:nvSpPr>
        <p:spPr>
          <a:xfrm>
            <a:off x="1508760" y="1847088"/>
            <a:ext cx="2788920" cy="777240"/>
          </a:xfrm>
          <a:prstGeom prst="rect">
            <a:avLst/>
          </a:prstGeom>
          <a:noFill/>
          <a:ln/>
        </p:spPr>
        <p:txBody>
          <a:bodyPr wrap="square" lIns="0" tIns="0" rIns="0" bIns="0" rtlCol="0" anchor="t"/>
          <a:lstStyle/>
          <a:p>
            <a:pPr indent="0" marL="0">
              <a:buNone/>
            </a:pPr>
            <a:r>
              <a:rPr lang="en-US" sz="1200" dirty="0">
                <a:solidFill>
                  <a:schemeClr val="tx1"/>
                </a:solidFill>
              </a:rPr>
              <a:t>Tout dans eu-north-1. CloudFront est global mais ne crée rien ailleurs (ni certificat, ni WAF).</a:t>
            </a:r>
            <a:endParaRPr lang="en-US" sz="1200" dirty="0"/>
          </a:p>
        </p:txBody>
      </p:sp>
      <p:sp>
        <p:nvSpPr>
          <p:cNvPr id="9" name="règle 1"/>
          <p:cNvSpPr/>
          <p:nvPr/>
        </p:nvSpPr>
        <p:spPr>
          <a:xfrm>
            <a:off x="4663440" y="1280160"/>
            <a:ext cx="4023360" cy="1417320"/>
          </a:xfrm>
          <a:prstGeom prst="roundRect">
            <a:avLst>
              <a:gd name="adj" fmla="val 6452"/>
            </a:avLst>
          </a:prstGeom>
          <a:solidFill>
            <a:schemeClr val="bg2"/>
          </a:solidFill>
          <a:ln w="12700">
            <a:solidFill>
              <a:schemeClr val="bg2"/>
            </a:solidFill>
            <a:prstDash val="solid"/>
          </a:ln>
        </p:spPr>
      </p:sp>
      <p:sp>
        <p:nvSpPr>
          <p:cNvPr id="10" name="règle 1 cercle"/>
          <p:cNvSpPr/>
          <p:nvPr/>
        </p:nvSpPr>
        <p:spPr>
          <a:xfrm>
            <a:off x="4892040" y="1600200"/>
            <a:ext cx="640080" cy="640080"/>
          </a:xfrm>
          <a:prstGeom prst="ellipse">
            <a:avLst/>
          </a:prstGeom>
          <a:solidFill>
            <a:schemeClr val="accent1"/>
          </a:solidFill>
          <a:ln w="12700">
            <a:solidFill>
              <a:schemeClr val="accent1"/>
            </a:solidFill>
            <a:prstDash val="solid"/>
          </a:ln>
        </p:spPr>
      </p:sp>
      <p:pic>
        <p:nvPicPr>
          <p:cNvPr id="11" name="règle 1 icône" descr="preencoded.png">    </p:cNvPr>
          <p:cNvPicPr>
            <a:picLocks noChangeAspect="1"/>
          </p:cNvPicPr>
          <p:nvPr/>
        </p:nvPicPr>
        <p:blipFill>
          <a:blip r:embed="rId2"/>
          <a:stretch>
            <a:fillRect/>
          </a:stretch>
        </p:blipFill>
        <p:spPr>
          <a:xfrm>
            <a:off x="5045659" y="1753819"/>
            <a:ext cx="332842" cy="332842"/>
          </a:xfrm>
          <a:prstGeom prst="rect">
            <a:avLst/>
          </a:prstGeom>
        </p:spPr>
      </p:pic>
      <p:sp>
        <p:nvSpPr>
          <p:cNvPr id="12" name="Text 8"/>
          <p:cNvSpPr txBox="1"/>
          <p:nvPr/>
        </p:nvSpPr>
        <p:spPr>
          <a:xfrm>
            <a:off x="5715000" y="1463040"/>
            <a:ext cx="2788920" cy="365760"/>
          </a:xfrm>
          <a:prstGeom prst="rect">
            <a:avLst/>
          </a:prstGeom>
          <a:noFill/>
          <a:ln/>
        </p:spPr>
        <p:txBody>
          <a:bodyPr wrap="square" lIns="0" tIns="0" rIns="0" bIns="0" rtlCol="0" anchor="ctr"/>
          <a:lstStyle/>
          <a:p>
            <a:pPr indent="0" marL="0">
              <a:buNone/>
            </a:pPr>
            <a:r>
              <a:rPr lang="en-US" sz="1500" b="1" dirty="0">
                <a:solidFill>
                  <a:schemeClr val="tx2"/>
                </a:solidFill>
              </a:rPr>
              <a:t>Aucune clé d'accès</a:t>
            </a:r>
            <a:endParaRPr lang="en-US" sz="1500" dirty="0"/>
          </a:p>
        </p:txBody>
      </p:sp>
      <p:sp>
        <p:nvSpPr>
          <p:cNvPr id="13" name="Text 9"/>
          <p:cNvSpPr txBox="1"/>
          <p:nvPr/>
        </p:nvSpPr>
        <p:spPr>
          <a:xfrm>
            <a:off x="5715000" y="1847088"/>
            <a:ext cx="2788920" cy="777240"/>
          </a:xfrm>
          <a:prstGeom prst="rect">
            <a:avLst/>
          </a:prstGeom>
          <a:noFill/>
          <a:ln/>
        </p:spPr>
        <p:txBody>
          <a:bodyPr wrap="square" lIns="0" tIns="0" rIns="0" bIns="0" rtlCol="0" anchor="t"/>
          <a:lstStyle/>
          <a:p>
            <a:pPr indent="0" marL="0">
              <a:buNone/>
            </a:pPr>
            <a:r>
              <a:rPr lang="en-US" sz="1200" dirty="0">
                <a:solidFill>
                  <a:schemeClr val="tx1"/>
                </a:solidFill>
              </a:rPr>
              <a:t>aws login sur le poste ; rôles IAM pour Lambda et la machine de test. Aucun secret dans le dépôt.</a:t>
            </a:r>
            <a:endParaRPr lang="en-US" sz="1200" dirty="0"/>
          </a:p>
        </p:txBody>
      </p:sp>
      <p:sp>
        <p:nvSpPr>
          <p:cNvPr id="14" name="règle 2"/>
          <p:cNvSpPr/>
          <p:nvPr/>
        </p:nvSpPr>
        <p:spPr>
          <a:xfrm>
            <a:off x="457200" y="2880360"/>
            <a:ext cx="4023360" cy="1417320"/>
          </a:xfrm>
          <a:prstGeom prst="roundRect">
            <a:avLst>
              <a:gd name="adj" fmla="val 6452"/>
            </a:avLst>
          </a:prstGeom>
          <a:solidFill>
            <a:schemeClr val="bg2"/>
          </a:solidFill>
          <a:ln w="12700">
            <a:solidFill>
              <a:schemeClr val="bg2"/>
            </a:solidFill>
            <a:prstDash val="solid"/>
          </a:ln>
        </p:spPr>
      </p:sp>
      <p:sp>
        <p:nvSpPr>
          <p:cNvPr id="15" name="règle 2 cercle"/>
          <p:cNvSpPr/>
          <p:nvPr/>
        </p:nvSpPr>
        <p:spPr>
          <a:xfrm>
            <a:off x="685800" y="3200400"/>
            <a:ext cx="640080" cy="640080"/>
          </a:xfrm>
          <a:prstGeom prst="ellipse">
            <a:avLst/>
          </a:prstGeom>
          <a:solidFill>
            <a:schemeClr val="accent2"/>
          </a:solidFill>
          <a:ln w="12700">
            <a:solidFill>
              <a:schemeClr val="accent2"/>
            </a:solidFill>
            <a:prstDash val="solid"/>
          </a:ln>
        </p:spPr>
      </p:sp>
      <p:pic>
        <p:nvPicPr>
          <p:cNvPr id="16" name="règle 2 icône" descr="preencoded.png">    </p:cNvPr>
          <p:cNvPicPr>
            <a:picLocks noChangeAspect="1"/>
          </p:cNvPicPr>
          <p:nvPr/>
        </p:nvPicPr>
        <p:blipFill>
          <a:blip r:embed="rId3"/>
          <a:stretch>
            <a:fillRect/>
          </a:stretch>
        </p:blipFill>
        <p:spPr>
          <a:xfrm>
            <a:off x="839419" y="3354019"/>
            <a:ext cx="332842" cy="332842"/>
          </a:xfrm>
          <a:prstGeom prst="rect">
            <a:avLst/>
          </a:prstGeom>
        </p:spPr>
      </p:pic>
      <p:sp>
        <p:nvSpPr>
          <p:cNvPr id="17" name="Text 12"/>
          <p:cNvSpPr txBox="1"/>
          <p:nvPr/>
        </p:nvSpPr>
        <p:spPr>
          <a:xfrm>
            <a:off x="1508760" y="3063240"/>
            <a:ext cx="2788920" cy="365760"/>
          </a:xfrm>
          <a:prstGeom prst="rect">
            <a:avLst/>
          </a:prstGeom>
          <a:noFill/>
          <a:ln/>
        </p:spPr>
        <p:txBody>
          <a:bodyPr wrap="square" lIns="0" tIns="0" rIns="0" bIns="0" rtlCol="0" anchor="ctr"/>
          <a:lstStyle/>
          <a:p>
            <a:pPr indent="0" marL="0">
              <a:buNone/>
            </a:pPr>
            <a:r>
              <a:rPr lang="en-US" sz="1500" b="1" dirty="0">
                <a:solidFill>
                  <a:schemeClr val="tx2"/>
                </a:solidFill>
              </a:rPr>
              <a:t>Moindre privilège</a:t>
            </a:r>
            <a:endParaRPr lang="en-US" sz="1500" dirty="0"/>
          </a:p>
        </p:txBody>
      </p:sp>
      <p:sp>
        <p:nvSpPr>
          <p:cNvPr id="18" name="Text 13"/>
          <p:cNvSpPr txBox="1"/>
          <p:nvPr/>
        </p:nvSpPr>
        <p:spPr>
          <a:xfrm>
            <a:off x="1508760" y="3447288"/>
            <a:ext cx="2788920" cy="777240"/>
          </a:xfrm>
          <a:prstGeom prst="rect">
            <a:avLst/>
          </a:prstGeom>
          <a:noFill/>
          <a:ln/>
        </p:spPr>
        <p:txBody>
          <a:bodyPr wrap="square" lIns="0" tIns="0" rIns="0" bIns="0" rtlCol="0" anchor="t"/>
          <a:lstStyle/>
          <a:p>
            <a:pPr indent="0" marL="0">
              <a:buNone/>
            </a:pPr>
            <a:r>
              <a:rPr lang="en-US" sz="1200" dirty="0">
                <a:solidFill>
                  <a:schemeClr val="tx1"/>
                </a:solidFill>
              </a:rPr>
              <a:t>Un rôle par fonction, limité à ses tables et à son seul secret. Vérifié avec le simulateur IAM.</a:t>
            </a:r>
            <a:endParaRPr lang="en-US" sz="1200" dirty="0"/>
          </a:p>
        </p:txBody>
      </p:sp>
      <p:sp>
        <p:nvSpPr>
          <p:cNvPr id="19" name="règle 3"/>
          <p:cNvSpPr/>
          <p:nvPr/>
        </p:nvSpPr>
        <p:spPr>
          <a:xfrm>
            <a:off x="4663440" y="2880360"/>
            <a:ext cx="4023360" cy="1417320"/>
          </a:xfrm>
          <a:prstGeom prst="roundRect">
            <a:avLst>
              <a:gd name="adj" fmla="val 6452"/>
            </a:avLst>
          </a:prstGeom>
          <a:solidFill>
            <a:schemeClr val="bg2"/>
          </a:solidFill>
          <a:ln w="12700">
            <a:solidFill>
              <a:schemeClr val="bg2"/>
            </a:solidFill>
            <a:prstDash val="solid"/>
          </a:ln>
        </p:spPr>
      </p:sp>
      <p:sp>
        <p:nvSpPr>
          <p:cNvPr id="20" name="règle 3 cercle"/>
          <p:cNvSpPr/>
          <p:nvPr/>
        </p:nvSpPr>
        <p:spPr>
          <a:xfrm>
            <a:off x="4892040" y="3200400"/>
            <a:ext cx="640080" cy="640080"/>
          </a:xfrm>
          <a:prstGeom prst="ellipse">
            <a:avLst/>
          </a:prstGeom>
          <a:solidFill>
            <a:schemeClr val="accent3"/>
          </a:solidFill>
          <a:ln w="12700">
            <a:solidFill>
              <a:schemeClr val="accent3"/>
            </a:solidFill>
            <a:prstDash val="solid"/>
          </a:ln>
        </p:spPr>
      </p:sp>
      <p:pic>
        <p:nvPicPr>
          <p:cNvPr id="21" name="règle 3 icône" descr="preencoded.png">    </p:cNvPr>
          <p:cNvPicPr>
            <a:picLocks noChangeAspect="1"/>
          </p:cNvPicPr>
          <p:nvPr/>
        </p:nvPicPr>
        <p:blipFill>
          <a:blip r:embed="rId4"/>
          <a:stretch>
            <a:fillRect/>
          </a:stretch>
        </p:blipFill>
        <p:spPr>
          <a:xfrm>
            <a:off x="5045659" y="3354019"/>
            <a:ext cx="332842" cy="332842"/>
          </a:xfrm>
          <a:prstGeom prst="rect">
            <a:avLst/>
          </a:prstGeom>
        </p:spPr>
      </p:pic>
      <p:sp>
        <p:nvSpPr>
          <p:cNvPr id="22" name="Text 16"/>
          <p:cNvSpPr txBox="1"/>
          <p:nvPr/>
        </p:nvSpPr>
        <p:spPr>
          <a:xfrm>
            <a:off x="5715000" y="3063240"/>
            <a:ext cx="2788920" cy="365760"/>
          </a:xfrm>
          <a:prstGeom prst="rect">
            <a:avLst/>
          </a:prstGeom>
          <a:noFill/>
          <a:ln/>
        </p:spPr>
        <p:txBody>
          <a:bodyPr wrap="square" lIns="0" tIns="0" rIns="0" bIns="0" rtlCol="0" anchor="ctr"/>
          <a:lstStyle/>
          <a:p>
            <a:pPr indent="0" marL="0">
              <a:buNone/>
            </a:pPr>
            <a:r>
              <a:rPr lang="en-US" sz="1500" b="1" dirty="0">
                <a:solidFill>
                  <a:schemeClr val="tx2"/>
                </a:solidFill>
              </a:rPr>
              <a:t>Plan gratuit et S3</a:t>
            </a:r>
            <a:endParaRPr lang="en-US" sz="1500" dirty="0"/>
          </a:p>
        </p:txBody>
      </p:sp>
      <p:sp>
        <p:nvSpPr>
          <p:cNvPr id="23" name="Text 17"/>
          <p:cNvSpPr txBox="1"/>
          <p:nvPr/>
        </p:nvSpPr>
        <p:spPr>
          <a:xfrm>
            <a:off x="5715000" y="3447288"/>
            <a:ext cx="2788920" cy="777240"/>
          </a:xfrm>
          <a:prstGeom prst="rect">
            <a:avLst/>
          </a:prstGeom>
          <a:noFill/>
          <a:ln/>
        </p:spPr>
        <p:txBody>
          <a:bodyPr wrap="square" lIns="0" tIns="0" rIns="0" bIns="0" rtlCol="0" anchor="t"/>
          <a:lstStyle/>
          <a:p>
            <a:pPr indent="0" marL="0">
              <a:buNone/>
            </a:pPr>
            <a:r>
              <a:rPr lang="en-US" sz="1200" dirty="0">
                <a:solidFill>
                  <a:schemeClr val="tx1"/>
                </a:solidFill>
              </a:rPr>
              <a:t>Tout à l'usage, rien au repos ; buckets privés, accès par OAC et URL pré-signées.</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body" hasCustomPrompt="1"/>
          </p:nvPr>
        </p:nvSpPr>
        <p:spPr>
          <a:xfrm>
            <a:off x="457200" y="201168"/>
            <a:ext cx="8229600" cy="274320"/>
          </a:xfrm>
          <a:prstGeom prst="rect">
            <a:avLst/>
          </a:prstGeom>
          <a:noFill/>
          <a:ln/>
        </p:spPr>
        <p:txBody>
          <a:bodyPr wrap="square" rtlCol="0" anchor="ctr"/>
          <a:lstStyle/>
          <a:p>
            <a:pPr indent="0" marL="0">
              <a:buNone/>
            </a:pPr>
            <a:r>
              <a:rPr lang="en-US" sz="1100" b="1" dirty="0">
                <a:solidFill>
                  <a:schemeClr val="accent1"/>
                </a:solidFill>
              </a:rPr>
              <a:t>04 · RÉSULTATS ET BILAN</a:t>
            </a:r>
            <a:endParaRPr lang="en-US" sz="1100" dirty="0"/>
          </a:p>
        </p:txBody>
      </p:sp>
      <p:sp>
        <p:nvSpPr>
          <p:cNvPr id="3" name="Text 1"/>
          <p:cNvSpPr/>
          <p:nvPr>
            <p:ph idx="102" type="title" hasCustomPrompt="1"/>
          </p:nvPr>
        </p:nvSpPr>
        <p:spPr>
          <a:xfrm>
            <a:off x="457200" y="457200"/>
            <a:ext cx="8229600" cy="640080"/>
          </a:xfrm>
          <a:prstGeom prst="rect">
            <a:avLst/>
          </a:prstGeom>
          <a:noFill/>
          <a:ln/>
        </p:spPr>
        <p:txBody>
          <a:bodyPr wrap="square" rtlCol="0" anchor="ctr"/>
          <a:lstStyle/>
          <a:p>
            <a:pPr indent="0" marL="0">
              <a:buNone/>
            </a:pPr>
            <a:r>
              <a:rPr lang="en-US" sz="2600" b="1" dirty="0">
                <a:solidFill>
                  <a:schemeClr val="tx2"/>
                </a:solidFill>
                <a:latin typeface="Cambria" pitchFamily="34" charset="0"/>
                <a:ea typeface="Cambria" pitchFamily="34" charset="-122"/>
                <a:cs typeface="Cambria" pitchFamily="34" charset="-120"/>
              </a:rPr>
              <a:t>Le pic simulé dans la région : 0 erreur, 0 visiteur sans réponse</a:t>
            </a:r>
            <a:endParaRPr lang="en-US" sz="2600" dirty="0"/>
          </a:p>
        </p:txBody>
      </p:sp>
      <p:sp>
        <p:nvSpPr>
          <p:cNvPr id="4" name="méthode"/>
          <p:cNvSpPr/>
          <p:nvPr/>
        </p:nvSpPr>
        <p:spPr>
          <a:xfrm>
            <a:off x="457200" y="1280160"/>
            <a:ext cx="3017520" cy="3200400"/>
          </a:xfrm>
          <a:prstGeom prst="roundRect">
            <a:avLst>
              <a:gd name="adj" fmla="val 3030"/>
            </a:avLst>
          </a:prstGeom>
          <a:solidFill>
            <a:schemeClr val="tx2"/>
          </a:solidFill>
          <a:ln w="12700">
            <a:solidFill>
              <a:schemeClr val="tx2"/>
            </a:solidFill>
            <a:prstDash val="solid"/>
          </a:ln>
        </p:spPr>
      </p:sp>
      <p:sp>
        <p:nvSpPr>
          <p:cNvPr id="5" name="Text 3"/>
          <p:cNvSpPr txBox="1"/>
          <p:nvPr/>
        </p:nvSpPr>
        <p:spPr>
          <a:xfrm>
            <a:off x="640080" y="1417320"/>
            <a:ext cx="2651760" cy="365760"/>
          </a:xfrm>
          <a:prstGeom prst="rect">
            <a:avLst/>
          </a:prstGeom>
          <a:noFill/>
          <a:ln/>
        </p:spPr>
        <p:txBody>
          <a:bodyPr wrap="square" lIns="0" tIns="0" rIns="0" bIns="0" rtlCol="0" anchor="ctr"/>
          <a:lstStyle/>
          <a:p>
            <a:pPr indent="0" marL="0">
              <a:buNone/>
            </a:pPr>
            <a:r>
              <a:rPr lang="en-US" sz="1500" b="1" dirty="0">
                <a:solidFill>
                  <a:schemeClr val="accent1"/>
                </a:solidFill>
              </a:rPr>
              <a:t>Méthode</a:t>
            </a:r>
            <a:endParaRPr lang="en-US" sz="1500" dirty="0"/>
          </a:p>
        </p:txBody>
      </p:sp>
      <p:sp>
        <p:nvSpPr>
          <p:cNvPr id="6" name="Text 4"/>
          <p:cNvSpPr txBox="1"/>
          <p:nvPr/>
        </p:nvSpPr>
        <p:spPr>
          <a:xfrm>
            <a:off x="640080" y="1828800"/>
            <a:ext cx="2743200" cy="2560320"/>
          </a:xfrm>
          <a:prstGeom prst="rect">
            <a:avLst/>
          </a:prstGeom>
          <a:noFill/>
          <a:ln/>
        </p:spPr>
        <p:txBody>
          <a:bodyPr wrap="square" rtlCol="0" anchor="t"/>
          <a:lstStyle/>
          <a:p>
            <a:pPr marL="342900" indent="-342900">
              <a:spcAft>
                <a:spcPts val="600"/>
              </a:spcAft>
              <a:buSzPct val="100000"/>
              <a:buChar char="•"/>
            </a:pPr>
            <a:r>
              <a:rPr lang="en-US" sz="1200" dirty="0">
                <a:solidFill>
                  <a:schemeClr val="bg1"/>
                </a:solidFill>
              </a:rPr>
              <a:t>Machine EC2 temporaire dans eu-north-1</a:t>
            </a:r>
            <a:endParaRPr lang="en-US" sz="1200" dirty="0"/>
          </a:p>
          <a:p>
            <a:pPr marL="342900" indent="-342900">
              <a:spcAft>
                <a:spcPts val="600"/>
              </a:spcAft>
              <a:buSzPct val="100000"/>
              <a:buChar char="•"/>
            </a:pPr>
            <a:r>
              <a:rPr lang="en-US" sz="1200" dirty="0">
                <a:solidFill>
                  <a:schemeClr val="bg1"/>
                </a:solidFill>
              </a:rPr>
              <a:t>300 rédacteurs pendant 7 min</a:t>
            </a:r>
            <a:endParaRPr lang="en-US" sz="1200" dirty="0"/>
          </a:p>
          <a:p>
            <a:pPr marL="342900" indent="-342900">
              <a:spcAft>
                <a:spcPts val="600"/>
              </a:spcAft>
              <a:buSzPct val="100000"/>
              <a:buChar char="•"/>
            </a:pPr>
            <a:r>
              <a:rPr lang="en-US" sz="1200" dirty="0">
                <a:solidFill>
                  <a:schemeClr val="bg1"/>
                </a:solidFill>
              </a:rPr>
              <a:t>k6 : 1 500 visiteurs à la 1re seconde, 12 000 en 1 min</a:t>
            </a:r>
            <a:endParaRPr lang="en-US" sz="1200" dirty="0"/>
          </a:p>
          <a:p>
            <a:pPr marL="342900" indent="-342900">
              <a:spcAft>
                <a:spcPts val="600"/>
              </a:spcAft>
              <a:buSzPct val="100000"/>
              <a:buChar char="•"/>
            </a:pPr>
            <a:r>
              <a:rPr lang="en-US" sz="1200" dirty="0">
                <a:solidFill>
                  <a:schemeClr val="bg1"/>
                </a:solidFill>
              </a:rPr>
              <a:t>Lien de 500 exemplaires</a:t>
            </a:r>
            <a:endParaRPr lang="en-US" sz="1200" dirty="0"/>
          </a:p>
          <a:p>
            <a:pPr marL="342900" indent="-342900">
              <a:spcAft>
                <a:spcPts val="600"/>
              </a:spcAft>
              <a:buSzPct val="100000"/>
              <a:buChar char="•"/>
            </a:pPr>
            <a:r>
              <a:rPr lang="en-US" sz="1200" dirty="0">
                <a:solidFill>
                  <a:schemeClr val="bg1"/>
                </a:solidFill>
              </a:rPr>
              <a:t>Mesures CloudWatch côté serveur</a:t>
            </a:r>
            <a:endParaRPr lang="en-US" sz="1200" dirty="0"/>
          </a:p>
        </p:txBody>
      </p:sp>
      <p:sp>
        <p:nvSpPr>
          <p:cNvPr id="7" name="stat 0"/>
          <p:cNvSpPr/>
          <p:nvPr/>
        </p:nvSpPr>
        <p:spPr>
          <a:xfrm>
            <a:off x="3657600" y="1280160"/>
            <a:ext cx="2468880" cy="1005840"/>
          </a:xfrm>
          <a:prstGeom prst="roundRect">
            <a:avLst>
              <a:gd name="adj" fmla="val 9091"/>
            </a:avLst>
          </a:prstGeom>
          <a:solidFill>
            <a:schemeClr val="bg2"/>
          </a:solidFill>
          <a:ln w="12700">
            <a:solidFill>
              <a:schemeClr val="bg2"/>
            </a:solidFill>
            <a:prstDash val="solid"/>
          </a:ln>
        </p:spPr>
      </p:sp>
      <p:sp>
        <p:nvSpPr>
          <p:cNvPr id="8" name="Text 6"/>
          <p:cNvSpPr txBox="1"/>
          <p:nvPr/>
        </p:nvSpPr>
        <p:spPr>
          <a:xfrm>
            <a:off x="3840480" y="1353312"/>
            <a:ext cx="2103120" cy="54864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500 / 500</a:t>
            </a:r>
            <a:endParaRPr lang="en-US" sz="2600" dirty="0"/>
          </a:p>
        </p:txBody>
      </p:sp>
      <p:sp>
        <p:nvSpPr>
          <p:cNvPr id="9" name="Text 7"/>
          <p:cNvSpPr txBox="1"/>
          <p:nvPr/>
        </p:nvSpPr>
        <p:spPr>
          <a:xfrm>
            <a:off x="3840480" y="1920240"/>
            <a:ext cx="2103120" cy="292608"/>
          </a:xfrm>
          <a:prstGeom prst="rect">
            <a:avLst/>
          </a:prstGeom>
          <a:noFill/>
          <a:ln/>
        </p:spPr>
        <p:txBody>
          <a:bodyPr wrap="square" lIns="0" tIns="0" rIns="0" bIns="0" rtlCol="0" anchor="ctr"/>
          <a:lstStyle/>
          <a:p>
            <a:pPr indent="0" marL="0">
              <a:buNone/>
            </a:pPr>
            <a:r>
              <a:rPr lang="en-US" sz="1200" dirty="0">
                <a:solidFill>
                  <a:schemeClr val="tx1"/>
                </a:solidFill>
              </a:rPr>
              <a:t>téléchargements (C1)</a:t>
            </a:r>
            <a:endParaRPr lang="en-US" sz="1200" dirty="0"/>
          </a:p>
        </p:txBody>
      </p:sp>
      <p:sp>
        <p:nvSpPr>
          <p:cNvPr id="10" name="stat 1"/>
          <p:cNvSpPr/>
          <p:nvPr/>
        </p:nvSpPr>
        <p:spPr>
          <a:xfrm>
            <a:off x="6217920" y="1280160"/>
            <a:ext cx="2468880" cy="1005840"/>
          </a:xfrm>
          <a:prstGeom prst="roundRect">
            <a:avLst>
              <a:gd name="adj" fmla="val 9091"/>
            </a:avLst>
          </a:prstGeom>
          <a:solidFill>
            <a:schemeClr val="bg2"/>
          </a:solidFill>
          <a:ln w="12700">
            <a:solidFill>
              <a:schemeClr val="bg2"/>
            </a:solidFill>
            <a:prstDash val="solid"/>
          </a:ln>
        </p:spPr>
      </p:sp>
      <p:sp>
        <p:nvSpPr>
          <p:cNvPr id="11" name="Text 9"/>
          <p:cNvSpPr txBox="1"/>
          <p:nvPr/>
        </p:nvSpPr>
        <p:spPr>
          <a:xfrm>
            <a:off x="6400800" y="1353312"/>
            <a:ext cx="2103120" cy="548640"/>
          </a:xfrm>
          <a:prstGeom prst="rect">
            <a:avLst/>
          </a:prstGeom>
          <a:noFill/>
          <a:ln/>
        </p:spPr>
        <p:txBody>
          <a:bodyPr wrap="square" lIns="0" tIns="0" rIns="0" bIns="0" rtlCol="0" anchor="ctr"/>
          <a:lstStyle/>
          <a:p>
            <a:pPr indent="0" marL="0">
              <a:buNone/>
            </a:pPr>
            <a:r>
              <a:rPr lang="en-US" sz="2600" b="1" dirty="0">
                <a:solidFill>
                  <a:schemeClr val="accent2"/>
                </a:solidFill>
                <a:latin typeface="Cambria" pitchFamily="34" charset="0"/>
                <a:ea typeface="Cambria" pitchFamily="34" charset="-122"/>
                <a:cs typeface="Cambria" pitchFamily="34" charset="-120"/>
              </a:rPr>
              <a:t>79 334</a:t>
            </a:r>
            <a:endParaRPr lang="en-US" sz="2600" dirty="0"/>
          </a:p>
        </p:txBody>
      </p:sp>
      <p:sp>
        <p:nvSpPr>
          <p:cNvPr id="12" name="Text 10"/>
          <p:cNvSpPr txBox="1"/>
          <p:nvPr/>
        </p:nvSpPr>
        <p:spPr>
          <a:xfrm>
            <a:off x="6400800" y="1920240"/>
            <a:ext cx="2103120" cy="292608"/>
          </a:xfrm>
          <a:prstGeom prst="rect">
            <a:avLst/>
          </a:prstGeom>
          <a:noFill/>
          <a:ln/>
        </p:spPr>
        <p:txBody>
          <a:bodyPr wrap="square" lIns="0" tIns="0" rIns="0" bIns="0" rtlCol="0" anchor="ctr"/>
          <a:lstStyle/>
          <a:p>
            <a:pPr indent="0" marL="0">
              <a:buNone/>
            </a:pPr>
            <a:r>
              <a:rPr lang="en-US" sz="1200" dirty="0">
                <a:solidFill>
                  <a:schemeClr val="tx1"/>
                </a:solidFill>
              </a:rPr>
              <a:t>modifications, 0 perdue (C2)</a:t>
            </a:r>
            <a:endParaRPr lang="en-US" sz="1200" dirty="0"/>
          </a:p>
        </p:txBody>
      </p:sp>
      <p:sp>
        <p:nvSpPr>
          <p:cNvPr id="13" name="stat 2"/>
          <p:cNvSpPr/>
          <p:nvPr/>
        </p:nvSpPr>
        <p:spPr>
          <a:xfrm>
            <a:off x="3657600" y="2377440"/>
            <a:ext cx="2468880" cy="1005840"/>
          </a:xfrm>
          <a:prstGeom prst="roundRect">
            <a:avLst>
              <a:gd name="adj" fmla="val 9091"/>
            </a:avLst>
          </a:prstGeom>
          <a:solidFill>
            <a:schemeClr val="bg2"/>
          </a:solidFill>
          <a:ln w="12700">
            <a:solidFill>
              <a:schemeClr val="bg2"/>
            </a:solidFill>
            <a:prstDash val="solid"/>
          </a:ln>
        </p:spPr>
      </p:sp>
      <p:sp>
        <p:nvSpPr>
          <p:cNvPr id="14" name="Text 12"/>
          <p:cNvSpPr txBox="1"/>
          <p:nvPr/>
        </p:nvSpPr>
        <p:spPr>
          <a:xfrm>
            <a:off x="3840480" y="2450592"/>
            <a:ext cx="2103120" cy="548640"/>
          </a:xfrm>
          <a:prstGeom prst="rect">
            <a:avLst/>
          </a:prstGeom>
          <a:noFill/>
          <a:ln/>
        </p:spPr>
        <p:txBody>
          <a:bodyPr wrap="square" lIns="0" tIns="0" rIns="0" bIns="0" rtlCol="0" anchor="ctr"/>
          <a:lstStyle/>
          <a:p>
            <a:pPr indent="0" marL="0">
              <a:buNone/>
            </a:pPr>
            <a:r>
              <a:rPr lang="en-US" sz="2600" b="1" dirty="0">
                <a:solidFill>
                  <a:schemeClr val="accent3"/>
                </a:solidFill>
                <a:latin typeface="Cambria" pitchFamily="34" charset="0"/>
                <a:ea typeface="Cambria" pitchFamily="34" charset="-122"/>
                <a:cs typeface="Cambria" pitchFamily="34" charset="-120"/>
              </a:rPr>
              <a:t>0</a:t>
            </a:r>
            <a:endParaRPr lang="en-US" sz="2600" dirty="0"/>
          </a:p>
        </p:txBody>
      </p:sp>
      <p:sp>
        <p:nvSpPr>
          <p:cNvPr id="15" name="Text 13"/>
          <p:cNvSpPr txBox="1"/>
          <p:nvPr/>
        </p:nvSpPr>
        <p:spPr>
          <a:xfrm>
            <a:off x="3840480" y="3017520"/>
            <a:ext cx="2103120" cy="292608"/>
          </a:xfrm>
          <a:prstGeom prst="rect">
            <a:avLst/>
          </a:prstGeom>
          <a:noFill/>
          <a:ln/>
        </p:spPr>
        <p:txBody>
          <a:bodyPr wrap="square" lIns="0" tIns="0" rIns="0" bIns="0" rtlCol="0" anchor="ctr"/>
          <a:lstStyle/>
          <a:p>
            <a:pPr indent="0" marL="0">
              <a:buNone/>
            </a:pPr>
            <a:r>
              <a:rPr lang="en-US" sz="1200" dirty="0">
                <a:solidFill>
                  <a:schemeClr val="tx1"/>
                </a:solidFill>
              </a:rPr>
              <a:t>visiteur sans réponse (C5)</a:t>
            </a:r>
            <a:endParaRPr lang="en-US" sz="1200" dirty="0"/>
          </a:p>
        </p:txBody>
      </p:sp>
      <p:sp>
        <p:nvSpPr>
          <p:cNvPr id="16" name="stat 3"/>
          <p:cNvSpPr/>
          <p:nvPr/>
        </p:nvSpPr>
        <p:spPr>
          <a:xfrm>
            <a:off x="6217920" y="2377440"/>
            <a:ext cx="2468880" cy="1005840"/>
          </a:xfrm>
          <a:prstGeom prst="roundRect">
            <a:avLst>
              <a:gd name="adj" fmla="val 9091"/>
            </a:avLst>
          </a:prstGeom>
          <a:solidFill>
            <a:schemeClr val="bg2"/>
          </a:solidFill>
          <a:ln w="12700">
            <a:solidFill>
              <a:schemeClr val="bg2"/>
            </a:solidFill>
            <a:prstDash val="solid"/>
          </a:ln>
        </p:spPr>
      </p:sp>
      <p:sp>
        <p:nvSpPr>
          <p:cNvPr id="17" name="Text 15"/>
          <p:cNvSpPr txBox="1"/>
          <p:nvPr/>
        </p:nvSpPr>
        <p:spPr>
          <a:xfrm>
            <a:off x="6400800" y="2450592"/>
            <a:ext cx="2103120" cy="548640"/>
          </a:xfrm>
          <a:prstGeom prst="rect">
            <a:avLst/>
          </a:prstGeom>
          <a:noFill/>
          <a:ln/>
        </p:spPr>
        <p:txBody>
          <a:bodyPr wrap="square" lIns="0" tIns="0" rIns="0" bIns="0" rtlCol="0" anchor="ctr"/>
          <a:lstStyle/>
          <a:p>
            <a:pPr indent="0" marL="0">
              <a:buNone/>
            </a:pPr>
            <a:r>
              <a:rPr lang="en-US" sz="2600" b="1" dirty="0">
                <a:solidFill>
                  <a:schemeClr val="accent2"/>
                </a:solidFill>
                <a:latin typeface="Cambria" pitchFamily="34" charset="0"/>
                <a:ea typeface="Cambria" pitchFamily="34" charset="-122"/>
                <a:cs typeface="Cambria" pitchFamily="34" charset="-120"/>
              </a:rPr>
              <a:t>221 ms</a:t>
            </a:r>
            <a:endParaRPr lang="en-US" sz="2600" dirty="0"/>
          </a:p>
        </p:txBody>
      </p:sp>
      <p:sp>
        <p:nvSpPr>
          <p:cNvPr id="18" name="Text 16"/>
          <p:cNvSpPr txBox="1"/>
          <p:nvPr/>
        </p:nvSpPr>
        <p:spPr>
          <a:xfrm>
            <a:off x="6400800" y="3017520"/>
            <a:ext cx="2103120" cy="292608"/>
          </a:xfrm>
          <a:prstGeom prst="rect">
            <a:avLst/>
          </a:prstGeom>
          <a:noFill/>
          <a:ln/>
        </p:spPr>
        <p:txBody>
          <a:bodyPr wrap="square" lIns="0" tIns="0" rIns="0" bIns="0" rtlCol="0" anchor="ctr"/>
          <a:lstStyle/>
          <a:p>
            <a:pPr indent="0" marL="0">
              <a:buNone/>
            </a:pPr>
            <a:r>
              <a:rPr lang="en-US" sz="1200" dirty="0">
                <a:solidFill>
                  <a:schemeClr val="tx1"/>
                </a:solidFill>
              </a:rPr>
              <a:t>latence p99 d'écriture</a:t>
            </a:r>
            <a:endParaRPr lang="en-US" sz="1200" dirty="0"/>
          </a:p>
        </p:txBody>
      </p:sp>
      <p:sp>
        <p:nvSpPr>
          <p:cNvPr id="19" name="stat 4"/>
          <p:cNvSpPr/>
          <p:nvPr/>
        </p:nvSpPr>
        <p:spPr>
          <a:xfrm>
            <a:off x="3657600" y="3474720"/>
            <a:ext cx="2468880" cy="1005840"/>
          </a:xfrm>
          <a:prstGeom prst="roundRect">
            <a:avLst>
              <a:gd name="adj" fmla="val 9091"/>
            </a:avLst>
          </a:prstGeom>
          <a:solidFill>
            <a:schemeClr val="bg2"/>
          </a:solidFill>
          <a:ln w="12700">
            <a:solidFill>
              <a:schemeClr val="bg2"/>
            </a:solidFill>
            <a:prstDash val="solid"/>
          </a:ln>
        </p:spPr>
      </p:sp>
      <p:sp>
        <p:nvSpPr>
          <p:cNvPr id="20" name="Text 18"/>
          <p:cNvSpPr txBox="1"/>
          <p:nvPr/>
        </p:nvSpPr>
        <p:spPr>
          <a:xfrm>
            <a:off x="3840480" y="3547872"/>
            <a:ext cx="2103120" cy="548640"/>
          </a:xfrm>
          <a:prstGeom prst="rect">
            <a:avLst/>
          </a:prstGeom>
          <a:noFill/>
          <a:ln/>
        </p:spPr>
        <p:txBody>
          <a:bodyPr wrap="square" lIns="0" tIns="0" rIns="0" bIns="0" rtlCol="0" anchor="ctr"/>
          <a:lstStyle/>
          <a:p>
            <a:pPr indent="0" marL="0">
              <a:buNone/>
            </a:pPr>
            <a:r>
              <a:rPr lang="en-US" sz="2600" b="1" dirty="0">
                <a:solidFill>
                  <a:schemeClr val="accent3"/>
                </a:solidFill>
                <a:latin typeface="Cambria" pitchFamily="34" charset="0"/>
                <a:ea typeface="Cambria" pitchFamily="34" charset="-122"/>
                <a:cs typeface="Cambria" pitchFamily="34" charset="-120"/>
              </a:rPr>
              <a:t>44 ms</a:t>
            </a:r>
            <a:endParaRPr lang="en-US" sz="2600" dirty="0"/>
          </a:p>
        </p:txBody>
      </p:sp>
      <p:sp>
        <p:nvSpPr>
          <p:cNvPr id="21" name="Text 19"/>
          <p:cNvSpPr txBox="1"/>
          <p:nvPr/>
        </p:nvSpPr>
        <p:spPr>
          <a:xfrm>
            <a:off x="3840480" y="4114800"/>
            <a:ext cx="2103120" cy="292608"/>
          </a:xfrm>
          <a:prstGeom prst="rect">
            <a:avLst/>
          </a:prstGeom>
          <a:noFill/>
          <a:ln/>
        </p:spPr>
        <p:txBody>
          <a:bodyPr wrap="square" lIns="0" tIns="0" rIns="0" bIns="0" rtlCol="0" anchor="ctr"/>
          <a:lstStyle/>
          <a:p>
            <a:pPr indent="0" marL="0">
              <a:buNone/>
            </a:pPr>
            <a:r>
              <a:rPr lang="en-US" sz="1200" dirty="0">
                <a:solidFill>
                  <a:schemeClr val="tx1"/>
                </a:solidFill>
              </a:rPr>
              <a:t>réponse « épuisé » p50 (C6)</a:t>
            </a:r>
            <a:endParaRPr lang="en-US" sz="1200" dirty="0"/>
          </a:p>
        </p:txBody>
      </p:sp>
      <p:sp>
        <p:nvSpPr>
          <p:cNvPr id="22" name="stat 5"/>
          <p:cNvSpPr/>
          <p:nvPr/>
        </p:nvSpPr>
        <p:spPr>
          <a:xfrm>
            <a:off x="6217920" y="3474720"/>
            <a:ext cx="2468880" cy="1005840"/>
          </a:xfrm>
          <a:prstGeom prst="roundRect">
            <a:avLst>
              <a:gd name="adj" fmla="val 9091"/>
            </a:avLst>
          </a:prstGeom>
          <a:solidFill>
            <a:schemeClr val="bg2"/>
          </a:solidFill>
          <a:ln w="12700">
            <a:solidFill>
              <a:schemeClr val="bg2"/>
            </a:solidFill>
            <a:prstDash val="solid"/>
          </a:ln>
        </p:spPr>
      </p:sp>
      <p:sp>
        <p:nvSpPr>
          <p:cNvPr id="23" name="Text 21"/>
          <p:cNvSpPr txBox="1"/>
          <p:nvPr/>
        </p:nvSpPr>
        <p:spPr>
          <a:xfrm>
            <a:off x="6400800" y="3547872"/>
            <a:ext cx="2103120" cy="54864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1</a:t>
            </a:r>
            <a:endParaRPr lang="en-US" sz="2600" dirty="0"/>
          </a:p>
        </p:txBody>
      </p:sp>
      <p:sp>
        <p:nvSpPr>
          <p:cNvPr id="24" name="Text 22"/>
          <p:cNvSpPr txBox="1"/>
          <p:nvPr/>
        </p:nvSpPr>
        <p:spPr>
          <a:xfrm>
            <a:off x="6400800" y="4114800"/>
            <a:ext cx="2103120" cy="292608"/>
          </a:xfrm>
          <a:prstGeom prst="rect">
            <a:avLst/>
          </a:prstGeom>
          <a:noFill/>
          <a:ln/>
        </p:spPr>
        <p:txBody>
          <a:bodyPr wrap="square" lIns="0" tIns="0" rIns="0" bIns="0" rtlCol="0" anchor="ctr"/>
          <a:lstStyle/>
          <a:p>
            <a:pPr indent="0" marL="0">
              <a:buNone/>
            </a:pPr>
            <a:r>
              <a:rPr lang="en-US" sz="1200" dirty="0">
                <a:solidFill>
                  <a:schemeClr val="tx1"/>
                </a:solidFill>
              </a:rPr>
              <a:t>seul e-mail envoyé</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body" hasCustomPrompt="1"/>
          </p:nvPr>
        </p:nvSpPr>
        <p:spPr>
          <a:xfrm>
            <a:off x="457200" y="201168"/>
            <a:ext cx="8229600" cy="274320"/>
          </a:xfrm>
          <a:prstGeom prst="rect">
            <a:avLst/>
          </a:prstGeom>
          <a:noFill/>
          <a:ln/>
        </p:spPr>
        <p:txBody>
          <a:bodyPr wrap="square" rtlCol="0" anchor="ctr"/>
          <a:lstStyle/>
          <a:p>
            <a:pPr indent="0" marL="0">
              <a:buNone/>
            </a:pPr>
            <a:r>
              <a:rPr lang="en-US" sz="1100" b="1" dirty="0">
                <a:solidFill>
                  <a:schemeClr val="accent1"/>
                </a:solidFill>
              </a:rPr>
              <a:t>04 · RÉSULTATS ET BILAN</a:t>
            </a:r>
            <a:endParaRPr lang="en-US" sz="1100" dirty="0"/>
          </a:p>
        </p:txBody>
      </p:sp>
      <p:sp>
        <p:nvSpPr>
          <p:cNvPr id="3" name="Text 1"/>
          <p:cNvSpPr/>
          <p:nvPr>
            <p:ph idx="102" type="title" hasCustomPrompt="1"/>
          </p:nvPr>
        </p:nvSpPr>
        <p:spPr>
          <a:xfrm>
            <a:off x="457200" y="457200"/>
            <a:ext cx="8229600" cy="640080"/>
          </a:xfrm>
          <a:prstGeom prst="rect">
            <a:avLst/>
          </a:prstGeom>
          <a:noFill/>
          <a:ln/>
        </p:spPr>
        <p:txBody>
          <a:bodyPr wrap="square" rtlCol="0" anchor="ctr"/>
          <a:lstStyle/>
          <a:p>
            <a:pPr indent="0" marL="0">
              <a:buNone/>
            </a:pPr>
            <a:r>
              <a:rPr lang="en-US" sz="2600" b="1" dirty="0">
                <a:solidFill>
                  <a:schemeClr val="tx2"/>
                </a:solidFill>
                <a:latin typeface="Cambria" pitchFamily="34" charset="0"/>
                <a:ea typeface="Cambria" pitchFamily="34" charset="-122"/>
                <a:cs typeface="Cambria" pitchFamily="34" charset="-120"/>
              </a:rPr>
              <a:t>Trois difficultés rencontrées, trois corrections</a:t>
            </a:r>
            <a:endParaRPr lang="en-US" sz="2600" dirty="0"/>
          </a:p>
        </p:txBody>
      </p:sp>
      <p:sp>
        <p:nvSpPr>
          <p:cNvPr id="4" name="difficulté 0 cercle"/>
          <p:cNvSpPr/>
          <p:nvPr/>
        </p:nvSpPr>
        <p:spPr>
          <a:xfrm>
            <a:off x="457200" y="1371600"/>
            <a:ext cx="640080" cy="640080"/>
          </a:xfrm>
          <a:prstGeom prst="ellipse">
            <a:avLst/>
          </a:prstGeom>
          <a:solidFill>
            <a:schemeClr val="accent4"/>
          </a:solidFill>
          <a:ln w="12700">
            <a:solidFill>
              <a:schemeClr val="accent4"/>
            </a:solidFill>
            <a:prstDash val="solid"/>
          </a:ln>
        </p:spPr>
      </p:sp>
      <p:pic>
        <p:nvPicPr>
          <p:cNvPr id="5" name="difficulté 0 icône" descr="preencoded.png">    </p:cNvPr>
          <p:cNvPicPr>
            <a:picLocks noChangeAspect="1"/>
          </p:cNvPicPr>
          <p:nvPr/>
        </p:nvPicPr>
        <p:blipFill>
          <a:blip r:embed="rId1"/>
          <a:stretch>
            <a:fillRect/>
          </a:stretch>
        </p:blipFill>
        <p:spPr>
          <a:xfrm>
            <a:off x="610819" y="1525219"/>
            <a:ext cx="332842" cy="332842"/>
          </a:xfrm>
          <a:prstGeom prst="rect">
            <a:avLst/>
          </a:prstGeom>
        </p:spPr>
      </p:pic>
      <p:sp>
        <p:nvSpPr>
          <p:cNvPr id="6" name="Text 3"/>
          <p:cNvSpPr txBox="1"/>
          <p:nvPr/>
        </p:nvSpPr>
        <p:spPr>
          <a:xfrm>
            <a:off x="1325880" y="1280160"/>
            <a:ext cx="7315200" cy="365760"/>
          </a:xfrm>
          <a:prstGeom prst="rect">
            <a:avLst/>
          </a:prstGeom>
          <a:noFill/>
          <a:ln/>
        </p:spPr>
        <p:txBody>
          <a:bodyPr wrap="square" lIns="0" tIns="0" rIns="0" bIns="0" rtlCol="0" anchor="ctr"/>
          <a:lstStyle/>
          <a:p>
            <a:pPr indent="0" marL="0">
              <a:buNone/>
            </a:pPr>
            <a:r>
              <a:rPr lang="en-US" sz="1600" b="1" dirty="0">
                <a:solidFill>
                  <a:schemeClr val="tx2"/>
                </a:solidFill>
              </a:rPr>
              <a:t>Connexions WebSocket supprimées à l'ouverture</a:t>
            </a:r>
            <a:endParaRPr lang="en-US" sz="1600" dirty="0"/>
          </a:p>
        </p:txBody>
      </p:sp>
      <p:sp>
        <p:nvSpPr>
          <p:cNvPr id="7" name="Text 4"/>
          <p:cNvSpPr txBox="1"/>
          <p:nvPr/>
        </p:nvSpPr>
        <p:spPr>
          <a:xfrm>
            <a:off x="1325880" y="1664208"/>
            <a:ext cx="7315200" cy="640080"/>
          </a:xfrm>
          <a:prstGeom prst="rect">
            <a:avLst/>
          </a:prstGeom>
          <a:noFill/>
          <a:ln/>
        </p:spPr>
        <p:txBody>
          <a:bodyPr wrap="square" lIns="0" tIns="0" rIns="0" bIns="0" rtlCol="0" anchor="t"/>
          <a:lstStyle/>
          <a:p>
            <a:pPr indent="0" marL="0">
              <a:buNone/>
            </a:pPr>
            <a:r>
              <a:rPr lang="en-US" sz="1300" dirty="0">
                <a:solidFill>
                  <a:schemeClr val="tx1"/>
                </a:solidFill>
              </a:rPr>
              <a:t>API Gateway répond « Gone » pour une connexion encore en cours d'ouverture. Correction : ne supprimer qu'au-delà de 30 s.</a:t>
            </a:r>
            <a:endParaRPr lang="en-US" sz="1300" dirty="0"/>
          </a:p>
        </p:txBody>
      </p:sp>
      <p:sp>
        <p:nvSpPr>
          <p:cNvPr id="8" name="difficulté 1 cercle"/>
          <p:cNvSpPr/>
          <p:nvPr/>
        </p:nvSpPr>
        <p:spPr>
          <a:xfrm>
            <a:off x="457200" y="2468880"/>
            <a:ext cx="640080" cy="640080"/>
          </a:xfrm>
          <a:prstGeom prst="ellipse">
            <a:avLst/>
          </a:prstGeom>
          <a:solidFill>
            <a:schemeClr val="accent1"/>
          </a:solidFill>
          <a:ln w="12700">
            <a:solidFill>
              <a:schemeClr val="accent1"/>
            </a:solidFill>
            <a:prstDash val="solid"/>
          </a:ln>
        </p:spPr>
      </p:sp>
      <p:pic>
        <p:nvPicPr>
          <p:cNvPr id="9" name="difficulté 1 icône" descr="preencoded.png">    </p:cNvPr>
          <p:cNvPicPr>
            <a:picLocks noChangeAspect="1"/>
          </p:cNvPicPr>
          <p:nvPr/>
        </p:nvPicPr>
        <p:blipFill>
          <a:blip r:embed="rId2"/>
          <a:stretch>
            <a:fillRect/>
          </a:stretch>
        </p:blipFill>
        <p:spPr>
          <a:xfrm>
            <a:off x="610819" y="2622499"/>
            <a:ext cx="332842" cy="332842"/>
          </a:xfrm>
          <a:prstGeom prst="rect">
            <a:avLst/>
          </a:prstGeom>
        </p:spPr>
      </p:pic>
      <p:sp>
        <p:nvSpPr>
          <p:cNvPr id="10" name="Text 6"/>
          <p:cNvSpPr txBox="1"/>
          <p:nvPr/>
        </p:nvSpPr>
        <p:spPr>
          <a:xfrm>
            <a:off x="1325880" y="2377440"/>
            <a:ext cx="7315200" cy="365760"/>
          </a:xfrm>
          <a:prstGeom prst="rect">
            <a:avLst/>
          </a:prstGeom>
          <a:noFill/>
          <a:ln/>
        </p:spPr>
        <p:txBody>
          <a:bodyPr wrap="square" lIns="0" tIns="0" rIns="0" bIns="0" rtlCol="0" anchor="ctr"/>
          <a:lstStyle/>
          <a:p>
            <a:pPr indent="0" marL="0">
              <a:buNone/>
            </a:pPr>
            <a:r>
              <a:rPr lang="en-US" sz="1600" b="1" dirty="0">
                <a:solidFill>
                  <a:schemeClr val="tx2"/>
                </a:solidFill>
              </a:rPr>
              <a:t>38 632 diffusions refusées par API Gateway</a:t>
            </a:r>
            <a:endParaRPr lang="en-US" sz="1600" dirty="0"/>
          </a:p>
        </p:txBody>
      </p:sp>
      <p:sp>
        <p:nvSpPr>
          <p:cNvPr id="11" name="Text 7"/>
          <p:cNvSpPr txBox="1"/>
          <p:nvPr/>
        </p:nvSpPr>
        <p:spPr>
          <a:xfrm>
            <a:off x="1325880" y="2761488"/>
            <a:ext cx="7315200" cy="640080"/>
          </a:xfrm>
          <a:prstGeom prst="rect">
            <a:avLst/>
          </a:prstGeom>
          <a:noFill/>
          <a:ln/>
        </p:spPr>
        <p:txBody>
          <a:bodyPr wrap="square" lIns="0" tIns="0" rIns="0" bIns="0" rtlCol="0" anchor="t"/>
          <a:lstStyle/>
          <a:p>
            <a:pPr indent="0" marL="0">
              <a:buNone/>
            </a:pPr>
            <a:r>
              <a:rPr lang="en-US" sz="1300" dirty="0">
                <a:solidFill>
                  <a:schemeClr val="tx1"/>
                </a:solidFill>
              </a:rPr>
              <a:t>Limite de l'étage relevée à 5 000 messages/s, nouvel essai avec délai aléatoire, rattrapage par le navigateur toutes les 15 s.</a:t>
            </a:r>
            <a:endParaRPr lang="en-US" sz="1300" dirty="0"/>
          </a:p>
        </p:txBody>
      </p:sp>
      <p:sp>
        <p:nvSpPr>
          <p:cNvPr id="12" name="difficulté 2 cercle"/>
          <p:cNvSpPr/>
          <p:nvPr/>
        </p:nvSpPr>
        <p:spPr>
          <a:xfrm>
            <a:off x="457200" y="3566160"/>
            <a:ext cx="640080" cy="640080"/>
          </a:xfrm>
          <a:prstGeom prst="ellipse">
            <a:avLst/>
          </a:prstGeom>
          <a:solidFill>
            <a:schemeClr val="accent3"/>
          </a:solidFill>
          <a:ln w="12700">
            <a:solidFill>
              <a:schemeClr val="accent3"/>
            </a:solidFill>
            <a:prstDash val="solid"/>
          </a:ln>
        </p:spPr>
      </p:sp>
      <p:pic>
        <p:nvPicPr>
          <p:cNvPr id="13" name="difficulté 2 icône" descr="preencoded.png">    </p:cNvPr>
          <p:cNvPicPr>
            <a:picLocks noChangeAspect="1"/>
          </p:cNvPicPr>
          <p:nvPr/>
        </p:nvPicPr>
        <p:blipFill>
          <a:blip r:embed="rId3"/>
          <a:stretch>
            <a:fillRect/>
          </a:stretch>
        </p:blipFill>
        <p:spPr>
          <a:xfrm>
            <a:off x="610819" y="3719779"/>
            <a:ext cx="332842" cy="332842"/>
          </a:xfrm>
          <a:prstGeom prst="rect">
            <a:avLst/>
          </a:prstGeom>
        </p:spPr>
      </p:pic>
      <p:sp>
        <p:nvSpPr>
          <p:cNvPr id="14" name="Text 9"/>
          <p:cNvSpPr txBox="1"/>
          <p:nvPr/>
        </p:nvSpPr>
        <p:spPr>
          <a:xfrm>
            <a:off x="1325880" y="3474720"/>
            <a:ext cx="7315200" cy="365760"/>
          </a:xfrm>
          <a:prstGeom prst="rect">
            <a:avLst/>
          </a:prstGeom>
          <a:noFill/>
          <a:ln/>
        </p:spPr>
        <p:txBody>
          <a:bodyPr wrap="square" lIns="0" tIns="0" rIns="0" bIns="0" rtlCol="0" anchor="ctr"/>
          <a:lstStyle/>
          <a:p>
            <a:pPr indent="0" marL="0">
              <a:buNone/>
            </a:pPr>
            <a:r>
              <a:rPr lang="en-US" sz="1600" b="1" dirty="0">
                <a:solidFill>
                  <a:schemeClr val="tx2"/>
                </a:solidFill>
              </a:rPr>
              <a:t>E-mails jamais reçus avec SES</a:t>
            </a:r>
            <a:endParaRPr lang="en-US" sz="1600" dirty="0"/>
          </a:p>
        </p:txBody>
      </p:sp>
      <p:sp>
        <p:nvSpPr>
          <p:cNvPr id="15" name="Text 10"/>
          <p:cNvSpPr txBox="1"/>
          <p:nvPr/>
        </p:nvSpPr>
        <p:spPr>
          <a:xfrm>
            <a:off x="1325880" y="3858768"/>
            <a:ext cx="7315200" cy="640080"/>
          </a:xfrm>
          <a:prstGeom prst="rect">
            <a:avLst/>
          </a:prstGeom>
          <a:noFill/>
          <a:ln/>
        </p:spPr>
        <p:txBody>
          <a:bodyPr wrap="square" lIns="0" tIns="0" rIns="0" bIns="0" rtlCol="0" anchor="t"/>
          <a:lstStyle/>
          <a:p>
            <a:pPr indent="0" marL="0">
              <a:buNone/>
            </a:pPr>
            <a:r>
              <a:rPr lang="en-US" sz="1300" dirty="0">
                <a:solidFill>
                  <a:schemeClr val="tx1"/>
                </a:solidFill>
              </a:rPr>
              <a:t>Sandbox SES et contrôle DMARC de Gmail, visibles dans CloudWatch. Passage à SNS : toute adresse, une confirmation unique.</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body" hasCustomPrompt="1"/>
          </p:nvPr>
        </p:nvSpPr>
        <p:spPr>
          <a:xfrm>
            <a:off x="457200" y="201168"/>
            <a:ext cx="8229600" cy="274320"/>
          </a:xfrm>
          <a:prstGeom prst="rect">
            <a:avLst/>
          </a:prstGeom>
          <a:noFill/>
          <a:ln/>
        </p:spPr>
        <p:txBody>
          <a:bodyPr wrap="square" rtlCol="0" anchor="ctr"/>
          <a:lstStyle/>
          <a:p>
            <a:pPr indent="0" marL="0">
              <a:buNone/>
            </a:pPr>
            <a:r>
              <a:rPr lang="en-US" sz="1100" b="1" dirty="0">
                <a:solidFill>
                  <a:schemeClr val="accent1"/>
                </a:solidFill>
              </a:rPr>
              <a:t>04 · RÉSULTATS ET BILAN</a:t>
            </a:r>
            <a:endParaRPr lang="en-US" sz="1100" dirty="0"/>
          </a:p>
        </p:txBody>
      </p:sp>
      <p:sp>
        <p:nvSpPr>
          <p:cNvPr id="3" name="Text 1"/>
          <p:cNvSpPr/>
          <p:nvPr>
            <p:ph idx="102" type="title" hasCustomPrompt="1"/>
          </p:nvPr>
        </p:nvSpPr>
        <p:spPr>
          <a:xfrm>
            <a:off x="457200" y="457200"/>
            <a:ext cx="8229600" cy="640080"/>
          </a:xfrm>
          <a:prstGeom prst="rect">
            <a:avLst/>
          </a:prstGeom>
          <a:noFill/>
          <a:ln/>
        </p:spPr>
        <p:txBody>
          <a:bodyPr wrap="square" rtlCol="0" anchor="ctr"/>
          <a:lstStyle/>
          <a:p>
            <a:pPr indent="0" marL="0">
              <a:buNone/>
            </a:pPr>
            <a:r>
              <a:rPr lang="en-US" sz="2600" b="1" dirty="0">
                <a:solidFill>
                  <a:schemeClr val="tx2"/>
                </a:solidFill>
                <a:latin typeface="Cambria" pitchFamily="34" charset="0"/>
                <a:ea typeface="Cambria" pitchFamily="34" charset="-122"/>
                <a:cs typeface="Cambria" pitchFamily="34" charset="-120"/>
              </a:rPr>
              <a:t>Le coût réel : quelques dollars de crédits, rien au repos</a:t>
            </a:r>
            <a:endParaRPr lang="en-US" sz="2600" dirty="0"/>
          </a:p>
        </p:txBody>
      </p:sp>
      <p:sp>
        <p:nvSpPr>
          <p:cNvPr id="4" name="coût total"/>
          <p:cNvSpPr/>
          <p:nvPr/>
        </p:nvSpPr>
        <p:spPr>
          <a:xfrm>
            <a:off x="457200" y="1280160"/>
            <a:ext cx="2926080" cy="3200400"/>
          </a:xfrm>
          <a:prstGeom prst="roundRect">
            <a:avLst>
              <a:gd name="adj" fmla="val 3125"/>
            </a:avLst>
          </a:prstGeom>
          <a:solidFill>
            <a:schemeClr val="tx2"/>
          </a:solidFill>
          <a:ln w="12700">
            <a:solidFill>
              <a:schemeClr val="tx2"/>
            </a:solidFill>
            <a:prstDash val="solid"/>
          </a:ln>
        </p:spPr>
      </p:sp>
      <p:sp>
        <p:nvSpPr>
          <p:cNvPr id="5" name="Text 3"/>
          <p:cNvSpPr txBox="1"/>
          <p:nvPr/>
        </p:nvSpPr>
        <p:spPr>
          <a:xfrm>
            <a:off x="640080" y="1600200"/>
            <a:ext cx="2560320" cy="91440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 4,50 $</a:t>
            </a:r>
            <a:endParaRPr lang="en-US" sz="4400" dirty="0"/>
          </a:p>
        </p:txBody>
      </p:sp>
      <p:sp>
        <p:nvSpPr>
          <p:cNvPr id="6" name="Text 4"/>
          <p:cNvSpPr txBox="1"/>
          <p:nvPr/>
        </p:nvSpPr>
        <p:spPr>
          <a:xfrm>
            <a:off x="640080" y="2560320"/>
            <a:ext cx="2560320" cy="731520"/>
          </a:xfrm>
          <a:prstGeom prst="rect">
            <a:avLst/>
          </a:prstGeom>
          <a:noFill/>
          <a:ln/>
        </p:spPr>
        <p:txBody>
          <a:bodyPr wrap="square" lIns="0" tIns="0" rIns="0" bIns="0" rtlCol="0" anchor="t"/>
          <a:lstStyle/>
          <a:p>
            <a:pPr indent="0" marL="0">
              <a:buNone/>
            </a:pPr>
            <a:r>
              <a:rPr lang="en-US" sz="1400" dirty="0">
                <a:solidFill>
                  <a:schemeClr val="bg1"/>
                </a:solidFill>
              </a:rPr>
              <a:t>de crédits pour tout le projet : 3 pics, tests, déploiements</a:t>
            </a:r>
            <a:endParaRPr lang="en-US" sz="1400" dirty="0"/>
          </a:p>
        </p:txBody>
      </p:sp>
      <p:sp>
        <p:nvSpPr>
          <p:cNvPr id="7" name="Text 5"/>
          <p:cNvSpPr txBox="1"/>
          <p:nvPr/>
        </p:nvSpPr>
        <p:spPr>
          <a:xfrm>
            <a:off x="640080" y="3474720"/>
            <a:ext cx="2560320" cy="548640"/>
          </a:xfrm>
          <a:prstGeom prst="rect">
            <a:avLst/>
          </a:prstGeom>
          <a:noFill/>
          <a:ln/>
        </p:spPr>
        <p:txBody>
          <a:bodyPr wrap="square" lIns="0" tIns="0" rIns="0" bIns="0" rtlCol="0" anchor="ctr"/>
          <a:lstStyle/>
          <a:p>
            <a:pPr indent="0" marL="0">
              <a:buNone/>
            </a:pPr>
            <a:r>
              <a:rPr lang="en-US" sz="2600" b="1" dirty="0">
                <a:solidFill>
                  <a:schemeClr val="bg1"/>
                </a:solidFill>
                <a:latin typeface="Cambria" pitchFamily="34" charset="0"/>
                <a:ea typeface="Cambria" pitchFamily="34" charset="-122"/>
                <a:cs typeface="Cambria" pitchFamily="34" charset="-120"/>
              </a:rPr>
              <a:t>0 $ payé</a:t>
            </a:r>
            <a:endParaRPr lang="en-US" sz="2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3657600" y="1280160"/>
          <a:ext cx="5029200" cy="914400"/>
        </p:xfrm>
        <a:graphic>
          <a:graphicData uri="http://schemas.openxmlformats.org/drawingml/2006/table">
            <a:tbl>
              <a:tblPr/>
              <a:tblGrid>
                <a:gridCol w="1737360"/>
                <a:gridCol w="2377440"/>
                <a:gridCol w="914400"/>
              </a:tblGrid>
              <a:tr h="502920">
                <a:tc>
                  <a:txBody>
                    <a:bodyPr/>
                    <a:lstStyle/>
                    <a:p>
                      <a:pPr indent="0" marL="0">
                        <a:buNone/>
                      </a:pPr>
                      <a:r>
                        <a:rPr lang="en-US" sz="1200" b="1" dirty="0">
                          <a:solidFill>
                            <a:schemeClr val="bg1"/>
                          </a:solidFill>
                        </a:rPr>
                        <a:t>Poste</a:t>
                      </a:r>
                      <a:endParaRPr lang="en-US" sz="1200" dirty="0"/>
                    </a:p>
                  </a:txBody>
                  <a:tcPr marL="91440" marR="91440" marT="45720" marB="45720">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Volume mesuré</a:t>
                      </a:r>
                      <a:endParaRPr lang="en-US" sz="1200" dirty="0"/>
                    </a:p>
                  </a:txBody>
                  <a:tcPr marL="91440" marR="91440" marT="45720" marB="45720">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Coût</a:t>
                      </a:r>
                      <a:endParaRPr lang="en-US" sz="1200" dirty="0"/>
                    </a:p>
                  </a:txBody>
                  <a:tcPr marL="91440" marR="91440" marT="45720" marB="45720">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tx2"/>
                    </a:solidFill>
                  </a:tcPr>
                </a:tc>
              </a:tr>
              <a:tr h="502920">
                <a:tc>
                  <a:txBody>
                    <a:bodyPr/>
                    <a:lstStyle/>
                    <a:p>
                      <a:pPr indent="0" marL="0">
                        <a:buNone/>
                      </a:pPr>
                      <a:r>
                        <a:rPr lang="en-US" sz="1200" dirty="0">
                          <a:solidFill>
                            <a:schemeClr val="tx1"/>
                          </a:solidFill>
                        </a:rPr>
                        <a:t>Un pic complet</a:t>
                      </a:r>
                      <a:endParaRPr lang="en-US" sz="1200" dirty="0"/>
                    </a:p>
                  </a:txBody>
                  <a:tcPr marL="91440" marR="91440" marT="45720" marB="45720">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786 447 messages, 116 368 requêtes</a:t>
                      </a:r>
                      <a:endParaRPr lang="en-US" sz="1200" dirty="0"/>
                    </a:p>
                  </a:txBody>
                  <a:tcPr marL="91440" marR="91440" marT="45720" marB="45720">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 1,30 $</a:t>
                      </a:r>
                      <a:endParaRPr lang="en-US" sz="1200" dirty="0"/>
                    </a:p>
                  </a:txBody>
                  <a:tcPr marL="91440" marR="91440" marT="45720" marB="45720">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r>
              <a:tr h="502920">
                <a:tc>
                  <a:txBody>
                    <a:bodyPr/>
                    <a:lstStyle/>
                    <a:p>
                      <a:pPr indent="0" marL="0">
                        <a:buNone/>
                      </a:pPr>
                      <a:r>
                        <a:rPr lang="en-US" sz="1200" dirty="0">
                          <a:solidFill>
                            <a:schemeClr val="tx1"/>
                          </a:solidFill>
                        </a:rPr>
                        <a:t>Machine de test</a:t>
                      </a:r>
                      <a:endParaRPr lang="en-US" sz="1200" dirty="0"/>
                    </a:p>
                  </a:txBody>
                  <a:tcPr marL="91440" marR="91440" marT="45720" marB="45720">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 1 h de m7i-flex.large</a:t>
                      </a:r>
                      <a:endParaRPr lang="en-US" sz="1200" dirty="0"/>
                    </a:p>
                  </a:txBody>
                  <a:tcPr marL="91440" marR="91440" marT="45720" marB="45720">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 0,10 $</a:t>
                      </a:r>
                      <a:endParaRPr lang="en-US" sz="1200" dirty="0"/>
                    </a:p>
                  </a:txBody>
                  <a:tcPr marL="91440" marR="91440" marT="45720" marB="45720">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r>
              <a:tr h="502920">
                <a:tc>
                  <a:txBody>
                    <a:bodyPr/>
                    <a:lstStyle/>
                    <a:p>
                      <a:pPr indent="0" marL="0">
                        <a:buNone/>
                      </a:pPr>
                      <a:r>
                        <a:rPr lang="en-US" sz="1200" dirty="0">
                          <a:solidFill>
                            <a:schemeClr val="tx1"/>
                          </a:solidFill>
                        </a:rPr>
                        <a:t>Lambda, CloudFront, S3, SNS, SSM</a:t>
                      </a:r>
                      <a:endParaRPr lang="en-US" sz="1200" dirty="0"/>
                    </a:p>
                  </a:txBody>
                  <a:tcPr marL="91440" marR="91440" marT="45720" marB="45720">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niveaux toujours gratuits</a:t>
                      </a:r>
                      <a:endParaRPr lang="en-US" sz="1200" dirty="0"/>
                    </a:p>
                  </a:txBody>
                  <a:tcPr marL="91440" marR="91440" marT="45720" marB="45720">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 0 $</a:t>
                      </a:r>
                      <a:endParaRPr lang="en-US" sz="1200" dirty="0"/>
                    </a:p>
                  </a:txBody>
                  <a:tcPr marL="91440" marR="91440" marT="45720" marB="45720">
                    <a:lnL w="9525" cap="flat" cmpd="sng" algn="ctr">
                      <a:solidFill>
                        <a:srgbClr val="EEF2F6"/>
                      </a:solidFill>
                      <a:prstDash val="solid"/>
                      <a:round/>
                      <a:headEnd type="none" w="med" len="med"/>
                      <a:tailEnd type="none" w="med" len="med"/>
                    </a:lnL>
                    <a:lnR w="9525" cap="flat" cmpd="sng" algn="ctr">
                      <a:solidFill>
                        <a:srgbClr val="EEF2F6"/>
                      </a:solidFill>
                      <a:prstDash val="solid"/>
                      <a:round/>
                      <a:headEnd type="none" w="med" len="med"/>
                      <a:tailEnd type="none" w="med" len="med"/>
                    </a:lnR>
                    <a:lnT w="9525" cap="flat" cmpd="sng" algn="ctr">
                      <a:solidFill>
                        <a:srgbClr val="EEF2F6"/>
                      </a:solidFill>
                      <a:prstDash val="solid"/>
                      <a:round/>
                      <a:headEnd type="none" w="med" len="med"/>
                      <a:tailEnd type="none" w="med" len="med"/>
                    </a:lnT>
                    <a:lnB w="9525" cap="flat" cmpd="sng" algn="ctr">
                      <a:solidFill>
                        <a:srgbClr val="EEF2F6"/>
                      </a:solidFill>
                      <a:prstDash val="solid"/>
                      <a:round/>
                      <a:headEnd type="none" w="med" len="med"/>
                      <a:tailEnd type="none" w="med" len="med"/>
                    </a:lnB>
                    <a:solidFill>
                      <a:schemeClr val="bg1"/>
                    </a:solidFill>
                  </a:tcPr>
                </a:tc>
              </a:tr>
            </a:tbl>
          </a:graphicData>
        </a:graphic>
      </p:graphicFrame>
      <p:sp>
        <p:nvSpPr>
          <p:cNvPr id="9" name="Text 6"/>
          <p:cNvSpPr txBox="1"/>
          <p:nvPr/>
        </p:nvSpPr>
        <p:spPr>
          <a:xfrm>
            <a:off x="3657600" y="3657600"/>
            <a:ext cx="5029200" cy="731520"/>
          </a:xfrm>
          <a:prstGeom prst="rect">
            <a:avLst/>
          </a:prstGeom>
          <a:noFill/>
          <a:ln/>
        </p:spPr>
        <p:txBody>
          <a:bodyPr wrap="square" lIns="0" tIns="0" rIns="0" bIns="0" rtlCol="0" anchor="t"/>
          <a:lstStyle/>
          <a:p>
            <a:pPr indent="0" marL="0">
              <a:buNone/>
            </a:pPr>
            <a:r>
              <a:rPr lang="en-US" sz="1300" i="1" dirty="0">
                <a:solidFill>
                  <a:schemeClr val="accent3"/>
                </a:solidFill>
              </a:rPr>
              <a:t>Preuves : prix officiels de la région, volumes mesurés, Cost Explorer filtré sur l'étiquette project=collabdoc.</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body" hasCustomPrompt="1"/>
          </p:nvPr>
        </p:nvSpPr>
        <p:spPr>
          <a:xfrm>
            <a:off x="457200" y="201168"/>
            <a:ext cx="8229600" cy="274320"/>
          </a:xfrm>
          <a:prstGeom prst="rect">
            <a:avLst/>
          </a:prstGeom>
          <a:noFill/>
          <a:ln/>
        </p:spPr>
        <p:txBody>
          <a:bodyPr wrap="square" rtlCol="0" anchor="ctr"/>
          <a:lstStyle/>
          <a:p>
            <a:pPr indent="0" marL="0">
              <a:buNone/>
            </a:pPr>
            <a:r>
              <a:rPr lang="en-US" sz="1100" b="1" dirty="0">
                <a:solidFill>
                  <a:schemeClr val="accent1"/>
                </a:solidFill>
              </a:rPr>
              <a:t>04 · RÉSULTATS ET BILAN</a:t>
            </a:r>
            <a:endParaRPr lang="en-US" sz="1100" dirty="0"/>
          </a:p>
        </p:txBody>
      </p:sp>
      <p:sp>
        <p:nvSpPr>
          <p:cNvPr id="3" name="Text 1"/>
          <p:cNvSpPr/>
          <p:nvPr>
            <p:ph idx="102" type="title" hasCustomPrompt="1"/>
          </p:nvPr>
        </p:nvSpPr>
        <p:spPr>
          <a:xfrm>
            <a:off x="457200" y="457200"/>
            <a:ext cx="8229600" cy="640080"/>
          </a:xfrm>
          <a:prstGeom prst="rect">
            <a:avLst/>
          </a:prstGeom>
          <a:noFill/>
          <a:ln/>
        </p:spPr>
        <p:txBody>
          <a:bodyPr wrap="square" rtlCol="0" anchor="ctr"/>
          <a:lstStyle/>
          <a:p>
            <a:pPr indent="0" marL="0">
              <a:buNone/>
            </a:pPr>
            <a:r>
              <a:rPr lang="en-US" sz="2600" b="1" dirty="0">
                <a:solidFill>
                  <a:schemeClr val="tx2"/>
                </a:solidFill>
                <a:latin typeface="Cambria" pitchFamily="34" charset="0"/>
                <a:ea typeface="Cambria" pitchFamily="34" charset="-122"/>
                <a:cs typeface="Cambria" pitchFamily="34" charset="-120"/>
              </a:rPr>
              <a:t>Bilan : les six contraintes tenues, des évolutions identifiées</a:t>
            </a:r>
            <a:endParaRPr lang="en-US" sz="2600" dirty="0"/>
          </a:p>
        </p:txBody>
      </p:sp>
      <p:sp>
        <p:nvSpPr>
          <p:cNvPr id="4" name="atteint"/>
          <p:cNvSpPr/>
          <p:nvPr/>
        </p:nvSpPr>
        <p:spPr>
          <a:xfrm>
            <a:off x="457200" y="1280160"/>
            <a:ext cx="3657600" cy="3200400"/>
          </a:xfrm>
          <a:prstGeom prst="roundRect">
            <a:avLst>
              <a:gd name="adj" fmla="val 2857"/>
            </a:avLst>
          </a:prstGeom>
          <a:solidFill>
            <a:schemeClr val="bg2"/>
          </a:solidFill>
          <a:ln w="12700">
            <a:solidFill>
              <a:schemeClr val="bg2"/>
            </a:solidFill>
            <a:prstDash val="solid"/>
          </a:ln>
        </p:spPr>
      </p:sp>
      <p:sp>
        <p:nvSpPr>
          <p:cNvPr id="5" name="Text 3"/>
          <p:cNvSpPr txBox="1"/>
          <p:nvPr/>
        </p:nvSpPr>
        <p:spPr>
          <a:xfrm>
            <a:off x="640080" y="1417320"/>
            <a:ext cx="3291840" cy="365760"/>
          </a:xfrm>
          <a:prstGeom prst="rect">
            <a:avLst/>
          </a:prstGeom>
          <a:noFill/>
          <a:ln/>
        </p:spPr>
        <p:txBody>
          <a:bodyPr wrap="square" lIns="0" tIns="0" rIns="0" bIns="0" rtlCol="0" anchor="ctr"/>
          <a:lstStyle/>
          <a:p>
            <a:pPr indent="0" marL="0">
              <a:buNone/>
            </a:pPr>
            <a:r>
              <a:rPr lang="en-US" sz="1500" b="1" dirty="0">
                <a:solidFill>
                  <a:schemeClr val="accent2"/>
                </a:solidFill>
              </a:rPr>
              <a:t>Objectifs atteints</a:t>
            </a:r>
            <a:endParaRPr lang="en-US" sz="1500" dirty="0"/>
          </a:p>
        </p:txBody>
      </p:sp>
      <p:sp>
        <p:nvSpPr>
          <p:cNvPr id="6" name="atteint 0 cercle"/>
          <p:cNvSpPr/>
          <p:nvPr/>
        </p:nvSpPr>
        <p:spPr>
          <a:xfrm>
            <a:off x="640080" y="1920240"/>
            <a:ext cx="292608" cy="292608"/>
          </a:xfrm>
          <a:prstGeom prst="ellipse">
            <a:avLst/>
          </a:prstGeom>
          <a:solidFill>
            <a:schemeClr val="accent2"/>
          </a:solidFill>
          <a:ln w="12700">
            <a:solidFill>
              <a:schemeClr val="accent2"/>
            </a:solidFill>
            <a:prstDash val="solid"/>
          </a:ln>
        </p:spPr>
      </p:sp>
      <p:pic>
        <p:nvPicPr>
          <p:cNvPr id="7" name="atteint 0 icône" descr="preencoded.png">    </p:cNvPr>
          <p:cNvPicPr>
            <a:picLocks noChangeAspect="1"/>
          </p:cNvPicPr>
          <p:nvPr/>
        </p:nvPicPr>
        <p:blipFill>
          <a:blip r:embed="rId1"/>
          <a:stretch>
            <a:fillRect/>
          </a:stretch>
        </p:blipFill>
        <p:spPr>
          <a:xfrm>
            <a:off x="710306" y="1990466"/>
            <a:ext cx="152156" cy="152156"/>
          </a:xfrm>
          <a:prstGeom prst="rect">
            <a:avLst/>
          </a:prstGeom>
        </p:spPr>
      </p:pic>
      <p:sp>
        <p:nvSpPr>
          <p:cNvPr id="8" name="Text 5"/>
          <p:cNvSpPr txBox="1"/>
          <p:nvPr/>
        </p:nvSpPr>
        <p:spPr>
          <a:xfrm>
            <a:off x="1051560" y="1874520"/>
            <a:ext cx="2926080" cy="384048"/>
          </a:xfrm>
          <a:prstGeom prst="rect">
            <a:avLst/>
          </a:prstGeom>
          <a:noFill/>
          <a:ln/>
        </p:spPr>
        <p:txBody>
          <a:bodyPr wrap="square" lIns="0" tIns="0" rIns="0" bIns="0" rtlCol="0" anchor="ctr"/>
          <a:lstStyle/>
          <a:p>
            <a:pPr indent="0" marL="0">
              <a:buNone/>
            </a:pPr>
            <a:r>
              <a:rPr lang="en-US" sz="1200" dirty="0">
                <a:solidFill>
                  <a:schemeClr val="tx1"/>
                </a:solidFill>
              </a:rPr>
              <a:t>C1 à C6 prouvées par des tests</a:t>
            </a:r>
            <a:endParaRPr lang="en-US" sz="1200" dirty="0"/>
          </a:p>
        </p:txBody>
      </p:sp>
      <p:sp>
        <p:nvSpPr>
          <p:cNvPr id="9" name="atteint 1 cercle"/>
          <p:cNvSpPr/>
          <p:nvPr/>
        </p:nvSpPr>
        <p:spPr>
          <a:xfrm>
            <a:off x="640080" y="2423160"/>
            <a:ext cx="292608" cy="292608"/>
          </a:xfrm>
          <a:prstGeom prst="ellipse">
            <a:avLst/>
          </a:prstGeom>
          <a:solidFill>
            <a:schemeClr val="accent2"/>
          </a:solidFill>
          <a:ln w="12700">
            <a:solidFill>
              <a:schemeClr val="accent2"/>
            </a:solidFill>
            <a:prstDash val="solid"/>
          </a:ln>
        </p:spPr>
      </p:sp>
      <p:pic>
        <p:nvPicPr>
          <p:cNvPr id="10" name="atteint 1 icône" descr="preencoded.png">    </p:cNvPr>
          <p:cNvPicPr>
            <a:picLocks noChangeAspect="1"/>
          </p:cNvPicPr>
          <p:nvPr/>
        </p:nvPicPr>
        <p:blipFill>
          <a:blip r:embed="rId2"/>
          <a:stretch>
            <a:fillRect/>
          </a:stretch>
        </p:blipFill>
        <p:spPr>
          <a:xfrm>
            <a:off x="710306" y="2493386"/>
            <a:ext cx="152156" cy="152156"/>
          </a:xfrm>
          <a:prstGeom prst="rect">
            <a:avLst/>
          </a:prstGeom>
        </p:spPr>
      </p:pic>
      <p:sp>
        <p:nvSpPr>
          <p:cNvPr id="11" name="Text 7"/>
          <p:cNvSpPr txBox="1"/>
          <p:nvPr/>
        </p:nvSpPr>
        <p:spPr>
          <a:xfrm>
            <a:off x="1051560" y="2377440"/>
            <a:ext cx="2926080" cy="384048"/>
          </a:xfrm>
          <a:prstGeom prst="rect">
            <a:avLst/>
          </a:prstGeom>
          <a:noFill/>
          <a:ln/>
        </p:spPr>
        <p:txBody>
          <a:bodyPr wrap="square" lIns="0" tIns="0" rIns="0" bIns="0" rtlCol="0" anchor="ctr"/>
          <a:lstStyle/>
          <a:p>
            <a:pPr indent="0" marL="0">
              <a:buNone/>
            </a:pPr>
            <a:r>
              <a:rPr lang="en-US" sz="1200" dirty="0">
                <a:solidFill>
                  <a:schemeClr val="tx1"/>
                </a:solidFill>
              </a:rPr>
              <a:t>Pic de 15 000 visiteurs tenu sans erreur</a:t>
            </a:r>
            <a:endParaRPr lang="en-US" sz="1200" dirty="0"/>
          </a:p>
        </p:txBody>
      </p:sp>
      <p:sp>
        <p:nvSpPr>
          <p:cNvPr id="12" name="atteint 2 cercle"/>
          <p:cNvSpPr/>
          <p:nvPr/>
        </p:nvSpPr>
        <p:spPr>
          <a:xfrm>
            <a:off x="640080" y="2926080"/>
            <a:ext cx="292608" cy="292608"/>
          </a:xfrm>
          <a:prstGeom prst="ellipse">
            <a:avLst/>
          </a:prstGeom>
          <a:solidFill>
            <a:schemeClr val="accent2"/>
          </a:solidFill>
          <a:ln w="12700">
            <a:solidFill>
              <a:schemeClr val="accent2"/>
            </a:solidFill>
            <a:prstDash val="solid"/>
          </a:ln>
        </p:spPr>
      </p:sp>
      <p:pic>
        <p:nvPicPr>
          <p:cNvPr id="13" name="atteint 2 icône" descr="preencoded.png">    </p:cNvPr>
          <p:cNvPicPr>
            <a:picLocks noChangeAspect="1"/>
          </p:cNvPicPr>
          <p:nvPr/>
        </p:nvPicPr>
        <p:blipFill>
          <a:blip r:embed="rId3"/>
          <a:stretch>
            <a:fillRect/>
          </a:stretch>
        </p:blipFill>
        <p:spPr>
          <a:xfrm>
            <a:off x="710306" y="2996306"/>
            <a:ext cx="152156" cy="152156"/>
          </a:xfrm>
          <a:prstGeom prst="rect">
            <a:avLst/>
          </a:prstGeom>
        </p:spPr>
      </p:pic>
      <p:sp>
        <p:nvSpPr>
          <p:cNvPr id="14" name="Text 9"/>
          <p:cNvSpPr txBox="1"/>
          <p:nvPr/>
        </p:nvSpPr>
        <p:spPr>
          <a:xfrm>
            <a:off x="1051560" y="2880360"/>
            <a:ext cx="2926080" cy="384048"/>
          </a:xfrm>
          <a:prstGeom prst="rect">
            <a:avLst/>
          </a:prstGeom>
          <a:noFill/>
          <a:ln/>
        </p:spPr>
        <p:txBody>
          <a:bodyPr wrap="square" lIns="0" tIns="0" rIns="0" bIns="0" rtlCol="0" anchor="ctr"/>
          <a:lstStyle/>
          <a:p>
            <a:pPr indent="0" marL="0">
              <a:buNone/>
            </a:pPr>
            <a:r>
              <a:rPr lang="en-US" sz="1200" dirty="0">
                <a:solidFill>
                  <a:schemeClr val="tx1"/>
                </a:solidFill>
              </a:rPr>
              <a:t>Aucune clé, moindre privilège vérifié</a:t>
            </a:r>
            <a:endParaRPr lang="en-US" sz="1200" dirty="0"/>
          </a:p>
        </p:txBody>
      </p:sp>
      <p:sp>
        <p:nvSpPr>
          <p:cNvPr id="15" name="atteint 3 cercle"/>
          <p:cNvSpPr/>
          <p:nvPr/>
        </p:nvSpPr>
        <p:spPr>
          <a:xfrm>
            <a:off x="640080" y="3429000"/>
            <a:ext cx="292608" cy="292608"/>
          </a:xfrm>
          <a:prstGeom prst="ellipse">
            <a:avLst/>
          </a:prstGeom>
          <a:solidFill>
            <a:schemeClr val="accent2"/>
          </a:solidFill>
          <a:ln w="12700">
            <a:solidFill>
              <a:schemeClr val="accent2"/>
            </a:solidFill>
            <a:prstDash val="solid"/>
          </a:ln>
        </p:spPr>
      </p:sp>
      <p:pic>
        <p:nvPicPr>
          <p:cNvPr id="16" name="atteint 3 icône" descr="preencoded.png">    </p:cNvPr>
          <p:cNvPicPr>
            <a:picLocks noChangeAspect="1"/>
          </p:cNvPicPr>
          <p:nvPr/>
        </p:nvPicPr>
        <p:blipFill>
          <a:blip r:embed="rId4"/>
          <a:stretch>
            <a:fillRect/>
          </a:stretch>
        </p:blipFill>
        <p:spPr>
          <a:xfrm>
            <a:off x="710306" y="3499226"/>
            <a:ext cx="152156" cy="152156"/>
          </a:xfrm>
          <a:prstGeom prst="rect">
            <a:avLst/>
          </a:prstGeom>
        </p:spPr>
      </p:pic>
      <p:sp>
        <p:nvSpPr>
          <p:cNvPr id="17" name="Text 11"/>
          <p:cNvSpPr txBox="1"/>
          <p:nvPr/>
        </p:nvSpPr>
        <p:spPr>
          <a:xfrm>
            <a:off x="1051560" y="3383280"/>
            <a:ext cx="2926080" cy="384048"/>
          </a:xfrm>
          <a:prstGeom prst="rect">
            <a:avLst/>
          </a:prstGeom>
          <a:noFill/>
          <a:ln/>
        </p:spPr>
        <p:txBody>
          <a:bodyPr wrap="square" lIns="0" tIns="0" rIns="0" bIns="0" rtlCol="0" anchor="ctr"/>
          <a:lstStyle/>
          <a:p>
            <a:pPr indent="0" marL="0">
              <a:buNone/>
            </a:pPr>
            <a:r>
              <a:rPr lang="en-US" sz="1200" dirty="0">
                <a:solidFill>
                  <a:schemeClr val="tx1"/>
                </a:solidFill>
              </a:rPr>
              <a:t>Déployer, tester, supprimer par script</a:t>
            </a:r>
            <a:endParaRPr lang="en-US" sz="1200" dirty="0"/>
          </a:p>
        </p:txBody>
      </p:sp>
      <p:sp>
        <p:nvSpPr>
          <p:cNvPr id="18" name="atteint 4 cercle"/>
          <p:cNvSpPr/>
          <p:nvPr/>
        </p:nvSpPr>
        <p:spPr>
          <a:xfrm>
            <a:off x="640080" y="3931920"/>
            <a:ext cx="292608" cy="292608"/>
          </a:xfrm>
          <a:prstGeom prst="ellipse">
            <a:avLst/>
          </a:prstGeom>
          <a:solidFill>
            <a:schemeClr val="accent2"/>
          </a:solidFill>
          <a:ln w="12700">
            <a:solidFill>
              <a:schemeClr val="accent2"/>
            </a:solidFill>
            <a:prstDash val="solid"/>
          </a:ln>
        </p:spPr>
      </p:sp>
      <p:pic>
        <p:nvPicPr>
          <p:cNvPr id="19" name="atteint 4 icône" descr="preencoded.png">    </p:cNvPr>
          <p:cNvPicPr>
            <a:picLocks noChangeAspect="1"/>
          </p:cNvPicPr>
          <p:nvPr/>
        </p:nvPicPr>
        <p:blipFill>
          <a:blip r:embed="rId5"/>
          <a:stretch>
            <a:fillRect/>
          </a:stretch>
        </p:blipFill>
        <p:spPr>
          <a:xfrm>
            <a:off x="710306" y="4002146"/>
            <a:ext cx="152156" cy="152156"/>
          </a:xfrm>
          <a:prstGeom prst="rect">
            <a:avLst/>
          </a:prstGeom>
        </p:spPr>
      </p:pic>
      <p:sp>
        <p:nvSpPr>
          <p:cNvPr id="20" name="Text 13"/>
          <p:cNvSpPr txBox="1"/>
          <p:nvPr/>
        </p:nvSpPr>
        <p:spPr>
          <a:xfrm>
            <a:off x="1051560" y="3886200"/>
            <a:ext cx="2926080" cy="384048"/>
          </a:xfrm>
          <a:prstGeom prst="rect">
            <a:avLst/>
          </a:prstGeom>
          <a:noFill/>
          <a:ln/>
        </p:spPr>
        <p:txBody>
          <a:bodyPr wrap="square" lIns="0" tIns="0" rIns="0" bIns="0" rtlCol="0" anchor="ctr"/>
          <a:lstStyle/>
          <a:p>
            <a:pPr indent="0" marL="0">
              <a:buNone/>
            </a:pPr>
            <a:r>
              <a:rPr lang="en-US" sz="1200" dirty="0">
                <a:solidFill>
                  <a:schemeClr val="tx1"/>
                </a:solidFill>
              </a:rPr>
              <a:t>≈ 4,50 $ de crédits, 0 $ au repos</a:t>
            </a:r>
            <a:endParaRPr lang="en-US" sz="1200" dirty="0"/>
          </a:p>
        </p:txBody>
      </p:sp>
      <p:sp>
        <p:nvSpPr>
          <p:cNvPr id="21" name="évolutions"/>
          <p:cNvSpPr/>
          <p:nvPr/>
        </p:nvSpPr>
        <p:spPr>
          <a:xfrm>
            <a:off x="4297680" y="1280160"/>
            <a:ext cx="4389120" cy="3200400"/>
          </a:xfrm>
          <a:prstGeom prst="roundRect">
            <a:avLst>
              <a:gd name="adj" fmla="val 2857"/>
            </a:avLst>
          </a:prstGeom>
          <a:solidFill>
            <a:schemeClr val="bg2"/>
          </a:solidFill>
          <a:ln w="12700">
            <a:solidFill>
              <a:schemeClr val="bg2"/>
            </a:solidFill>
            <a:prstDash val="solid"/>
          </a:ln>
        </p:spPr>
      </p:sp>
      <p:sp>
        <p:nvSpPr>
          <p:cNvPr id="22" name="Text 15"/>
          <p:cNvSpPr txBox="1"/>
          <p:nvPr/>
        </p:nvSpPr>
        <p:spPr>
          <a:xfrm>
            <a:off x="4480560" y="1417320"/>
            <a:ext cx="4023360" cy="365760"/>
          </a:xfrm>
          <a:prstGeom prst="rect">
            <a:avLst/>
          </a:prstGeom>
          <a:noFill/>
          <a:ln/>
        </p:spPr>
        <p:txBody>
          <a:bodyPr wrap="square" lIns="0" tIns="0" rIns="0" bIns="0" rtlCol="0" anchor="ctr"/>
          <a:lstStyle/>
          <a:p>
            <a:pPr indent="0" marL="0">
              <a:buNone/>
            </a:pPr>
            <a:r>
              <a:rPr lang="en-US" sz="1500" b="1" dirty="0">
                <a:solidFill>
                  <a:schemeClr val="accent1"/>
                </a:solidFill>
              </a:rPr>
              <a:t>Limites et évolutions</a:t>
            </a:r>
            <a:endParaRPr lang="en-US" sz="1500" dirty="0"/>
          </a:p>
        </p:txBody>
      </p:sp>
      <p:sp>
        <p:nvSpPr>
          <p:cNvPr id="23" name="Text 16"/>
          <p:cNvSpPr txBox="1"/>
          <p:nvPr/>
        </p:nvSpPr>
        <p:spPr>
          <a:xfrm>
            <a:off x="4480560" y="1874520"/>
            <a:ext cx="1828800" cy="548640"/>
          </a:xfrm>
          <a:prstGeom prst="rect">
            <a:avLst/>
          </a:prstGeom>
          <a:noFill/>
          <a:ln/>
        </p:spPr>
        <p:txBody>
          <a:bodyPr wrap="square" lIns="0" tIns="0" rIns="0" bIns="0" rtlCol="0" anchor="ctr"/>
          <a:lstStyle/>
          <a:p>
            <a:pPr indent="0" marL="0">
              <a:buNone/>
            </a:pPr>
            <a:r>
              <a:rPr lang="en-US" sz="1200" dirty="0">
                <a:solidFill>
                  <a:schemeClr val="tx1"/>
                </a:solidFill>
              </a:rPr>
              <a:t>Historique jamais compacté</a:t>
            </a:r>
            <a:endParaRPr lang="en-US" sz="1200" dirty="0"/>
          </a:p>
        </p:txBody>
      </p:sp>
      <p:sp>
        <p:nvSpPr>
          <p:cNvPr id="24" name="rond évolution 0"/>
          <p:cNvSpPr/>
          <p:nvPr/>
        </p:nvSpPr>
        <p:spPr>
          <a:xfrm>
            <a:off x="6309360" y="2011680"/>
            <a:ext cx="274320" cy="274320"/>
          </a:xfrm>
          <a:prstGeom prst="ellipse">
            <a:avLst/>
          </a:prstGeom>
          <a:solidFill>
            <a:schemeClr val="accent1"/>
          </a:solidFill>
          <a:ln w="12700">
            <a:solidFill>
              <a:schemeClr val="accent1"/>
            </a:solidFill>
            <a:prstDash val="solid"/>
          </a:ln>
        </p:spPr>
      </p:sp>
      <p:pic>
        <p:nvPicPr>
          <p:cNvPr id="25" name="flèche évolution 0 b" descr="preencoded.png">    </p:cNvPr>
          <p:cNvPicPr>
            <a:picLocks noChangeAspect="1"/>
          </p:cNvPicPr>
          <p:nvPr/>
        </p:nvPicPr>
        <p:blipFill>
          <a:blip r:embed="rId6"/>
          <a:stretch>
            <a:fillRect/>
          </a:stretch>
        </p:blipFill>
        <p:spPr>
          <a:xfrm>
            <a:off x="6373368" y="2075688"/>
            <a:ext cx="146304" cy="146304"/>
          </a:xfrm>
          <a:prstGeom prst="rect">
            <a:avLst/>
          </a:prstGeom>
        </p:spPr>
      </p:pic>
      <p:sp>
        <p:nvSpPr>
          <p:cNvPr id="26" name="Text 18"/>
          <p:cNvSpPr txBox="1"/>
          <p:nvPr/>
        </p:nvSpPr>
        <p:spPr>
          <a:xfrm>
            <a:off x="6675120" y="1874520"/>
            <a:ext cx="1920240" cy="548640"/>
          </a:xfrm>
          <a:prstGeom prst="rect">
            <a:avLst/>
          </a:prstGeom>
          <a:noFill/>
          <a:ln/>
        </p:spPr>
        <p:txBody>
          <a:bodyPr wrap="square" lIns="0" tIns="0" rIns="0" bIns="0" rtlCol="0" anchor="ctr"/>
          <a:lstStyle/>
          <a:p>
            <a:pPr indent="0" marL="0">
              <a:buNone/>
            </a:pPr>
            <a:r>
              <a:rPr lang="en-US" sz="1200" b="1" dirty="0">
                <a:solidFill>
                  <a:schemeClr val="tx2"/>
                </a:solidFill>
              </a:rPr>
              <a:t>Instantané Yjs périodique dans S3</a:t>
            </a:r>
            <a:endParaRPr lang="en-US" sz="1200" dirty="0"/>
          </a:p>
        </p:txBody>
      </p:sp>
      <p:sp>
        <p:nvSpPr>
          <p:cNvPr id="27" name="Text 19"/>
          <p:cNvSpPr txBox="1"/>
          <p:nvPr/>
        </p:nvSpPr>
        <p:spPr>
          <a:xfrm>
            <a:off x="4480560" y="2496312"/>
            <a:ext cx="1828800" cy="548640"/>
          </a:xfrm>
          <a:prstGeom prst="rect">
            <a:avLst/>
          </a:prstGeom>
          <a:noFill/>
          <a:ln/>
        </p:spPr>
        <p:txBody>
          <a:bodyPr wrap="square" lIns="0" tIns="0" rIns="0" bIns="0" rtlCol="0" anchor="ctr"/>
          <a:lstStyle/>
          <a:p>
            <a:pPr indent="0" marL="0">
              <a:buNone/>
            </a:pPr>
            <a:r>
              <a:rPr lang="en-US" sz="1200" dirty="0">
                <a:solidFill>
                  <a:schemeClr val="tx1"/>
                </a:solidFill>
              </a:rPr>
              <a:t>Confirmation SNS requise</a:t>
            </a:r>
            <a:endParaRPr lang="en-US" sz="1200" dirty="0"/>
          </a:p>
        </p:txBody>
      </p:sp>
      <p:sp>
        <p:nvSpPr>
          <p:cNvPr id="28" name="rond évolution 1"/>
          <p:cNvSpPr/>
          <p:nvPr/>
        </p:nvSpPr>
        <p:spPr>
          <a:xfrm>
            <a:off x="6309360" y="2633472"/>
            <a:ext cx="274320" cy="274320"/>
          </a:xfrm>
          <a:prstGeom prst="ellipse">
            <a:avLst/>
          </a:prstGeom>
          <a:solidFill>
            <a:schemeClr val="accent1"/>
          </a:solidFill>
          <a:ln w="12700">
            <a:solidFill>
              <a:schemeClr val="accent1"/>
            </a:solidFill>
            <a:prstDash val="solid"/>
          </a:ln>
        </p:spPr>
      </p:sp>
      <p:pic>
        <p:nvPicPr>
          <p:cNvPr id="29" name="flèche évolution 1 b" descr="preencoded.png">    </p:cNvPr>
          <p:cNvPicPr>
            <a:picLocks noChangeAspect="1"/>
          </p:cNvPicPr>
          <p:nvPr/>
        </p:nvPicPr>
        <p:blipFill>
          <a:blip r:embed="rId7"/>
          <a:stretch>
            <a:fillRect/>
          </a:stretch>
        </p:blipFill>
        <p:spPr>
          <a:xfrm>
            <a:off x="6373368" y="2697480"/>
            <a:ext cx="146304" cy="146304"/>
          </a:xfrm>
          <a:prstGeom prst="rect">
            <a:avLst/>
          </a:prstGeom>
        </p:spPr>
      </p:pic>
      <p:sp>
        <p:nvSpPr>
          <p:cNvPr id="30" name="Text 21"/>
          <p:cNvSpPr txBox="1"/>
          <p:nvPr/>
        </p:nvSpPr>
        <p:spPr>
          <a:xfrm>
            <a:off x="6675120" y="2496312"/>
            <a:ext cx="1920240" cy="548640"/>
          </a:xfrm>
          <a:prstGeom prst="rect">
            <a:avLst/>
          </a:prstGeom>
          <a:noFill/>
          <a:ln/>
        </p:spPr>
        <p:txBody>
          <a:bodyPr wrap="square" lIns="0" tIns="0" rIns="0" bIns="0" rtlCol="0" anchor="ctr"/>
          <a:lstStyle/>
          <a:p>
            <a:pPr indent="0" marL="0">
              <a:buNone/>
            </a:pPr>
            <a:r>
              <a:rPr lang="en-US" sz="1200" b="1" dirty="0">
                <a:solidFill>
                  <a:schemeClr val="tx2"/>
                </a:solidFill>
              </a:rPr>
              <a:t>SES avec un nom de domaine (DKIM, SPF)</a:t>
            </a:r>
            <a:endParaRPr lang="en-US" sz="1200" dirty="0"/>
          </a:p>
        </p:txBody>
      </p:sp>
      <p:sp>
        <p:nvSpPr>
          <p:cNvPr id="31" name="Text 22"/>
          <p:cNvSpPr txBox="1"/>
          <p:nvPr/>
        </p:nvSpPr>
        <p:spPr>
          <a:xfrm>
            <a:off x="4480560" y="3118104"/>
            <a:ext cx="1828800" cy="548640"/>
          </a:xfrm>
          <a:prstGeom prst="rect">
            <a:avLst/>
          </a:prstGeom>
          <a:noFill/>
          <a:ln/>
        </p:spPr>
        <p:txBody>
          <a:bodyPr wrap="square" lIns="0" tIns="0" rIns="0" bIns="0" rtlCol="0" anchor="ctr"/>
          <a:lstStyle/>
          <a:p>
            <a:pPr indent="0" marL="0">
              <a:buNone/>
            </a:pPr>
            <a:r>
              <a:rPr lang="en-US" sz="1200" dirty="0">
                <a:solidFill>
                  <a:schemeClr val="tx1"/>
                </a:solidFill>
              </a:rPr>
              <a:t>Identité déclarée (nom + e-mail)</a:t>
            </a:r>
            <a:endParaRPr lang="en-US" sz="1200" dirty="0"/>
          </a:p>
        </p:txBody>
      </p:sp>
      <p:sp>
        <p:nvSpPr>
          <p:cNvPr id="32" name="rond évolution 2"/>
          <p:cNvSpPr/>
          <p:nvPr/>
        </p:nvSpPr>
        <p:spPr>
          <a:xfrm>
            <a:off x="6309360" y="3255264"/>
            <a:ext cx="274320" cy="274320"/>
          </a:xfrm>
          <a:prstGeom prst="ellipse">
            <a:avLst/>
          </a:prstGeom>
          <a:solidFill>
            <a:schemeClr val="accent1"/>
          </a:solidFill>
          <a:ln w="12700">
            <a:solidFill>
              <a:schemeClr val="accent1"/>
            </a:solidFill>
            <a:prstDash val="solid"/>
          </a:ln>
        </p:spPr>
      </p:sp>
      <p:pic>
        <p:nvPicPr>
          <p:cNvPr id="33" name="flèche évolution 2 b" descr="preencoded.png">    </p:cNvPr>
          <p:cNvPicPr>
            <a:picLocks noChangeAspect="1"/>
          </p:cNvPicPr>
          <p:nvPr/>
        </p:nvPicPr>
        <p:blipFill>
          <a:blip r:embed="rId8"/>
          <a:stretch>
            <a:fillRect/>
          </a:stretch>
        </p:blipFill>
        <p:spPr>
          <a:xfrm>
            <a:off x="6373368" y="3319272"/>
            <a:ext cx="146304" cy="146304"/>
          </a:xfrm>
          <a:prstGeom prst="rect">
            <a:avLst/>
          </a:prstGeom>
        </p:spPr>
      </p:pic>
      <p:sp>
        <p:nvSpPr>
          <p:cNvPr id="34" name="Text 24"/>
          <p:cNvSpPr txBox="1"/>
          <p:nvPr/>
        </p:nvSpPr>
        <p:spPr>
          <a:xfrm>
            <a:off x="6675120" y="3118104"/>
            <a:ext cx="1920240" cy="548640"/>
          </a:xfrm>
          <a:prstGeom prst="rect">
            <a:avLst/>
          </a:prstGeom>
          <a:noFill/>
          <a:ln/>
        </p:spPr>
        <p:txBody>
          <a:bodyPr wrap="square" lIns="0" tIns="0" rIns="0" bIns="0" rtlCol="0" anchor="ctr"/>
          <a:lstStyle/>
          <a:p>
            <a:pPr indent="0" marL="0">
              <a:buNone/>
            </a:pPr>
            <a:r>
              <a:rPr lang="en-US" sz="1200" b="1" dirty="0">
                <a:solidFill>
                  <a:schemeClr val="tx2"/>
                </a:solidFill>
              </a:rPr>
              <a:t>Amazon Cognito</a:t>
            </a:r>
            <a:endParaRPr lang="en-US" sz="1200" dirty="0"/>
          </a:p>
        </p:txBody>
      </p:sp>
      <p:sp>
        <p:nvSpPr>
          <p:cNvPr id="35" name="Text 25"/>
          <p:cNvSpPr txBox="1"/>
          <p:nvPr/>
        </p:nvSpPr>
        <p:spPr>
          <a:xfrm>
            <a:off x="4480560" y="3739896"/>
            <a:ext cx="1828800" cy="548640"/>
          </a:xfrm>
          <a:prstGeom prst="rect">
            <a:avLst/>
          </a:prstGeom>
          <a:noFill/>
          <a:ln/>
        </p:spPr>
        <p:txBody>
          <a:bodyPr wrap="square" lIns="0" tIns="0" rIns="0" bIns="0" rtlCol="0" anchor="ctr"/>
          <a:lstStyle/>
          <a:p>
            <a:pPr indent="0" marL="0">
              <a:buNone/>
            </a:pPr>
            <a:r>
              <a:rPr lang="en-US" sz="1200" dirty="0">
                <a:solidFill>
                  <a:schemeClr val="tx1"/>
                </a:solidFill>
              </a:rPr>
              <a:t>Un seul générateur de charge</a:t>
            </a:r>
            <a:endParaRPr lang="en-US" sz="1200" dirty="0"/>
          </a:p>
        </p:txBody>
      </p:sp>
      <p:sp>
        <p:nvSpPr>
          <p:cNvPr id="36" name="rond évolution 3"/>
          <p:cNvSpPr/>
          <p:nvPr/>
        </p:nvSpPr>
        <p:spPr>
          <a:xfrm>
            <a:off x="6309360" y="3877056"/>
            <a:ext cx="274320" cy="274320"/>
          </a:xfrm>
          <a:prstGeom prst="ellipse">
            <a:avLst/>
          </a:prstGeom>
          <a:solidFill>
            <a:schemeClr val="accent1"/>
          </a:solidFill>
          <a:ln w="12700">
            <a:solidFill>
              <a:schemeClr val="accent1"/>
            </a:solidFill>
            <a:prstDash val="solid"/>
          </a:ln>
        </p:spPr>
      </p:sp>
      <p:pic>
        <p:nvPicPr>
          <p:cNvPr id="37" name="flèche évolution 3 b" descr="preencoded.png">    </p:cNvPr>
          <p:cNvPicPr>
            <a:picLocks noChangeAspect="1"/>
          </p:cNvPicPr>
          <p:nvPr/>
        </p:nvPicPr>
        <p:blipFill>
          <a:blip r:embed="rId9"/>
          <a:stretch>
            <a:fillRect/>
          </a:stretch>
        </p:blipFill>
        <p:spPr>
          <a:xfrm>
            <a:off x="6373368" y="3941064"/>
            <a:ext cx="146304" cy="146304"/>
          </a:xfrm>
          <a:prstGeom prst="rect">
            <a:avLst/>
          </a:prstGeom>
        </p:spPr>
      </p:pic>
      <p:sp>
        <p:nvSpPr>
          <p:cNvPr id="38" name="Text 27"/>
          <p:cNvSpPr txBox="1"/>
          <p:nvPr/>
        </p:nvSpPr>
        <p:spPr>
          <a:xfrm>
            <a:off x="6675120" y="3739896"/>
            <a:ext cx="1920240" cy="548640"/>
          </a:xfrm>
          <a:prstGeom prst="rect">
            <a:avLst/>
          </a:prstGeom>
          <a:noFill/>
          <a:ln/>
        </p:spPr>
        <p:txBody>
          <a:bodyPr wrap="square" lIns="0" tIns="0" rIns="0" bIns="0" rtlCol="0" anchor="ctr"/>
          <a:lstStyle/>
          <a:p>
            <a:pPr indent="0" marL="0">
              <a:buNone/>
            </a:pPr>
            <a:r>
              <a:rPr lang="en-US" sz="1200" b="1" dirty="0">
                <a:solidFill>
                  <a:schemeClr val="tx2"/>
                </a:solidFill>
              </a:rPr>
              <a:t>Plusieurs machines pour tester plus haut</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822960"/>
            <a:ext cx="8046720" cy="365760"/>
          </a:xfrm>
          <a:prstGeom prst="rect">
            <a:avLst/>
          </a:prstGeom>
          <a:noFill/>
          <a:ln/>
        </p:spPr>
        <p:txBody>
          <a:bodyPr wrap="square" rtlCol="0" anchor="b"/>
          <a:lstStyle/>
          <a:p>
            <a:pPr indent="0" marL="0">
              <a:buNone/>
            </a:pPr>
            <a:r>
              <a:rPr lang="en-US" sz="1300" b="1" dirty="0">
                <a:solidFill>
                  <a:schemeClr val="accent1"/>
                </a:solidFill>
              </a:rPr>
              <a:t>CONCLUSION</a:t>
            </a:r>
            <a:endParaRPr lang="en-US" sz="1300" dirty="0"/>
          </a:p>
        </p:txBody>
      </p:sp>
      <p:sp>
        <p:nvSpPr>
          <p:cNvPr id="3" name="Text 0"/>
          <p:cNvSpPr/>
          <p:nvPr>
            <p:ph idx="101" type="title" hasCustomPrompt="1"/>
          </p:nvPr>
        </p:nvSpPr>
        <p:spPr>
          <a:xfrm>
            <a:off x="548640" y="1234440"/>
            <a:ext cx="8046720" cy="1554480"/>
          </a:xfrm>
          <a:prstGeom prst="rect">
            <a:avLst/>
          </a:prstGeom>
          <a:noFill/>
          <a:ln/>
        </p:spPr>
        <p:txBody>
          <a:bodyPr wrap="square" rtlCol="0" anchor="ctr"/>
          <a:lstStyle/>
          <a:p>
            <a:pPr indent="0" marL="0">
              <a:buNone/>
            </a:pPr>
            <a:r>
              <a:rPr lang="en-US" sz="3800" b="1" dirty="0">
                <a:solidFill>
                  <a:schemeClr val="bg1"/>
                </a:solidFill>
                <a:latin typeface="Cambria" pitchFamily="34" charset="0"/>
                <a:ea typeface="Cambria" pitchFamily="34" charset="-122"/>
                <a:cs typeface="Cambria" pitchFamily="34" charset="-120"/>
              </a:rPr>
              <a:t>Des garanties exactes, construites sur des services AWS managés</a:t>
            </a:r>
            <a:endParaRPr lang="en-US" sz="3800" dirty="0"/>
          </a:p>
        </p:txBody>
      </p:sp>
      <p:sp>
        <p:nvSpPr>
          <p:cNvPr id="4" name="Text 0"/>
          <p:cNvSpPr/>
          <p:nvPr>
            <p:ph idx="102" type="body" hasCustomPrompt="1"/>
          </p:nvPr>
        </p:nvSpPr>
        <p:spPr>
          <a:xfrm>
            <a:off x="548640" y="2880360"/>
            <a:ext cx="8046720" cy="1097280"/>
          </a:xfrm>
          <a:prstGeom prst="rect">
            <a:avLst/>
          </a:prstGeom>
          <a:noFill/>
          <a:ln/>
        </p:spPr>
        <p:txBody>
          <a:bodyPr wrap="square" rtlCol="0" anchor="t"/>
          <a:lstStyle/>
          <a:p>
            <a:pPr indent="0" marL="0">
              <a:buNone/>
            </a:pPr>
            <a:r>
              <a:rPr lang="en-US" sz="1600" dirty="0">
                <a:solidFill>
                  <a:schemeClr val="accent5"/>
                </a:solidFill>
              </a:rPr>
              <a:t>Merci de votre attention · Démonstration et questions</a:t>
            </a:r>
            <a:endParaRPr lang="en-US" sz="1600" dirty="0"/>
          </a:p>
        </p:txBody>
      </p:sp>
    </p:spTree>
  </p:cSld>
  <p:clrMapOvr>
    <a:masterClrMapping/>
  </p:clrMapOvr>
</p:sld>
</file>

<file path=ppt/theme/theme1.xml><?xml version="1.0" encoding="utf-8"?>
<a:theme xmlns:a="http://schemas.openxmlformats.org/drawingml/2006/main" name="CollabDoc">
  <a:themeElements>
    <a:clrScheme name="CollabDoc">
      <a:dk1>
        <a:srgbClr val="1B2430"/>
      </a:dk1>
      <a:lt1>
        <a:srgbClr val="FFFFFF"/>
      </a:lt1>
      <a:dk2>
        <a:srgbClr val="13233A"/>
      </a:dk2>
      <a:lt2>
        <a:srgbClr val="EEF2F6"/>
      </a:lt2>
      <a:accent1>
        <a:srgbClr val="F28C28"/>
      </a:accent1>
      <a:accent2>
        <a:srgbClr val="1F8A70"/>
      </a:accent2>
      <a:accent3>
        <a:srgbClr val="3D5A80"/>
      </a:accent3>
      <a:accent4>
        <a:srgbClr val="C0392B"/>
      </a:accent4>
      <a:accent5>
        <a:srgbClr val="8E9AAF"/>
      </a:accent5>
      <a:accent6>
        <a:srgbClr val="F2C14E"/>
      </a:accent6>
      <a:hlink>
        <a:srgbClr val="3D5A80"/>
      </a:hlink>
      <a:folHlink>
        <a:srgbClr val="8E9AAF"/>
      </a:folHlink>
    </a:clrScheme>
    <a:fontScheme name="CollabDoc">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CollabDoc sur AWS</dc:title>
  <dc:subject>PptxGenJS Presentation</dc:subject>
  <dc:creator>JerMa25</dc:creator>
  <cp:lastModifiedBy>JerMa25</cp:lastModifiedBy>
  <cp:revision>1</cp:revision>
  <dcterms:created xsi:type="dcterms:W3CDTF">2026-10-26T09:50:47Z</dcterms:created>
  <dcterms:modified xsi:type="dcterms:W3CDTF">2026-10-26T09:50:47Z</dcterms:modified>
</cp:coreProperties>
</file>